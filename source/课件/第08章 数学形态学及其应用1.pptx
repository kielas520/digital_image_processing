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09" r:id="rId5"/>
    <p:sldId id="356" r:id="rId6"/>
    <p:sldId id="259" r:id="rId7"/>
    <p:sldId id="261" r:id="rId8"/>
    <p:sldId id="392" r:id="rId9"/>
    <p:sldId id="393" r:id="rId10"/>
    <p:sldId id="394" r:id="rId11"/>
    <p:sldId id="390" r:id="rId12"/>
    <p:sldId id="265" r:id="rId13"/>
    <p:sldId id="263" r:id="rId14"/>
    <p:sldId id="273" r:id="rId15"/>
    <p:sldId id="267" r:id="rId16"/>
    <p:sldId id="275" r:id="rId17"/>
    <p:sldId id="397" r:id="rId18"/>
    <p:sldId id="277" r:id="rId19"/>
    <p:sldId id="399" r:id="rId20"/>
    <p:sldId id="398" r:id="rId21"/>
    <p:sldId id="400" r:id="rId22"/>
    <p:sldId id="278" r:id="rId23"/>
    <p:sldId id="401" r:id="rId24"/>
    <p:sldId id="280" r:id="rId25"/>
    <p:sldId id="403" r:id="rId26"/>
    <p:sldId id="407" r:id="rId27"/>
    <p:sldId id="408" r:id="rId28"/>
    <p:sldId id="405" r:id="rId29"/>
    <p:sldId id="406" r:id="rId30"/>
    <p:sldId id="441" r:id="rId31"/>
    <p:sldId id="443" r:id="rId32"/>
    <p:sldId id="410" r:id="rId33"/>
    <p:sldId id="442" r:id="rId34"/>
    <p:sldId id="411" r:id="rId35"/>
    <p:sldId id="412" r:id="rId36"/>
    <p:sldId id="413" r:id="rId37"/>
    <p:sldId id="414" r:id="rId38"/>
    <p:sldId id="389" r:id="rId39"/>
  </p:sldIdLst>
  <p:sldSz cx="9144000" cy="6858000" type="screen4x3"/>
  <p:notesSz cx="6858000" cy="9144000"/>
  <p:custDataLst>
    <p:tags r:id="rId4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66F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14" autoAdjust="0"/>
  </p:normalViewPr>
  <p:slideViewPr>
    <p:cSldViewPr showGuides="1">
      <p:cViewPr varScale="1">
        <p:scale>
          <a:sx n="108" d="100"/>
          <a:sy n="108" d="100"/>
        </p:scale>
        <p:origin x="-1704" y="-84"/>
      </p:cViewPr>
      <p:guideLst>
        <p:guide orient="horz" pos="2134"/>
        <p:guide pos="2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 b="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 b="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40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340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 b="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0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 b="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B8DC4B2-660C-4535-B17C-749585A700F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67D0FF-82BF-4144-B4E5-DB18826F1FA9}" type="slidenum">
              <a:rPr lang="en-US" altLang="zh-CN"/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EDB28F-5FA3-4E75-9584-AD4D0A11DC54}" type="slidenum">
              <a:rPr lang="en-US" altLang="zh-CN"/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 smtClean="0"/>
              <a:t>白色表示背景，黑色表示目标</a:t>
            </a:r>
            <a:endParaRPr lang="zh-CN" altLang="zh-CN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08061-976D-4736-97E3-D6F495404F76}" type="slidenum">
              <a:rPr lang="en-US" altLang="zh-CN"/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A5A494-DB36-42C4-9E78-B7578017F0ED}" type="slidenum">
              <a:rPr lang="en-US" altLang="zh-CN"/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33FBA-90E2-486B-BEB8-5CAC87017728}" type="slidenum">
              <a:rPr lang="en-US" altLang="zh-CN"/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A3A45F-66B5-4200-874B-0F7000F50E9D}" type="slidenum">
              <a:rPr lang="en-US" altLang="zh-CN"/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CD33F2-CFDD-450E-B428-E34EC6216A6B}" type="slidenum">
              <a:rPr lang="en-US" altLang="zh-CN"/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 smtClean="0"/>
              <a:t>B</a:t>
            </a:r>
            <a:r>
              <a:rPr lang="zh-CN" altLang="en-US" dirty="0" smtClean="0"/>
              <a:t>中心点的移动轨迹</a:t>
            </a:r>
            <a:endParaRPr lang="zh-CN" altLang="zh-CN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0C92E2-F59C-47B4-8326-C518BCBF575A}" type="slidenum">
              <a:rPr lang="en-US" altLang="zh-CN"/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6A411A-A1BB-4A1A-92A0-2AC81673F50B}" type="slidenum">
              <a:rPr lang="en-US" altLang="zh-CN"/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44542-5164-48D8-963F-2FE56846FD1B}" type="slidenum">
              <a:rPr lang="en-US" altLang="zh-CN"/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151EBD-A572-4EBB-9AF0-02B723752B74}" type="slidenum">
              <a:rPr lang="en-US" altLang="zh-CN"/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37E5F2-5C74-44B4-AE01-8E7A3A81A0D6}" type="slidenum">
              <a:rPr lang="en-US" altLang="zh-CN"/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腐蚀</a:t>
            </a:r>
            <a:r>
              <a:rPr lang="en-US" altLang="zh-CN"/>
              <a:t>+pz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开操作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imdilate</a:t>
            </a:r>
            <a:r>
              <a:rPr lang="zh-CN" altLang="en-US"/>
              <a:t>函数进行图像膨胀处理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arbitrary:</a:t>
            </a:r>
            <a:r>
              <a:rPr lang="zh-CN" altLang="zh-CN"/>
              <a:t>方向矢量（</a:t>
            </a:r>
            <a:r>
              <a:rPr lang="zh-CN" altLang="zh-CN"/>
              <a:t>默认），</a:t>
            </a:r>
            <a:r>
              <a:rPr lang="en-US" altLang="zh-CN"/>
              <a:t>diamond:</a:t>
            </a:r>
            <a:r>
              <a:rPr lang="zh-CN" altLang="en-US"/>
              <a:t>菱形，</a:t>
            </a:r>
            <a:r>
              <a:rPr lang="en-US" altLang="zh-CN"/>
              <a:t>disk:</a:t>
            </a:r>
            <a:r>
              <a:rPr lang="zh-CN" altLang="en-US"/>
              <a:t>圆形，</a:t>
            </a:r>
            <a:r>
              <a:rPr lang="en-US" altLang="zh-CN"/>
              <a:t>rectangle:</a:t>
            </a:r>
            <a:r>
              <a:rPr lang="zh-CN" altLang="en-US"/>
              <a:t>矩形，</a:t>
            </a:r>
            <a:r>
              <a:rPr lang="en-US" altLang="zh-CN"/>
              <a:t>square</a:t>
            </a:r>
            <a:r>
              <a:rPr lang="zh-CN" altLang="en-US"/>
              <a:t>：方形，</a:t>
            </a:r>
            <a:r>
              <a:rPr lang="en-US" altLang="zh-CN"/>
              <a:t>octagon:</a:t>
            </a:r>
            <a:r>
              <a:rPr lang="zh-CN" altLang="en-US"/>
              <a:t>八边形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1255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2188" y="11255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115888"/>
            <a:ext cx="2111375" cy="55356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15888"/>
            <a:ext cx="6181725" cy="55356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125538"/>
            <a:ext cx="4038600" cy="45259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2188" y="1125538"/>
            <a:ext cx="4038600" cy="45259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2x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333375"/>
            <a:ext cx="9144000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25538"/>
            <a:ext cx="8229600" cy="4525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grpSp>
        <p:nvGrpSpPr>
          <p:cNvPr id="7173" name="Group 5"/>
          <p:cNvGrpSpPr/>
          <p:nvPr/>
        </p:nvGrpSpPr>
        <p:grpSpPr bwMode="auto">
          <a:xfrm>
            <a:off x="323850" y="5734050"/>
            <a:ext cx="909638" cy="969963"/>
            <a:chOff x="204" y="3612"/>
            <a:chExt cx="573" cy="611"/>
          </a:xfrm>
        </p:grpSpPr>
        <p:sp>
          <p:nvSpPr>
            <p:cNvPr id="4102" name="Rectangle 6"/>
            <p:cNvSpPr>
              <a:spLocks noChangeArrowheads="1"/>
            </p:cNvSpPr>
            <p:nvPr userDrawn="1"/>
          </p:nvSpPr>
          <p:spPr bwMode="auto">
            <a:xfrm rot="10800000">
              <a:off x="249" y="4020"/>
              <a:ext cx="164" cy="20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3" name="Rectangle 7"/>
            <p:cNvSpPr>
              <a:spLocks noChangeArrowheads="1"/>
            </p:cNvSpPr>
            <p:nvPr userDrawn="1"/>
          </p:nvSpPr>
          <p:spPr bwMode="auto">
            <a:xfrm rot="10800000">
              <a:off x="204" y="3838"/>
              <a:ext cx="167" cy="203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4" name="Rectangle 8"/>
            <p:cNvSpPr>
              <a:spLocks noChangeArrowheads="1"/>
            </p:cNvSpPr>
            <p:nvPr userDrawn="1"/>
          </p:nvSpPr>
          <p:spPr bwMode="auto">
            <a:xfrm rot="10800000">
              <a:off x="385" y="3838"/>
              <a:ext cx="167" cy="20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5" name="Rectangle 9"/>
            <p:cNvSpPr>
              <a:spLocks noChangeArrowheads="1"/>
            </p:cNvSpPr>
            <p:nvPr userDrawn="1"/>
          </p:nvSpPr>
          <p:spPr bwMode="auto">
            <a:xfrm rot="10800000">
              <a:off x="476" y="3884"/>
              <a:ext cx="167" cy="201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6" name="Rectangle 10"/>
            <p:cNvSpPr>
              <a:spLocks noChangeArrowheads="1"/>
            </p:cNvSpPr>
            <p:nvPr userDrawn="1"/>
          </p:nvSpPr>
          <p:spPr bwMode="auto">
            <a:xfrm rot="10800000">
              <a:off x="385" y="3612"/>
              <a:ext cx="166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7" name="Rectangle 11"/>
            <p:cNvSpPr>
              <a:spLocks noChangeArrowheads="1"/>
            </p:cNvSpPr>
            <p:nvPr userDrawn="1"/>
          </p:nvSpPr>
          <p:spPr bwMode="auto">
            <a:xfrm rot="10800000">
              <a:off x="295" y="3702"/>
              <a:ext cx="164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8" name="Rectangle 12"/>
            <p:cNvSpPr>
              <a:spLocks noChangeArrowheads="1"/>
            </p:cNvSpPr>
            <p:nvPr userDrawn="1"/>
          </p:nvSpPr>
          <p:spPr bwMode="auto">
            <a:xfrm rot="10800000">
              <a:off x="612" y="3793"/>
              <a:ext cx="165" cy="203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  <p:sp>
          <p:nvSpPr>
            <p:cNvPr id="4109" name="Rectangle 13"/>
            <p:cNvSpPr>
              <a:spLocks noChangeArrowheads="1"/>
            </p:cNvSpPr>
            <p:nvPr userDrawn="1"/>
          </p:nvSpPr>
          <p:spPr bwMode="auto">
            <a:xfrm rot="10800000">
              <a:off x="476" y="3748"/>
              <a:ext cx="167" cy="203"/>
            </a:xfrm>
            <a:prstGeom prst="rect">
              <a:avLst/>
            </a:prstGeom>
            <a:solidFill>
              <a:srgbClr val="3366FF"/>
            </a:solidFill>
            <a:ln w="9525">
              <a:noFill/>
              <a:miter lim="800000"/>
            </a:ln>
          </p:spPr>
          <p:txBody>
            <a:bodyPr rot="10800000"/>
            <a:lstStyle/>
            <a:p>
              <a:pPr>
                <a:defRPr/>
              </a:pPr>
              <a:endParaRPr lang="zh-CN" altLang="zh-CN" sz="2400" b="0"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13.wmf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4.v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3.png"/><Relationship Id="rId4" Type="http://schemas.openxmlformats.org/officeDocument/2006/relationships/image" Target="../media/image19.png"/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-242888"/>
            <a:ext cx="7772400" cy="14398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3600" b="1" dirty="0" smtClean="0"/>
              <a:t>   </a:t>
            </a:r>
            <a:r>
              <a:rPr lang="zh-CN" altLang="en-US" sz="3600" b="1" dirty="0" smtClean="0"/>
              <a:t>第</a:t>
            </a:r>
            <a:r>
              <a:rPr lang="en-US" altLang="zh-CN" sz="3600" b="1" dirty="0" smtClean="0"/>
              <a:t>8</a:t>
            </a:r>
            <a:r>
              <a:rPr lang="zh-CN" altLang="en-US" sz="3600" b="1" dirty="0" smtClean="0"/>
              <a:t>章  数学形态学及其应用</a:t>
            </a:r>
            <a:endParaRPr lang="zh-CN" altLang="en-US" sz="3600" b="1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558" y="1268413"/>
            <a:ext cx="7775575" cy="4849812"/>
          </a:xfrm>
        </p:spPr>
        <p:txBody>
          <a:bodyPr/>
          <a:lstStyle/>
          <a:p>
            <a:pPr marL="609600" indent="-609600" algn="l" eaLnBrk="1" hangingPunct="1">
              <a:lnSpc>
                <a:spcPct val="120000"/>
              </a:lnSpc>
            </a:pPr>
            <a:r>
              <a:rPr lang="zh-CN" altLang="en-US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内容提要</a:t>
            </a:r>
            <a:r>
              <a:rPr lang="en-US" altLang="zh-CN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:</a:t>
            </a:r>
            <a:endParaRPr lang="en-US" altLang="zh-CN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8.1  </a:t>
            </a:r>
            <a:r>
              <a:rPr lang="zh-CN" altLang="en-US" sz="24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概述</a:t>
            </a:r>
            <a:endParaRPr lang="zh-CN" altLang="en-US" sz="20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8.2  </a:t>
            </a:r>
            <a:r>
              <a:rPr lang="zh-CN" altLang="en-US" sz="24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二值形态学</a:t>
            </a:r>
            <a:endParaRPr lang="en-US" altLang="zh-CN" sz="24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lvl="1"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8.2.1  </a:t>
            </a:r>
            <a:r>
              <a:rPr lang="zh-CN" altLang="en-US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二值腐蚀</a:t>
            </a:r>
            <a:endParaRPr lang="zh-CN" altLang="en-US" sz="20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lvl="1"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8.2.2  </a:t>
            </a:r>
            <a:r>
              <a:rPr lang="zh-CN" altLang="en-US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二值膨胀</a:t>
            </a:r>
            <a:endParaRPr lang="zh-CN" altLang="en-US" sz="20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lvl="1"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8.2.3  </a:t>
            </a:r>
            <a:r>
              <a:rPr lang="zh-CN" altLang="en-US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二值开运算</a:t>
            </a:r>
            <a:endParaRPr lang="zh-CN" altLang="en-US" sz="20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lvl="1"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8.2.4  </a:t>
            </a:r>
            <a:r>
              <a:rPr lang="zh-CN" altLang="en-US" sz="20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二值闭运算</a:t>
            </a:r>
            <a:endParaRPr lang="en-US" altLang="zh-CN" sz="24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8.3   </a:t>
            </a:r>
            <a:r>
              <a:rPr lang="zh-CN" altLang="en-US" sz="2400" b="1" dirty="0" smtClean="0"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一些基本的形态学算法</a:t>
            </a:r>
            <a:endParaRPr lang="zh-CN" altLang="en-US" sz="24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  <a:p>
            <a:pPr algn="l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楷体_GB2312" panose="02010609030101010101" pitchFamily="49" charset="-122"/>
              </a:rPr>
              <a:t>本章小结</a:t>
            </a:r>
            <a:endParaRPr lang="en-US" altLang="zh-CN" sz="2000" b="1" dirty="0" smtClean="0">
              <a:latin typeface="Arial" panose="020B0604020202020204" pitchFamily="34" charset="0"/>
              <a:ea typeface="宋体" panose="02010600030101010101" pitchFamily="2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416800" cy="35877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8.1  </a:t>
            </a:r>
            <a:r>
              <a:rPr lang="zh-CN" altLang="en-US" sz="36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概述</a:t>
            </a:r>
            <a:endParaRPr lang="zh-CN" altLang="en-US" sz="3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7345" y="1221105"/>
            <a:ext cx="8298815" cy="5038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 hangingPunct="1">
              <a:lnSpc>
                <a:spcPct val="150000"/>
              </a:lnSpc>
            </a:pPr>
            <a:r>
              <a:rPr lang="en-US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    </a:t>
            </a:r>
            <a:r>
              <a:rPr lang="zh-CN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数学形态学（</a:t>
            </a:r>
            <a:r>
              <a:rPr lang="en-US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Mathematical Morphology</a:t>
            </a:r>
            <a:r>
              <a:rPr lang="zh-CN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）</a:t>
            </a:r>
            <a:r>
              <a:rPr lang="en-US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,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新兴学科。</a:t>
            </a:r>
            <a:endParaRPr lang="zh-CN" altLang="en-US" sz="2400" b="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是法国和德国的科学家在研究岩石结构时建立的一门学科。</a:t>
            </a:r>
            <a:endParaRPr lang="zh-CN" altLang="en-US" sz="2400" b="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    形态学的用途</a:t>
            </a:r>
            <a:r>
              <a:rPr lang="zh-CN" altLang="en-US" sz="2400" b="0">
                <a:solidFill>
                  <a:srgbClr val="FF0000"/>
                </a:solidFill>
                <a:latin typeface="楷体_GB2312" panose="02010609030101010101" pitchFamily="49" charset="-122"/>
                <a:cs typeface="楷体_GB2312" panose="02010609030101010101" pitchFamily="49" charset="-122"/>
              </a:rPr>
              <a:t>主要是获取物体的拓扑和结构信息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，它通过</a:t>
            </a:r>
            <a:r>
              <a:rPr lang="zh-CN" altLang="en-US" sz="2400" b="0">
                <a:solidFill>
                  <a:srgbClr val="FF0000"/>
                </a:solidFill>
                <a:latin typeface="楷体_GB2312" panose="02010609030101010101" pitchFamily="49" charset="-122"/>
                <a:cs typeface="楷体_GB2312" panose="02010609030101010101" pitchFamily="49" charset="-122"/>
              </a:rPr>
              <a:t>物体和结构元素的相互作用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，得到物体更本质的形态信息。</a:t>
            </a:r>
            <a:endParaRPr lang="zh-CN" altLang="en-US" sz="2400" b="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endParaRPr lang="zh-CN" altLang="en-US" sz="2400" b="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在图像处理中的应用主要是：</a:t>
            </a:r>
            <a:endParaRPr lang="zh-CN" altLang="en-US" sz="2400" b="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1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）对图像进行观察和处理，从而达到</a:t>
            </a:r>
            <a:r>
              <a:rPr lang="zh-CN" altLang="en-US" sz="2400" b="0">
                <a:solidFill>
                  <a:srgbClr val="FF0000"/>
                </a:solidFill>
                <a:latin typeface="楷体_GB2312" panose="02010609030101010101" pitchFamily="49" charset="-122"/>
                <a:cs typeface="楷体_GB2312" panose="02010609030101010101" pitchFamily="49" charset="-122"/>
              </a:rPr>
              <a:t>改善图像质量和目的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；</a:t>
            </a:r>
            <a:endParaRPr lang="zh-CN" altLang="en-US" sz="2400" b="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2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）</a:t>
            </a:r>
            <a:r>
              <a:rPr lang="zh-CN" altLang="en-US" sz="2400" b="0">
                <a:solidFill>
                  <a:srgbClr val="FF0000"/>
                </a:solidFill>
                <a:latin typeface="楷体_GB2312" panose="02010609030101010101" pitchFamily="49" charset="-122"/>
                <a:cs typeface="楷体_GB2312" panose="02010609030101010101" pitchFamily="49" charset="-122"/>
              </a:rPr>
              <a:t>描述和定义图像的各种几何参数和特征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，如</a:t>
            </a:r>
            <a:r>
              <a:rPr lang="zh-CN" altLang="en-US" sz="2400" b="0">
                <a:solidFill>
                  <a:srgbClr val="FF0000"/>
                </a:solidFill>
                <a:latin typeface="楷体_GB2312" panose="02010609030101010101" pitchFamily="49" charset="-122"/>
                <a:cs typeface="楷体_GB2312" panose="02010609030101010101" pitchFamily="49" charset="-122"/>
              </a:rPr>
              <a:t>面积，周长，连通度，颗粒度，骨架和方向性</a:t>
            </a:r>
            <a:r>
              <a:rPr lang="zh-CN" altLang="en-US" sz="2400" b="0">
                <a:latin typeface="楷体_GB2312" panose="02010609030101010101" pitchFamily="49" charset="-122"/>
                <a:cs typeface="楷体_GB2312" panose="02010609030101010101" pitchFamily="49" charset="-122"/>
              </a:rPr>
              <a:t>等。</a:t>
            </a:r>
            <a:endParaRPr lang="zh-CN" altLang="en-US" sz="2400">
              <a:latin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endParaRPr lang="zh-CN" altLang="en-US" sz="2400">
              <a:latin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596390"/>
            <a:ext cx="8229600" cy="3478530"/>
          </a:xfrm>
        </p:spPr>
        <p:txBody>
          <a:bodyPr/>
          <a:lstStyle/>
          <a:p>
            <a:pPr marL="0" indent="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en-US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数学形态学的语言是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集合论</a:t>
            </a:r>
            <a:r>
              <a:rPr lang="zh-CN" altLang="en-US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，他为图像处理的问题提供了有力的方法。</a:t>
            </a:r>
            <a:endParaRPr lang="zh-CN" altLang="en-US" sz="2800" dirty="0" smtClean="0"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indent="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    数学形态学的集合表示不同的图像对象。</a:t>
            </a:r>
            <a:endParaRPr lang="en-US" altLang="zh-CN" sz="2800" dirty="0" smtClean="0"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indent="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例如：在二值图像中，所有</a:t>
            </a:r>
            <a:r>
              <a:rPr lang="zh-CN" altLang="en-US" sz="2400" b="1" dirty="0" smtClean="0">
                <a:solidFill>
                  <a:srgbClr val="7030A0"/>
                </a:solidFill>
                <a:latin typeface="宋体" panose="02010600030101010101" pitchFamily="2" charset="-122"/>
                <a:ea typeface="楷体_GB2312" panose="02010609030101010101" pitchFamily="49" charset="-122"/>
              </a:rPr>
              <a:t>黑色像素的集合</a:t>
            </a:r>
            <a:r>
              <a:rPr lang="zh-CN" altLang="en-US" sz="24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是图像完整的形态学描述</a:t>
            </a:r>
            <a:r>
              <a:rPr lang="zh-CN" altLang="en-US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。</a:t>
            </a:r>
            <a:endParaRPr lang="en-US" altLang="zh-CN" sz="2800" dirty="0" smtClean="0">
              <a:latin typeface="宋体" panose="02010600030101010101" pitchFamily="2" charset="-122"/>
              <a:ea typeface="楷体_GB2312" panose="02010609030101010101" pitchFamily="49" charset="-122"/>
            </a:endParaRPr>
          </a:p>
          <a:p>
            <a:pPr marL="0" indent="0" algn="just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latin typeface="宋体" panose="02010600030101010101" pitchFamily="2" charset="-122"/>
                <a:ea typeface="楷体_GB2312" panose="02010609030101010101" pitchFamily="49" charset="-122"/>
              </a:rPr>
              <a:t>    </a:t>
            </a:r>
            <a:endParaRPr lang="zh-CN" altLang="en-US" sz="2800" dirty="0" smtClean="0">
              <a:latin typeface="宋体" panose="02010600030101010101" pitchFamily="2" charset="-122"/>
              <a:ea typeface="楷体_GB2312" panose="02010609030101010101" pitchFamily="49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416800" cy="35877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8.1  </a:t>
            </a:r>
            <a:r>
              <a:rPr lang="zh-CN" altLang="en-US" sz="36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概述</a:t>
            </a:r>
            <a:endParaRPr lang="zh-CN" altLang="en-US" sz="3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72072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2800" smtClean="0">
                <a:latin typeface="宋体" panose="02010600030101010101" pitchFamily="2" charset="-122"/>
                <a:ea typeface="楷体_GB2312" panose="02010609030101010101" pitchFamily="49" charset="-122"/>
              </a:rPr>
              <a:t>数学形态学的基于集合的观点</a:t>
            </a:r>
            <a:endParaRPr lang="zh-CN" altLang="en-US" sz="2800" smtClean="0">
              <a:latin typeface="宋体" panose="02010600030101010101" pitchFamily="2" charset="-122"/>
              <a:ea typeface="楷体_GB2312" panose="02010609030101010101" pitchFamily="49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755"/>
            <a:ext cx="8229600" cy="40894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None/>
            </a:pPr>
            <a:endParaRPr lang="zh-CN" altLang="en-US" sz="28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基本思想：</a:t>
            </a:r>
            <a:endParaRPr lang="zh-CN" altLang="en-US" sz="2800" b="1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利用结构元素作为“探针”在图像中不断移动，在此过程中收集图像的信息、分析图像各部分间的相互关系，从而了解图像的结构特征。 </a:t>
            </a:r>
            <a:endParaRPr lang="zh-CN" altLang="en-US" sz="2400" b="1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7207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3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8.1  </a:t>
            </a:r>
            <a:r>
              <a:rPr lang="zh-CN" altLang="en-US" sz="3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数学形态学的方法</a:t>
            </a:r>
            <a:endParaRPr lang="zh-CN" altLang="en-US" sz="3600" b="1" dirty="0" smtClean="0">
              <a:latin typeface="楷体_GB2312" panose="0201060903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13"/>
          <p:cNvGraphicFramePr>
            <a:graphicFrameLocks noChangeAspect="1"/>
          </p:cNvGraphicFramePr>
          <p:nvPr/>
        </p:nvGraphicFramePr>
        <p:xfrm>
          <a:off x="457200" y="2617788"/>
          <a:ext cx="8229600" cy="195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7761605" imgH="2049780" progId="">
                  <p:embed/>
                </p:oleObj>
              </mc:Choice>
              <mc:Fallback>
                <p:oleObj name="" r:id="rId1" imgW="7761605" imgH="2049780" progId="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2617788"/>
                        <a:ext cx="8229600" cy="1957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741344"/>
          </a:xfrm>
        </p:spPr>
        <p:txBody>
          <a:bodyPr/>
          <a:lstStyle/>
          <a:p>
            <a:pPr algn="l"/>
            <a:r>
              <a:rPr lang="en-US" altLang="zh-CN" sz="3200" dirty="0" smtClean="0">
                <a:latin typeface="楷体_GB2312" panose="02010609030101010101" pitchFamily="49" charset="-122"/>
              </a:rPr>
              <a:t>8.1.1 </a:t>
            </a:r>
            <a:r>
              <a:rPr lang="zh-CN" altLang="en-US" sz="3200" dirty="0" smtClean="0">
                <a:latin typeface="楷体_GB2312" panose="02010609030101010101" pitchFamily="49" charset="-122"/>
              </a:rPr>
              <a:t>几个基本概念</a:t>
            </a:r>
            <a:endParaRPr lang="zh-CN" altLang="en-US" sz="3200" dirty="0">
              <a:latin typeface="楷体_GB2312" panose="0201060903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500175"/>
            <a:ext cx="78581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0" dirty="0" smtClean="0">
                <a:latin typeface="楷体_GB2312" panose="02010609030101010101" pitchFamily="49" charset="-122"/>
              </a:rPr>
              <a:t>集合论的几个基本概念</a:t>
            </a:r>
            <a:endParaRPr lang="en-US" altLang="zh-CN" sz="2400" b="0" dirty="0" smtClean="0">
              <a:latin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是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Z²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中的集合，如果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a=(a1,a2)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是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的元素，则我们将其写成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a∈A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。</a:t>
            </a:r>
            <a:endParaRPr lang="en-US" altLang="zh-CN" sz="2400" b="0" dirty="0" smtClean="0">
              <a:latin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不是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的元素，则写成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 ∉A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。</a:t>
            </a:r>
            <a:endParaRPr lang="en-US" altLang="zh-CN" sz="2400" b="0" dirty="0" smtClean="0">
              <a:latin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 smtClean="0">
                <a:latin typeface="楷体_GB2312" panose="02010609030101010101" pitchFamily="49" charset="-122"/>
              </a:rPr>
              <a:t>如果集合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中的每个元素都是集合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B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的元素，则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称为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B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的子集。表示为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A⊆B</a:t>
            </a:r>
            <a:endParaRPr lang="en-US" altLang="zh-CN" sz="2400" b="0" dirty="0" smtClean="0">
              <a:latin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 smtClean="0">
                <a:latin typeface="楷体_GB2312" panose="02010609030101010101" pitchFamily="49" charset="-122"/>
              </a:rPr>
              <a:t>两个集合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和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B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的并集表示为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C=A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∪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B</a:t>
            </a:r>
            <a:endParaRPr lang="en-US" altLang="zh-CN" sz="2400" b="0" dirty="0" smtClean="0">
              <a:latin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 smtClean="0">
                <a:latin typeface="楷体_GB2312" panose="02010609030101010101" pitchFamily="49" charset="-122"/>
              </a:rPr>
              <a:t>两个集合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和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B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的交集表示为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D=A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∩</a:t>
            </a:r>
            <a:r>
              <a:rPr lang="en-US" altLang="zh-CN" sz="2400" b="0" dirty="0" smtClean="0">
                <a:latin typeface="楷体_GB2312" panose="02010609030101010101" pitchFamily="49" charset="-122"/>
              </a:rPr>
              <a:t>B</a:t>
            </a:r>
            <a:endParaRPr lang="en-US" altLang="zh-CN" sz="2400" b="0" dirty="0" smtClean="0">
              <a:latin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34" y="1071546"/>
            <a:ext cx="8358246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dirty="0" smtClean="0">
                <a:ea typeface="楷体_GB2312" panose="02010609030101010101" pitchFamily="49" charset="-122"/>
              </a:rPr>
              <a:t>集合</a:t>
            </a:r>
            <a:r>
              <a:rPr lang="en-US" altLang="zh-CN" sz="2400" b="0" dirty="0" smtClean="0">
                <a:ea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ea typeface="楷体_GB2312" panose="02010609030101010101" pitchFamily="49" charset="-122"/>
              </a:rPr>
              <a:t>的补集是不包含于集合</a:t>
            </a:r>
            <a:r>
              <a:rPr lang="en-US" altLang="zh-CN" sz="2400" b="0" dirty="0" smtClean="0">
                <a:ea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ea typeface="楷体_GB2312" panose="02010609030101010101" pitchFamily="49" charset="-122"/>
              </a:rPr>
              <a:t>的所有元素的集合，定义为：</a:t>
            </a:r>
            <a:endParaRPr lang="en-US" altLang="zh-CN" sz="2400" b="0" dirty="0" smtClean="0">
              <a:ea typeface="楷体_GB2312" panose="02010609030101010101" pitchFamily="49" charset="-122"/>
            </a:endParaRPr>
          </a:p>
          <a:p>
            <a:r>
              <a:rPr lang="en-US" altLang="zh-CN" sz="2400" b="0" dirty="0" smtClean="0">
                <a:ea typeface="楷体_GB2312" panose="02010609030101010101" pitchFamily="49" charset="-122"/>
              </a:rPr>
              <a:t>            </a:t>
            </a:r>
            <a:endParaRPr lang="en-US" altLang="zh-CN" sz="2400" b="0" dirty="0" smtClean="0">
              <a:ea typeface="楷体_GB2312" panose="02010609030101010101" pitchFamily="49" charset="-122"/>
            </a:endParaRPr>
          </a:p>
          <a:p>
            <a:endParaRPr lang="en-US" altLang="zh-CN" sz="2400" b="0" dirty="0" smtClean="0">
              <a:ea typeface="楷体_GB2312" panose="02010609030101010101" pitchFamily="49" charset="-122"/>
            </a:endParaRPr>
          </a:p>
          <a:p>
            <a:r>
              <a:rPr lang="zh-CN" altLang="en-US" sz="2400" b="0" dirty="0" smtClean="0">
                <a:ea typeface="楷体_GB2312" panose="02010609030101010101" pitchFamily="49" charset="-122"/>
              </a:rPr>
              <a:t>集合</a:t>
            </a:r>
            <a:r>
              <a:rPr lang="en-US" altLang="zh-CN" sz="2400" b="0" dirty="0" smtClean="0">
                <a:ea typeface="楷体_GB2312" panose="02010609030101010101" pitchFamily="49" charset="-122"/>
              </a:rPr>
              <a:t>A</a:t>
            </a:r>
            <a:r>
              <a:rPr lang="zh-CN" altLang="en-US" sz="2400" b="0" dirty="0" smtClean="0">
                <a:ea typeface="楷体_GB2312" panose="02010609030101010101" pitchFamily="49" charset="-122"/>
              </a:rPr>
              <a:t>与</a:t>
            </a:r>
            <a:r>
              <a:rPr lang="en-US" altLang="zh-CN" sz="2400" b="0" dirty="0" smtClean="0">
                <a:ea typeface="楷体_GB2312" panose="02010609030101010101" pitchFamily="49" charset="-122"/>
              </a:rPr>
              <a:t>B</a:t>
            </a:r>
            <a:r>
              <a:rPr lang="zh-CN" altLang="en-US" sz="2400" b="0" dirty="0" smtClean="0">
                <a:ea typeface="楷体_GB2312" panose="02010609030101010101" pitchFamily="49" charset="-122"/>
              </a:rPr>
              <a:t>的差，表示为</a:t>
            </a:r>
            <a:r>
              <a:rPr lang="en-US" altLang="zh-CN" sz="2400" b="0" dirty="0" smtClean="0">
                <a:ea typeface="楷体_GB2312" panose="02010609030101010101" pitchFamily="49" charset="-122"/>
              </a:rPr>
              <a:t>A-B</a:t>
            </a:r>
            <a:r>
              <a:rPr lang="zh-CN" altLang="en-US" sz="2400" b="0" dirty="0" smtClean="0">
                <a:ea typeface="楷体_GB2312" panose="02010609030101010101" pitchFamily="49" charset="-122"/>
              </a:rPr>
              <a:t>，定义为</a:t>
            </a:r>
            <a:endParaRPr lang="en-US" altLang="zh-CN" sz="2400" b="0" dirty="0" smtClean="0">
              <a:ea typeface="楷体_GB2312" panose="02010609030101010101" pitchFamily="49" charset="-122"/>
            </a:endParaRPr>
          </a:p>
          <a:p>
            <a:endParaRPr lang="en-US" altLang="zh-CN" sz="2400" b="0" dirty="0" smtClean="0">
              <a:ea typeface="楷体_GB2312" panose="02010609030101010101" pitchFamily="49" charset="-122"/>
            </a:endParaRPr>
          </a:p>
          <a:p>
            <a:endParaRPr lang="en-US" altLang="zh-CN" sz="2400" b="0" dirty="0" smtClean="0">
              <a:ea typeface="楷体_GB2312" panose="02010609030101010101" pitchFamily="49" charset="-122"/>
            </a:endParaRPr>
          </a:p>
          <a:p>
            <a:endParaRPr lang="zh-CN" altLang="en-US" sz="2400" b="0" dirty="0">
              <a:ea typeface="楷体_GB2312" panose="02010609030101010101" pitchFamily="49" charset="-122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27655" y="1543050"/>
          <a:ext cx="1798955" cy="41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1" imgW="1002665" imgH="228600" progId="Equation.KSEE3">
                  <p:embed/>
                </p:oleObj>
              </mc:Choice>
              <mc:Fallback>
                <p:oleObj name="" r:id="rId1" imgW="10026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7655" y="1543050"/>
                        <a:ext cx="1798955" cy="410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23098" y="2707323"/>
          <a:ext cx="3829050" cy="41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" r:id="rId3" imgW="2133600" imgH="228600" progId="Equation.KSEE3">
                  <p:embed/>
                </p:oleObj>
              </mc:Choice>
              <mc:Fallback>
                <p:oleObj name="" r:id="rId3" imgW="21336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3098" y="2707323"/>
                        <a:ext cx="3829050" cy="41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3199130"/>
            <a:ext cx="1744345" cy="15151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885" y="3199130"/>
            <a:ext cx="1757045" cy="15322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8640" y="3201670"/>
            <a:ext cx="1742440" cy="15297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2430" y="5019675"/>
            <a:ext cx="1866265" cy="1518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930" y="4974590"/>
            <a:ext cx="1894840" cy="15659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1428736"/>
            <a:ext cx="85011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dirty="0" smtClean="0"/>
              <a:t>另外广泛用于形态学的附加定义，集合</a:t>
            </a:r>
            <a:r>
              <a:rPr lang="en-US" altLang="zh-CN" sz="2400" b="0" dirty="0" smtClean="0">
                <a:solidFill>
                  <a:srgbClr val="FF0000"/>
                </a:solidFill>
              </a:rPr>
              <a:t>B</a:t>
            </a:r>
            <a:r>
              <a:rPr lang="zh-CN" altLang="en-US" sz="2400" b="0" dirty="0" smtClean="0">
                <a:solidFill>
                  <a:srgbClr val="FF0000"/>
                </a:solidFill>
              </a:rPr>
              <a:t>的反射 </a:t>
            </a:r>
            <a:r>
              <a:rPr lang="zh-CN" altLang="en-US" sz="2400" b="0" dirty="0" smtClean="0"/>
              <a:t>    ，定义为：</a:t>
            </a:r>
            <a:endParaRPr lang="en-US" altLang="zh-CN" sz="2400" b="0" dirty="0" smtClean="0"/>
          </a:p>
          <a:p>
            <a:endParaRPr lang="en-US" altLang="zh-CN" sz="2400" b="0" dirty="0" smtClean="0"/>
          </a:p>
          <a:p>
            <a:endParaRPr lang="en-US" altLang="zh-CN" sz="2400" b="0" dirty="0" smtClean="0"/>
          </a:p>
          <a:p>
            <a:r>
              <a:rPr lang="zh-CN" altLang="en-US" sz="2400" b="0" dirty="0" smtClean="0"/>
              <a:t>将集合</a:t>
            </a:r>
            <a:r>
              <a:rPr lang="en-US" altLang="zh-CN" sz="2400" b="0" dirty="0" smtClean="0"/>
              <a:t>A</a:t>
            </a:r>
            <a:r>
              <a:rPr lang="zh-CN" altLang="en-US" sz="2400" b="0" dirty="0" smtClean="0">
                <a:solidFill>
                  <a:srgbClr val="FF0000"/>
                </a:solidFill>
              </a:rPr>
              <a:t>平移</a:t>
            </a:r>
            <a:r>
              <a:rPr lang="zh-CN" altLang="en-US" sz="2400" b="0" dirty="0" smtClean="0"/>
              <a:t>到点</a:t>
            </a:r>
            <a:r>
              <a:rPr lang="en-US" altLang="zh-CN" sz="2400" b="0" dirty="0" smtClean="0"/>
              <a:t>Z=</a:t>
            </a:r>
            <a:r>
              <a:rPr lang="zh-CN" altLang="en-US" sz="2400" b="0" dirty="0" smtClean="0"/>
              <a:t>（</a:t>
            </a:r>
            <a:r>
              <a:rPr lang="en-US" altLang="zh-CN" sz="2400" b="0" dirty="0" smtClean="0"/>
              <a:t>Z</a:t>
            </a:r>
            <a:r>
              <a:rPr lang="en-US" altLang="zh-CN" sz="1400" b="0" dirty="0" smtClean="0"/>
              <a:t>1</a:t>
            </a:r>
            <a:r>
              <a:rPr lang="zh-CN" altLang="en-US" sz="2400" b="0" dirty="0" smtClean="0"/>
              <a:t>，</a:t>
            </a:r>
            <a:r>
              <a:rPr lang="en-US" altLang="zh-CN" sz="2400" b="0" dirty="0" smtClean="0"/>
              <a:t>Z</a:t>
            </a:r>
            <a:r>
              <a:rPr lang="en-US" altLang="zh-CN" sz="1400" b="0" dirty="0" smtClean="0"/>
              <a:t>2</a:t>
            </a:r>
            <a:r>
              <a:rPr lang="zh-CN" altLang="en-US" sz="2400" b="0" dirty="0" smtClean="0"/>
              <a:t>），表示为        ，定义为：</a:t>
            </a:r>
            <a:endParaRPr lang="en-US" altLang="zh-CN" sz="2400" b="0" dirty="0" smtClean="0"/>
          </a:p>
          <a:p>
            <a:endParaRPr lang="en-US" altLang="zh-CN" sz="2400" b="0" dirty="0" smtClean="0"/>
          </a:p>
          <a:p>
            <a:r>
              <a:rPr lang="zh-CN" altLang="en-US" sz="2400" b="0" dirty="0" smtClean="0"/>
              <a:t>     </a:t>
            </a:r>
            <a:endParaRPr lang="zh-CN" altLang="en-US" sz="2400" b="0" dirty="0"/>
          </a:p>
        </p:txBody>
      </p:sp>
      <p:pic>
        <p:nvPicPr>
          <p:cNvPr id="75782" name="Picture 6"/>
          <p:cNvPicPr>
            <a:picLocks noChangeAspect="1" noChangeArrowheads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 bwMode="auto">
          <a:xfrm>
            <a:off x="1571604" y="3571876"/>
            <a:ext cx="611505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08165" y="1428750"/>
          <a:ext cx="27495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152400" imgH="266700" progId="Equation.KSEE3">
                  <p:embed/>
                </p:oleObj>
              </mc:Choice>
              <mc:Fallback>
                <p:oleObj name="" r:id="rId2" imgW="152400" imgH="266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08165" y="1428750"/>
                        <a:ext cx="27495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42620" y="1945640"/>
          <a:ext cx="1853565" cy="419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" imgW="1346200" imgH="304800" progId="Equation.KSEE3">
                  <p:embed/>
                </p:oleObj>
              </mc:Choice>
              <mc:Fallback>
                <p:oleObj name="" r:id="rId4" imgW="1346200" imgH="3048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2620" y="1945640"/>
                        <a:ext cx="1853565" cy="419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74080" y="2620645"/>
          <a:ext cx="375920" cy="29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6" imgW="292100" imgH="228600" progId="Equation.KSEE3">
                  <p:embed/>
                </p:oleObj>
              </mc:Choice>
              <mc:Fallback>
                <p:oleObj name="" r:id="rId6" imgW="2921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74080" y="2620645"/>
                        <a:ext cx="375920" cy="294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5140" y="2965450"/>
          <a:ext cx="273304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8" imgW="1574800" imgH="228600" progId="Equation.KSEE3">
                  <p:embed/>
                </p:oleObj>
              </mc:Choice>
              <mc:Fallback>
                <p:oleObj name="" r:id="rId8" imgW="1574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5140" y="2965450"/>
                        <a:ext cx="273304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sz="4000" dirty="0" smtClean="0">
                <a:latin typeface="+mn-ea"/>
                <a:ea typeface="+mn-ea"/>
              </a:rPr>
              <a:t>图像的平移与反射</a:t>
            </a:r>
            <a:endParaRPr lang="zh-CN" altLang="en-US" sz="4000" dirty="0" smtClean="0">
              <a:latin typeface="+mn-ea"/>
              <a:ea typeface="+mn-ea"/>
            </a:endParaRPr>
          </a:p>
        </p:txBody>
      </p:sp>
      <p:pic>
        <p:nvPicPr>
          <p:cNvPr id="17412" name="Picture 2" descr="9t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57250" y="1928813"/>
            <a:ext cx="7650163" cy="332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229600" cy="398463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8.2  </a:t>
            </a:r>
            <a:r>
              <a:rPr lang="zh-CN" altLang="en-US" sz="3600" b="1" dirty="0" smtClean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二值形态学</a:t>
            </a:r>
            <a:endParaRPr lang="zh-CN" altLang="en-US" sz="3600" b="1" dirty="0" smtClean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68413"/>
            <a:ext cx="8389938" cy="4897437"/>
          </a:xfrm>
        </p:spPr>
        <p:txBody>
          <a:bodyPr/>
          <a:lstStyle/>
          <a:p>
            <a:pPr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二值图像是数字图像的重要子集，指灰度值只取两种值的图像。</a:t>
            </a:r>
            <a:endParaRPr lang="zh-CN" altLang="en-US" sz="28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lvl="1"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两个灰度值可取为</a:t>
            </a:r>
            <a:r>
              <a:rPr lang="en-US" altLang="zh-CN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（相应的点构成背景）和</a:t>
            </a:r>
            <a:r>
              <a:rPr lang="en-US" altLang="zh-CN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（相应的点构成景物）。</a:t>
            </a:r>
            <a:endParaRPr lang="zh-CN" altLang="en-US" sz="24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二值形态学处理算法都是以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膨胀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,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腐蚀</a:t>
            </a:r>
            <a:r>
              <a:rPr lang="zh-CN" altLang="en-US" sz="28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这两种最基本的运算为基础的。</a:t>
            </a:r>
            <a:endParaRPr lang="zh-CN" altLang="en-US" sz="28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lvl="1"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一般设集合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为图像集合，集合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为结构元素，数学形态学运算是用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对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进行操作。</a:t>
            </a:r>
            <a:endParaRPr lang="zh-CN" altLang="en-US" sz="24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792162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4000" dirty="0" smtClean="0">
                <a:latin typeface="Times New Roman" panose="02020603050405020304" pitchFamily="18" charset="0"/>
              </a:rPr>
              <a:t>结构元素</a:t>
            </a:r>
            <a:endParaRPr lang="zh-CN" altLang="zh-CN" sz="4000" dirty="0" smtClean="0">
              <a:latin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3080" y="1300480"/>
            <a:ext cx="8229600" cy="4601845"/>
          </a:xfrm>
        </p:spPr>
        <p:txBody>
          <a:bodyPr/>
          <a:lstStyle/>
          <a:p>
            <a:pPr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结构元素与被处理的目标图像中抽取何种信息密切相关。</a:t>
            </a:r>
            <a:endParaRPr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在考察目标图像各部分之间的关系时，需要设计一种“结构元素”。在</a:t>
            </a: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图像中不断移动结构元素，就可以考察图像之间各部分的关系。</a:t>
            </a:r>
            <a:endParaRPr lang="zh-CN" altLang="en-US" sz="24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根据不同的图像分析目的，常用的</a:t>
            </a: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结构元素有方形、扁平形、圆形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等。</a:t>
            </a:r>
            <a:endParaRPr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在多尺度形态学分析中，结构元素的大小可以变化，但</a:t>
            </a: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结构元素的尺寸一般地要明显小于目标图像的尺寸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 </a:t>
            </a:r>
            <a:endParaRPr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778" y="189548"/>
            <a:ext cx="8229600" cy="647700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3200" b="1" dirty="0" smtClean="0">
                <a:ea typeface="黑体" panose="02010609060101010101" pitchFamily="2" charset="-122"/>
              </a:rPr>
              <a:t>8.2.1 </a:t>
            </a:r>
            <a:r>
              <a:rPr lang="zh-CN" altLang="en-US" sz="3200" b="1" dirty="0" smtClean="0">
                <a:ea typeface="黑体" panose="02010609060101010101" pitchFamily="2" charset="-122"/>
              </a:rPr>
              <a:t>二值膨胀</a:t>
            </a:r>
            <a:endParaRPr lang="zh-CN" altLang="en-US" sz="3200" b="1" dirty="0" smtClean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25923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和</a:t>
            </a:r>
            <a:r>
              <a:rPr lang="en-US" altLang="zh-CN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是</a:t>
            </a:r>
            <a:r>
              <a:rPr lang="en-US" altLang="zh-CN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Z²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的集合，集合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被集合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楷体_GB2312" panose="02010609030101010101" pitchFamily="49" charset="-122"/>
              </a:rPr>
              <a:t>膨胀表示：</a:t>
            </a:r>
            <a:endParaRPr lang="en-US" altLang="zh-CN" sz="24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8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460" y="2488565"/>
            <a:ext cx="1543050" cy="1600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950" y="2846070"/>
            <a:ext cx="742950" cy="885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235" y="2452370"/>
            <a:ext cx="1981200" cy="1847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845" y="4432935"/>
            <a:ext cx="866775" cy="1647825"/>
          </a:xfrm>
          <a:prstGeom prst="rect">
            <a:avLst/>
          </a:prstGeom>
        </p:spPr>
      </p:pic>
      <p:graphicFrame>
        <p:nvGraphicFramePr>
          <p:cNvPr id="8" name="对象 7"/>
          <p:cNvGraphicFramePr/>
          <p:nvPr/>
        </p:nvGraphicFramePr>
        <p:xfrm>
          <a:off x="5033010" y="4364355"/>
          <a:ext cx="1734820" cy="2345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" r:id="rId5" imgW="1733550" imgH="2343150" progId="Paint.Picture">
                  <p:embed/>
                </p:oleObj>
              </mc:Choice>
              <mc:Fallback>
                <p:oleObj name="" r:id="rId5" imgW="1733550" imgH="23431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3010" y="4364355"/>
                        <a:ext cx="1734820" cy="2345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5400" y="1800860"/>
          <a:ext cx="2235835" cy="59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" r:id="rId7" imgW="1714500" imgH="457200" progId="Equation.KSEE3">
                  <p:embed/>
                </p:oleObj>
              </mc:Choice>
              <mc:Fallback>
                <p:oleObj name="" r:id="rId7" imgW="1714500" imgH="4572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5400" y="1800860"/>
                        <a:ext cx="2235835" cy="59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96300" cy="587364"/>
          </a:xfrm>
        </p:spPr>
        <p:txBody>
          <a:bodyPr/>
          <a:lstStyle/>
          <a:p>
            <a:pPr marL="2762250" indent="-276225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集合</a:t>
            </a:r>
            <a:r>
              <a:rPr kumimoji="1" lang="en-US" altLang="zh-CN" sz="2800" i="1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kumimoji="1"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（输入图像）被集合</a:t>
            </a:r>
            <a:r>
              <a:rPr kumimoji="1" lang="en-US" altLang="zh-CN" sz="2800" i="1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kumimoji="1"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（结构元素）腐蚀</a:t>
            </a:r>
            <a:r>
              <a:rPr kumimoji="1" lang="en-US" altLang="zh-CN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  <a:endParaRPr kumimoji="1" lang="en-US" altLang="zh-CN" sz="28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2762250" indent="-276225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kumimoji="1" lang="en-US" altLang="zh-CN" sz="28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054" name="Rectangle 13"/>
          <p:cNvSpPr>
            <a:spLocks noChangeArrowheads="1"/>
          </p:cNvSpPr>
          <p:nvPr/>
        </p:nvSpPr>
        <p:spPr bwMode="auto">
          <a:xfrm>
            <a:off x="-612775" y="566102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5" name="Rectangle 14"/>
          <p:cNvSpPr>
            <a:spLocks noChangeArrowheads="1"/>
          </p:cNvSpPr>
          <p:nvPr/>
        </p:nvSpPr>
        <p:spPr bwMode="auto">
          <a:xfrm>
            <a:off x="1219835" y="3152775"/>
            <a:ext cx="555625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kumimoji="1" lang="en-US" altLang="zh-CN" sz="1000" b="0">
                <a:ea typeface="宋体" panose="02010600030101010101" pitchFamily="2" charset="-122"/>
              </a:rPr>
              <a:t>   </a:t>
            </a:r>
            <a:endParaRPr kumimoji="1"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51778" y="189548"/>
            <a:ext cx="8229600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黑体" panose="02010609060101010101" pitchFamily="2" charset="-122"/>
                <a:cs typeface="+mj-cs"/>
              </a:rPr>
              <a:t>8.2.2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黑体" panose="02010609060101010101" pitchFamily="2" charset="-122"/>
                <a:cs typeface="+mj-cs"/>
              </a:rPr>
              <a:t>二值腐蚀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460" y="2529840"/>
            <a:ext cx="1543050" cy="1600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2887345"/>
            <a:ext cx="742950" cy="885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855" y="2499995"/>
            <a:ext cx="2219325" cy="1857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110" y="4500880"/>
            <a:ext cx="866775" cy="16478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785" y="4500880"/>
            <a:ext cx="2057400" cy="1866900"/>
          </a:xfrm>
          <a:prstGeom prst="rect">
            <a:avLst/>
          </a:prstGeom>
        </p:spPr>
      </p:pic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21025" y="2000885"/>
          <a:ext cx="2082800" cy="367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" r:id="rId6" imgW="1295400" imgH="228600" progId="Equation.KSEE3">
                  <p:embed/>
                </p:oleObj>
              </mc:Choice>
              <mc:Fallback>
                <p:oleObj name="" r:id="rId6" imgW="1295400" imgH="2286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21025" y="2000885"/>
                        <a:ext cx="2082800" cy="367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29600" cy="57467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3200" b="1" smtClean="0"/>
              <a:t>      </a:t>
            </a:r>
            <a:r>
              <a:rPr lang="zh-CN" altLang="en-US" sz="3200" b="1" smtClean="0"/>
              <a:t>腐蚀和膨胀操作的直观解释</a:t>
            </a:r>
            <a:r>
              <a:rPr lang="zh-CN" altLang="en-US" sz="3600" smtClean="0"/>
              <a:t> </a:t>
            </a:r>
            <a:endParaRPr lang="zh-CN" altLang="en-US" sz="36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484630"/>
            <a:ext cx="8229600" cy="3731260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</a:pPr>
            <a:r>
              <a:rPr lang="zh-CN" altLang="en-US" sz="2400" dirty="0" smtClean="0">
                <a:ea typeface="楷体_GB2312" panose="02010609030101010101" pitchFamily="49" charset="-122"/>
              </a:rPr>
              <a:t>腐蚀是对图像内部作滤波处理，而膨胀是利用结构元素对图像补集进行填充，因而它是对图像外部作滤波处理。</a:t>
            </a:r>
            <a:endParaRPr lang="zh-CN" altLang="en-US" sz="2400" dirty="0" smtClean="0">
              <a:ea typeface="楷体_GB2312" panose="02010609030101010101" pitchFamily="49" charset="-122"/>
            </a:endParaRPr>
          </a:p>
          <a:p>
            <a:pPr marL="609600" indent="-609600"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3300"/>
                </a:solidFill>
                <a:ea typeface="楷体_GB2312" panose="02010609030101010101" pitchFamily="49" charset="-122"/>
              </a:rPr>
              <a:t>腐蚀具有收缩图像的作用，膨胀具有扩大图像的作用</a:t>
            </a:r>
            <a:r>
              <a:rPr lang="zh-CN" altLang="en-US" sz="2400" dirty="0" smtClean="0">
                <a:ea typeface="楷体_GB2312" panose="02010609030101010101" pitchFamily="49" charset="-122"/>
              </a:rPr>
              <a:t>。</a:t>
            </a:r>
            <a:endParaRPr lang="zh-CN" altLang="en-US" sz="2000" dirty="0" smtClean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609600" indent="-609600" eaLnBrk="1" hangingPunct="1">
              <a:lnSpc>
                <a:spcPct val="150000"/>
              </a:lnSpc>
            </a:pP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腐蚀的一种简单的用途是</a:t>
            </a:r>
            <a:r>
              <a:rPr lang="zh-CN" altLang="en-US" sz="24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从二值图像中消除不相关的细节。</a:t>
            </a:r>
            <a:endParaRPr lang="en-US" altLang="zh-CN" sz="2400" dirty="0" smtClean="0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609600" indent="-609600" eaLnBrk="1" hangingPunct="1">
              <a:lnSpc>
                <a:spcPct val="150000"/>
              </a:lnSpc>
            </a:pPr>
            <a:endParaRPr lang="en-US" altLang="zh-CN" sz="2400" dirty="0" smtClean="0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3" name="Rectangle 8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52" y="1356664"/>
            <a:ext cx="8572528" cy="803264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原图图像包含边长为</a:t>
            </a: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5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7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9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15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个像素的正方形，假设要求保留最大的正方形，去除其他的正方形。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51225" y="6097270"/>
            <a:ext cx="22358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 smtClean="0">
                <a:ea typeface="楷体_GB2312" panose="02010609030101010101" pitchFamily="49" charset="-122"/>
              </a:rPr>
              <a:t>13</a:t>
            </a:r>
            <a:r>
              <a:rPr lang="zh-CN" altLang="en-US" sz="1400" b="0" dirty="0" smtClean="0">
                <a:ea typeface="楷体_GB2312" panose="02010609030101010101" pitchFamily="49" charset="-122"/>
              </a:rPr>
              <a:t>*</a:t>
            </a:r>
            <a:r>
              <a:rPr lang="en-US" altLang="zh-CN" sz="1400" b="0" dirty="0" smtClean="0">
                <a:ea typeface="楷体_GB2312" panose="02010609030101010101" pitchFamily="49" charset="-122"/>
              </a:rPr>
              <a:t>13</a:t>
            </a:r>
            <a:r>
              <a:rPr lang="zh-CN" altLang="en-US" sz="1400" b="0" dirty="0" smtClean="0">
                <a:ea typeface="楷体_GB2312" panose="02010609030101010101" pitchFamily="49" charset="-122"/>
              </a:rPr>
              <a:t>大小的结构元素腐蚀</a:t>
            </a:r>
            <a:endParaRPr lang="zh-CN" altLang="en-US" sz="1400" b="0" dirty="0" smtClean="0">
              <a:ea typeface="楷体_GB2312" panose="0201060903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54775" y="6097270"/>
            <a:ext cx="2261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 smtClean="0">
                <a:ea typeface="楷体_GB2312" panose="02010609030101010101" pitchFamily="49" charset="-122"/>
              </a:rPr>
              <a:t>13</a:t>
            </a:r>
            <a:r>
              <a:rPr lang="zh-CN" altLang="en-US" sz="1400" b="0" dirty="0" smtClean="0">
                <a:ea typeface="楷体_GB2312" panose="02010609030101010101" pitchFamily="49" charset="-122"/>
              </a:rPr>
              <a:t>*</a:t>
            </a:r>
            <a:r>
              <a:rPr lang="en-US" altLang="zh-CN" sz="1400" b="0" dirty="0" smtClean="0">
                <a:ea typeface="楷体_GB2312" panose="02010609030101010101" pitchFamily="49" charset="-122"/>
              </a:rPr>
              <a:t>13</a:t>
            </a:r>
            <a:r>
              <a:rPr lang="zh-CN" altLang="en-US" sz="1400" b="0" dirty="0" smtClean="0">
                <a:ea typeface="楷体_GB2312" panose="02010609030101010101" pitchFamily="49" charset="-122"/>
              </a:rPr>
              <a:t>大小的结构元素膨胀</a:t>
            </a:r>
            <a:endParaRPr lang="zh-CN" altLang="en-US" sz="1400" b="0" dirty="0" smtClean="0">
              <a:ea typeface="楷体_GB2312" panose="0201060903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061970"/>
            <a:ext cx="2723515" cy="27235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015" y="3072130"/>
            <a:ext cx="2713355" cy="27133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020" y="3072130"/>
            <a:ext cx="2816860" cy="2807970"/>
          </a:xfrm>
          <a:prstGeom prst="rect">
            <a:avLst/>
          </a:prstGeom>
        </p:spPr>
      </p:pic>
      <p:sp>
        <p:nvSpPr>
          <p:cNvPr id="9" name="TextBox 4"/>
          <p:cNvSpPr txBox="1"/>
          <p:nvPr/>
        </p:nvSpPr>
        <p:spPr>
          <a:xfrm>
            <a:off x="1399540" y="6097270"/>
            <a:ext cx="1183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0" dirty="0" smtClean="0">
                <a:ea typeface="楷体_GB2312" panose="02010609030101010101" pitchFamily="49" charset="-122"/>
              </a:rPr>
              <a:t>原图</a:t>
            </a:r>
            <a:endParaRPr lang="zh-CN" altLang="en-US" sz="1400" b="0" dirty="0" smtClean="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229600" cy="576262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3200" b="1" dirty="0" smtClean="0"/>
              <a:t>8.2.3  </a:t>
            </a:r>
            <a:r>
              <a:rPr lang="zh-CN" altLang="en-US" sz="3200" b="1" dirty="0" smtClean="0"/>
              <a:t>二值开运算</a:t>
            </a:r>
            <a:endParaRPr lang="zh-CN" altLang="en-US" sz="2400" b="1" dirty="0" smtClean="0"/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28662" y="3787775"/>
            <a:ext cx="7143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楷体_GB2312" panose="02010609030101010101" pitchFamily="49" charset="-122"/>
              </a:rPr>
              <a:t>使用结构元素</a:t>
            </a:r>
            <a:r>
              <a:rPr lang="en-US" altLang="zh-CN" dirty="0" smtClean="0">
                <a:latin typeface="楷体_GB2312" panose="02010609030101010101" pitchFamily="49" charset="-122"/>
              </a:rPr>
              <a:t>B</a:t>
            </a:r>
            <a:r>
              <a:rPr lang="zh-CN" altLang="en-US" dirty="0" smtClean="0">
                <a:latin typeface="楷体_GB2312" panose="02010609030101010101" pitchFamily="49" charset="-122"/>
              </a:rPr>
              <a:t>对集合</a:t>
            </a:r>
            <a:r>
              <a:rPr lang="en-US" altLang="zh-CN" dirty="0" smtClean="0">
                <a:latin typeface="楷体_GB2312" panose="02010609030101010101" pitchFamily="49" charset="-122"/>
              </a:rPr>
              <a:t>A</a:t>
            </a:r>
            <a:r>
              <a:rPr lang="zh-CN" altLang="en-US" dirty="0" smtClean="0">
                <a:latin typeface="楷体_GB2312" panose="02010609030101010101" pitchFamily="49" charset="-122"/>
              </a:rPr>
              <a:t>进行</a:t>
            </a:r>
            <a:r>
              <a:rPr lang="zh-CN" altLang="en-US" dirty="0" smtClean="0">
                <a:solidFill>
                  <a:srgbClr val="FF0000"/>
                </a:solidFill>
                <a:latin typeface="楷体_GB2312" panose="02010609030101010101" pitchFamily="49" charset="-122"/>
              </a:rPr>
              <a:t>开运算</a:t>
            </a:r>
            <a:r>
              <a:rPr lang="zh-CN" altLang="en-US" dirty="0" smtClean="0">
                <a:latin typeface="楷体_GB2312" panose="02010609030101010101" pitchFamily="49" charset="-122"/>
              </a:rPr>
              <a:t>定义为：</a:t>
            </a:r>
            <a:endParaRPr lang="en-US" altLang="zh-CN" dirty="0" smtClean="0">
              <a:latin typeface="楷体_GB2312" panose="02010609030101010101" pitchFamily="49" charset="-122"/>
            </a:endParaRPr>
          </a:p>
          <a:p>
            <a:endParaRPr lang="en-US" altLang="zh-CN" dirty="0" smtClean="0">
              <a:latin typeface="楷体_GB2312" panose="02010609030101010101" pitchFamily="49" charset="-122"/>
            </a:endParaRPr>
          </a:p>
          <a:p>
            <a:endParaRPr lang="en-US" altLang="zh-CN" dirty="0" smtClean="0">
              <a:latin typeface="楷体_GB2312" panose="02010609030101010101" pitchFamily="49" charset="-122"/>
            </a:endParaRPr>
          </a:p>
          <a:p>
            <a:r>
              <a:rPr lang="zh-CN" altLang="en-US" dirty="0" smtClean="0">
                <a:latin typeface="楷体_GB2312" panose="02010609030101010101" pitchFamily="49" charset="-122"/>
              </a:rPr>
              <a:t>使用结构元素</a:t>
            </a:r>
            <a:r>
              <a:rPr lang="en-US" altLang="zh-CN" dirty="0" smtClean="0">
                <a:latin typeface="楷体_GB2312" panose="02010609030101010101" pitchFamily="49" charset="-122"/>
              </a:rPr>
              <a:t>B</a:t>
            </a:r>
            <a:r>
              <a:rPr lang="zh-CN" altLang="en-US" dirty="0" smtClean="0">
                <a:latin typeface="楷体_GB2312" panose="02010609030101010101" pitchFamily="49" charset="-122"/>
              </a:rPr>
              <a:t>对集合</a:t>
            </a:r>
            <a:r>
              <a:rPr lang="en-US" altLang="zh-CN" dirty="0" smtClean="0">
                <a:latin typeface="楷体_GB2312" panose="02010609030101010101" pitchFamily="49" charset="-122"/>
              </a:rPr>
              <a:t>A</a:t>
            </a:r>
            <a:r>
              <a:rPr lang="zh-CN" altLang="en-US" dirty="0" smtClean="0">
                <a:latin typeface="楷体_GB2312" panose="02010609030101010101" pitchFamily="49" charset="-122"/>
              </a:rPr>
              <a:t>进行</a:t>
            </a:r>
            <a:r>
              <a:rPr lang="zh-CN" altLang="en-US" dirty="0" smtClean="0">
                <a:solidFill>
                  <a:srgbClr val="FF0000"/>
                </a:solidFill>
                <a:latin typeface="楷体_GB2312" panose="02010609030101010101" pitchFamily="49" charset="-122"/>
              </a:rPr>
              <a:t>闭运算</a:t>
            </a:r>
            <a:r>
              <a:rPr lang="zh-CN" altLang="en-US" dirty="0" smtClean="0">
                <a:latin typeface="楷体_GB2312" panose="02010609030101010101" pitchFamily="49" charset="-122"/>
              </a:rPr>
              <a:t>定义为：</a:t>
            </a:r>
            <a:endParaRPr lang="en-US" altLang="zh-CN" dirty="0" smtClean="0">
              <a:latin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dirty="0" smtClean="0">
                <a:latin typeface="楷体_GB2312" panose="02010609030101010101" pitchFamily="49" charset="-122"/>
              </a:rPr>
              <a:t>    </a:t>
            </a:r>
            <a:endParaRPr lang="zh-CN" altLang="en-US" dirty="0">
              <a:latin typeface="楷体_GB2312" panose="02010609030101010101" pitchFamily="49" charset="-122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11855" y="4477385"/>
          <a:ext cx="2253615" cy="4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" r:id="rId1" imgW="1181100" imgH="215900" progId="Equation.KSEE3">
                  <p:embed/>
                </p:oleObj>
              </mc:Choice>
              <mc:Fallback>
                <p:oleObj name="" r:id="rId1" imgW="1181100" imgH="215900" progId="Equation.KSEE3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1855" y="4477385"/>
                        <a:ext cx="2253615" cy="41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11855" y="5622290"/>
          <a:ext cx="2253615" cy="4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" r:id="rId3" imgW="1181100" imgH="215900" progId="Equation.KSEE3">
                  <p:embed/>
                </p:oleObj>
              </mc:Choice>
              <mc:Fallback>
                <p:oleObj name="" r:id="rId3" imgW="1181100" imgH="215900" progId="Equation.KSEE3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1855" y="5622290"/>
                        <a:ext cx="2253615" cy="412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15010" y="1264920"/>
            <a:ext cx="75850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/>
              <a:t>      </a:t>
            </a:r>
            <a:r>
              <a:rPr lang="zh-CN" altLang="en-US" sz="2400" dirty="0" smtClean="0">
                <a:latin typeface="楷体_GB2312" panose="02010609030101010101" pitchFamily="49" charset="-122"/>
              </a:rPr>
              <a:t>  </a:t>
            </a:r>
            <a:r>
              <a:rPr lang="zh-CN" altLang="en-US" sz="2400" b="0" dirty="0" smtClean="0">
                <a:latin typeface="楷体_GB2312" panose="02010609030101010101" pitchFamily="49" charset="-122"/>
              </a:rPr>
              <a:t>膨胀与腐蚀运算，对目标物的处理有非常好的作用。缺点是：改变了原目标物的大小。</a:t>
            </a:r>
            <a:endParaRPr lang="zh-CN" altLang="en-US" sz="2400" b="0" dirty="0" smtClean="0">
              <a:latin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400" b="0" dirty="0" smtClean="0">
                <a:latin typeface="楷体_GB2312" panose="02010609030101010101" pitchFamily="49" charset="-122"/>
              </a:rPr>
              <a:t>     考虑到腐蚀与膨胀是一对对偶运算，将膨胀与腐蚀同时进行，便构成了开运算和闭运算。</a:t>
            </a:r>
            <a:endParaRPr lang="zh-CN" altLang="en-US" sz="2400" b="0" dirty="0" smtClean="0">
              <a:latin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260492"/>
            <a:ext cx="8229600" cy="525434"/>
          </a:xfrm>
        </p:spPr>
        <p:txBody>
          <a:bodyPr/>
          <a:lstStyle/>
          <a:p>
            <a:r>
              <a:rPr lang="zh-CN" altLang="en-US" sz="2400" dirty="0" smtClean="0">
                <a:latin typeface="楷体_GB2312" panose="02010609030101010101" pitchFamily="49" charset="-122"/>
              </a:rPr>
              <a:t>形态学开操作和闭操作的简单说明</a:t>
            </a:r>
            <a:endParaRPr lang="zh-CN" altLang="en-US" sz="2400" dirty="0">
              <a:latin typeface="楷体_GB2312" panose="02010609030101010101" pitchFamily="49" charset="-122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57488" y="1714488"/>
            <a:ext cx="3857652" cy="4984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403368"/>
            <a:ext cx="7818464" cy="25256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开操作一般</a:t>
            </a:r>
            <a:r>
              <a:rPr lang="zh-CN" altLang="en-US" sz="24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使对象的轮廓的变得光滑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r>
              <a:rPr lang="zh-CN" altLang="en-US" sz="2400" b="1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断开狭窄的间断和消除细的突出物</a:t>
            </a:r>
            <a:r>
              <a:rPr lang="zh-CN" altLang="en-US" sz="24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；</a:t>
            </a:r>
            <a:endParaRPr lang="en-US" altLang="zh-CN" sz="2400" dirty="0" smtClean="0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闭操作同样也可以使轮廓线更加光滑，但与开操作相反的是，他通常</a:t>
            </a:r>
            <a:r>
              <a:rPr lang="zh-CN" altLang="en-US" sz="2400" b="1" dirty="0" smtClean="0">
                <a:solidFill>
                  <a:srgbClr val="FF3300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连接狭窄的间断和长细的鸿沟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，消除小的孔洞，并</a:t>
            </a:r>
            <a:r>
              <a:rPr lang="zh-CN" altLang="en-US" sz="2400" b="1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填补轮廓线中的断裂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4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500174"/>
            <a:ext cx="8229600" cy="2428892"/>
          </a:xfrm>
        </p:spPr>
        <p:txBody>
          <a:bodyPr/>
          <a:lstStyle/>
          <a:p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开操作的简单的几何解释：</a:t>
            </a:r>
            <a:endParaRPr lang="en-US" altLang="zh-CN" sz="24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假设我们将结构元素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看做是一个转球，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的开运算通过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中的点完成，即</a:t>
            </a:r>
            <a:r>
              <a:rPr lang="en-US" altLang="zh-CN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lang="en-US" altLang="zh-CN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的边界内转动，</a:t>
            </a:r>
            <a:r>
              <a:rPr lang="en-US" altLang="zh-CN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中的点所能到达</a:t>
            </a:r>
            <a:r>
              <a:rPr lang="en-US" altLang="zh-CN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的边界的最远点。</a:t>
            </a:r>
            <a:endParaRPr lang="en-US" altLang="zh-CN" sz="2000" dirty="0" smtClean="0">
              <a:solidFill>
                <a:srgbClr val="FF33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这也说明，用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对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进行开操作是通过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求取</a:t>
            </a:r>
            <a:r>
              <a:rPr lang="en-US" altLang="zh-CN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lang="en-US" altLang="zh-CN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000" dirty="0" smtClean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中的平移的并集得到的。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就是说，开操作可以表示为：</a:t>
            </a:r>
            <a:endParaRPr lang="en-US" altLang="zh-CN" sz="20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None/>
            </a:pPr>
            <a:endParaRPr lang="en-US" altLang="zh-CN" sz="20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428860" y="3929066"/>
            <a:ext cx="3429024" cy="401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357694"/>
            <a:ext cx="6143668" cy="207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7921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利用圆盘作开运算</a:t>
            </a:r>
            <a:endParaRPr lang="zh-CN" altLang="en-US" sz="3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243681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smtClean="0"/>
              <a:t>　</a:t>
            </a:r>
            <a:endParaRPr lang="zh-CN" altLang="en-US" sz="2000" smtClean="0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2" name="Rectangle 10"/>
          <p:cNvSpPr>
            <a:spLocks noChangeArrowheads="1"/>
          </p:cNvSpPr>
          <p:nvPr/>
        </p:nvSpPr>
        <p:spPr bwMode="auto">
          <a:xfrm>
            <a:off x="0" y="266382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3" name="Rectangle 11"/>
          <p:cNvSpPr>
            <a:spLocks noChangeArrowheads="1"/>
          </p:cNvSpPr>
          <p:nvPr/>
        </p:nvSpPr>
        <p:spPr bwMode="auto">
          <a:xfrm>
            <a:off x="0" y="3921125"/>
            <a:ext cx="29845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r>
              <a:rPr kumimoji="1" lang="en-US" altLang="zh-CN" sz="1200" b="0">
                <a:ea typeface="宋体" panose="02010600030101010101" pitchFamily="2" charset="-122"/>
              </a:rPr>
              <a:t>   </a:t>
            </a:r>
            <a:endParaRPr kumimoji="1"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4104" name="Rectangle 16"/>
          <p:cNvSpPr>
            <a:spLocks noChangeArrowheads="1"/>
          </p:cNvSpPr>
          <p:nvPr/>
        </p:nvSpPr>
        <p:spPr bwMode="auto">
          <a:xfrm>
            <a:off x="0" y="264795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15"/>
          <p:cNvGraphicFramePr>
            <a:graphicFrameLocks noChangeAspect="1"/>
          </p:cNvGraphicFramePr>
          <p:nvPr/>
        </p:nvGraphicFramePr>
        <p:xfrm>
          <a:off x="684213" y="2132013"/>
          <a:ext cx="7881937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" r:id="rId1" imgW="45900975" imgH="18383250" progId="">
                  <p:embed/>
                </p:oleObj>
              </mc:Choice>
              <mc:Fallback>
                <p:oleObj name="" r:id="rId1" imgW="45900975" imgH="18383250" progId="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2132013"/>
                        <a:ext cx="7881937" cy="316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2000264"/>
          </a:xfrm>
        </p:spPr>
        <p:txBody>
          <a:bodyPr/>
          <a:lstStyle/>
          <a:p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闭操作也有相似的集合解释。</a:t>
            </a:r>
            <a:endParaRPr lang="en-US" altLang="zh-CN" sz="24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在边界的外部转动</a:t>
            </a:r>
            <a:r>
              <a:rPr lang="en-US" altLang="zh-CN" sz="2000" dirty="0" smtClean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，从几何上来讲，当且仅当对包含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w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(B)</a:t>
            </a:r>
            <a:r>
              <a:rPr lang="en-US" altLang="zh-CN" sz="1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Z 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进行的所有平移都满足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(B)</a:t>
            </a:r>
            <a:r>
              <a:rPr lang="en-US" altLang="zh-CN" sz="1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Z 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∩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≠∅时，点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w 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是</a:t>
            </a:r>
            <a:r>
              <a:rPr lang="en-US" altLang="zh-CN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A·B</a:t>
            </a:r>
            <a:r>
              <a:rPr lang="zh-CN" altLang="en-US" sz="20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的一个元素。</a:t>
            </a:r>
            <a:endParaRPr lang="zh-CN" altLang="en-US" sz="20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1598295" y="3270250"/>
          <a:ext cx="5948045" cy="1601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" r:id="rId1" imgW="5943600" imgH="1600200" progId="Paint.Picture">
                  <p:embed/>
                </p:oleObj>
              </mc:Choice>
              <mc:Fallback>
                <p:oleObj name="" r:id="rId1" imgW="5943600" imgH="16002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98295" y="3270250"/>
                        <a:ext cx="5948045" cy="1601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7921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kumimoji="1" lang="en-US" altLang="zh-CN" sz="3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3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利用圆盘作闭运算</a:t>
            </a:r>
            <a:endParaRPr kumimoji="1" lang="zh-CN" altLang="en-US" sz="3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29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6630" name="Picture 1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42988" y="1773238"/>
            <a:ext cx="7632700" cy="331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50825" y="333375"/>
            <a:ext cx="8229600" cy="398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  8.3  </a:t>
            </a:r>
            <a:r>
              <a:rPr lang="zh-CN" altLang="en-US" sz="3600" kern="0" dirty="0" smtClean="0"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一些基本的形态学算法</a:t>
            </a:r>
            <a:endParaRPr kumimoji="0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1595021"/>
            <a:ext cx="785818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一、边界提取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 </a:t>
            </a:r>
            <a:r>
              <a:rPr lang="en-US" altLang="zh-CN" sz="2400" b="0" dirty="0" smtClean="0"/>
              <a:t>      </a:t>
            </a:r>
            <a:r>
              <a:rPr lang="zh-CN" altLang="en-US" sz="2400" b="0" dirty="0" smtClean="0"/>
              <a:t>图像的边缘线或棱线是图像中信息量最为丰富的区域。</a:t>
            </a:r>
            <a:endParaRPr lang="en-US" altLang="zh-CN" sz="2400" b="0" dirty="0" smtClean="0"/>
          </a:p>
          <a:p>
            <a:pPr>
              <a:lnSpc>
                <a:spcPct val="150000"/>
              </a:lnSpc>
            </a:pPr>
            <a:r>
              <a:rPr lang="en-US" altLang="zh-CN" sz="2400" b="0" dirty="0" smtClean="0"/>
              <a:t>        </a:t>
            </a:r>
            <a:r>
              <a:rPr lang="zh-CN" altLang="en-US" sz="2400" b="0" dirty="0" smtClean="0"/>
              <a:t>提取边界或边缘也是图像分割的重要组成部分。</a:t>
            </a:r>
            <a:endParaRPr lang="en-US" altLang="zh-CN" sz="2400" b="0" dirty="0" smtClean="0"/>
          </a:p>
          <a:p>
            <a:pPr>
              <a:lnSpc>
                <a:spcPct val="150000"/>
              </a:lnSpc>
            </a:pPr>
            <a:r>
              <a:rPr lang="en-US" altLang="zh-CN" sz="2400" b="0" dirty="0" smtClean="0"/>
              <a:t>       </a:t>
            </a:r>
            <a:r>
              <a:rPr lang="en-US" altLang="zh-CN" sz="2400" b="0" dirty="0" smtClean="0">
                <a:solidFill>
                  <a:srgbClr val="FF0000"/>
                </a:solidFill>
              </a:rPr>
              <a:t> </a:t>
            </a:r>
            <a:r>
              <a:rPr lang="zh-CN" altLang="en-US" sz="2400" b="0" dirty="0" smtClean="0">
                <a:solidFill>
                  <a:srgbClr val="FF0000"/>
                </a:solidFill>
              </a:rPr>
              <a:t>提取物体的轮廓边缘</a:t>
            </a:r>
            <a:r>
              <a:rPr lang="zh-CN" altLang="en-US" sz="2400" b="0" dirty="0" smtClean="0"/>
              <a:t>的形态学变换为：</a:t>
            </a:r>
            <a:endParaRPr lang="en-US" altLang="zh-CN" sz="2400" b="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     </a:t>
            </a:r>
            <a:endParaRPr lang="en-US" altLang="zh-CN" sz="2400" dirty="0" smtClean="0"/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42920" y="3908425"/>
          <a:ext cx="2835910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" r:id="rId1" imgW="1143000" imgH="215900" progId="Equation.KSEE3">
                  <p:embed/>
                </p:oleObj>
              </mc:Choice>
              <mc:Fallback>
                <p:oleObj name="" r:id="rId1" imgW="1143000" imgH="215900" progId="Equation.KSEE3">
                  <p:embed/>
                  <p:pic>
                    <p:nvPicPr>
                      <p:cNvPr id="0" name="图片 6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2920" y="3908425"/>
                        <a:ext cx="2835910" cy="535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000364" y="5000636"/>
            <a:ext cx="314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二值图像的边缘提取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1724025"/>
            <a:ext cx="1924050" cy="1238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55" y="1724025"/>
            <a:ext cx="1333500" cy="981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770" y="3562350"/>
            <a:ext cx="1971675" cy="1352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445" y="3566795"/>
            <a:ext cx="1990725" cy="12763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376805"/>
            <a:ext cx="1390650" cy="1552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2605405"/>
            <a:ext cx="1333500" cy="981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2329180"/>
            <a:ext cx="1266825" cy="1600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515" y="2296160"/>
            <a:ext cx="1295400" cy="1600200"/>
          </a:xfrm>
          <a:prstGeom prst="rect">
            <a:avLst/>
          </a:prstGeom>
        </p:spPr>
      </p:pic>
      <p:sp>
        <p:nvSpPr>
          <p:cNvPr id="9" name="TextBox 4"/>
          <p:cNvSpPr txBox="1"/>
          <p:nvPr/>
        </p:nvSpPr>
        <p:spPr>
          <a:xfrm>
            <a:off x="3000364" y="4600586"/>
            <a:ext cx="314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二值图像的边缘提取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20" y="3929380"/>
            <a:ext cx="619125" cy="1809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7045" y="3896360"/>
            <a:ext cx="314325" cy="2000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0190" y="3896360"/>
            <a:ext cx="466725" cy="3048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85786" y="1428736"/>
            <a:ext cx="76438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二、形态滤波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      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895" y="2788285"/>
            <a:ext cx="1466850" cy="1076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850" y="2893060"/>
            <a:ext cx="1219200" cy="971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15" y="4602480"/>
            <a:ext cx="1323975" cy="1447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4826635"/>
            <a:ext cx="504825" cy="971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645" y="4602480"/>
            <a:ext cx="1457325" cy="1390650"/>
          </a:xfrm>
          <a:prstGeom prst="rect">
            <a:avLst/>
          </a:prstGeom>
        </p:spPr>
      </p:pic>
      <p:sp>
        <p:nvSpPr>
          <p:cNvPr id="11" name="TextBox 4"/>
          <p:cNvSpPr txBox="1"/>
          <p:nvPr/>
        </p:nvSpPr>
        <p:spPr>
          <a:xfrm>
            <a:off x="1595120" y="2334895"/>
            <a:ext cx="4895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用不同方向结构元素提取方向向量</a:t>
            </a:r>
            <a:endParaRPr lang="zh-CN" altLang="zh-CN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4280" y="3094355"/>
            <a:ext cx="409575" cy="2476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350" y="3422650"/>
            <a:ext cx="304800" cy="219075"/>
          </a:xfrm>
          <a:prstGeom prst="rect">
            <a:avLst/>
          </a:prstGeom>
        </p:spPr>
      </p:pic>
      <p:sp>
        <p:nvSpPr>
          <p:cNvPr id="14" name="TextBox 4"/>
          <p:cNvSpPr txBox="1"/>
          <p:nvPr/>
        </p:nvSpPr>
        <p:spPr>
          <a:xfrm>
            <a:off x="1358900" y="4023360"/>
            <a:ext cx="5561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用不同形态结构元素提取特定结构目标</a:t>
            </a:r>
            <a:endParaRPr lang="zh-CN" altLang="zh-CN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761605" y="2893060"/>
            <a:ext cx="592455" cy="1383665"/>
          </a:xfrm>
          <a:prstGeom prst="rect">
            <a:avLst/>
          </a:prstGeom>
          <a:solidFill>
            <a:srgbClr val="00CC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开运算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14546" y="2000240"/>
            <a:ext cx="4926231" cy="315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文本框 14"/>
          <p:cNvSpPr txBox="1"/>
          <p:nvPr/>
        </p:nvSpPr>
        <p:spPr>
          <a:xfrm>
            <a:off x="7704455" y="2737485"/>
            <a:ext cx="592455" cy="1383665"/>
          </a:xfrm>
          <a:prstGeom prst="rect">
            <a:avLst/>
          </a:prstGeom>
          <a:solidFill>
            <a:srgbClr val="00CC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开运算</a:t>
            </a:r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85786" y="1428736"/>
            <a:ext cx="764386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/>
              <a:t>三、图像去噪</a:t>
            </a:r>
            <a:endParaRPr lang="en-US" altLang="zh-CN" sz="2400" dirty="0" smtClean="0"/>
          </a:p>
          <a:p>
            <a:r>
              <a:rPr lang="zh-CN" altLang="en-US" sz="2400" dirty="0" smtClean="0"/>
              <a:t>       </a:t>
            </a:r>
            <a:endParaRPr lang="zh-CN" altLang="en-US" sz="2400" dirty="0"/>
          </a:p>
        </p:txBody>
      </p:sp>
      <p:sp>
        <p:nvSpPr>
          <p:cNvPr id="3" name="TextBox 3"/>
          <p:cNvSpPr txBox="1"/>
          <p:nvPr/>
        </p:nvSpPr>
        <p:spPr>
          <a:xfrm>
            <a:off x="769276" y="4999976"/>
            <a:ext cx="764386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/>
              <a:t>四、图像平移</a:t>
            </a:r>
            <a:endParaRPr lang="en-US" altLang="zh-CN" sz="2400" dirty="0" smtClean="0"/>
          </a:p>
          <a:p>
            <a:r>
              <a:rPr lang="zh-CN" altLang="en-US" sz="2400" dirty="0" smtClean="0"/>
              <a:t>       </a:t>
            </a:r>
            <a:endParaRPr lang="zh-CN" altLang="en-US" sz="2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5" grpId="0" animBg="1"/>
      <p:bldP spid="15" grpId="1" animBg="1"/>
      <p:bldP spid="3" grpId="0"/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开运算去噪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755015" y="1917065"/>
            <a:ext cx="8463915" cy="28333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 eaLnBrk="0" fontAlgn="base">
              <a:lnSpc>
                <a:spcPts val="615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clc;</a:t>
            </a:r>
            <a:endParaRPr lang="en-US" altLang="zh-CN" sz="1600" b="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pPr marL="0" indent="0" algn="l" defTabSz="266700" eaLnBrk="0" fontAlgn="base">
              <a:spcBef>
                <a:spcPts val="500"/>
              </a:spcBef>
              <a:spcAft>
                <a:spcPct val="0"/>
              </a:spcAft>
            </a:pPr>
            <a:r>
              <a:rPr lang="en-US" altLang="zh-CN" sz="19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clear  </a:t>
            </a:r>
            <a:r>
              <a:rPr lang="en-US" altLang="zh-CN" sz="1900" b="0">
                <a:solidFill>
                  <a:srgbClr val="8020D0"/>
                </a:solidFill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900" b="0">
                <a:solidFill>
                  <a:srgbClr val="9030C0"/>
                </a:solidFill>
                <a:latin typeface="Times New Roman" panose="02020603050405020304"/>
                <a:ea typeface="Times New Roman" panose="02020603050405020304"/>
              </a:rPr>
              <a:t>ll  </a:t>
            </a:r>
            <a:r>
              <a:rPr lang="en-US" altLang="zh-CN" sz="19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9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 eaLnBrk="0" fontAlgn="base">
              <a:spcBef>
                <a:spcPts val="200"/>
              </a:spcBef>
              <a:spcAft>
                <a:spcPct val="0"/>
              </a:spcAft>
            </a:pPr>
            <a:r>
              <a:rPr lang="en-US" altLang="zh-CN" sz="2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I1 =imread(</a:t>
            </a:r>
            <a:r>
              <a:rPr lang="en-US" altLang="zh-CN" sz="2200" b="0">
                <a:solidFill>
                  <a:srgbClr val="9030C0"/>
                </a:solidFill>
                <a:latin typeface="Times New Roman" panose="02020603050405020304"/>
                <a:ea typeface="Times New Roman" panose="02020603050405020304"/>
              </a:rPr>
              <a:t>‘cameraman.tif’      </a:t>
            </a:r>
            <a:r>
              <a:rPr lang="en-US" altLang="zh-CN" sz="22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lang="en-US" altLang="zh-CN" sz="22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 eaLnBrk="0" fontAlgn="base">
              <a:spcBef>
                <a:spcPts val="300"/>
              </a:spcBef>
              <a:spcAft>
                <a:spcPct val="0"/>
              </a:spcAft>
            </a:pPr>
            <a:r>
              <a:rPr lang="en-US" altLang="zh-CN" sz="2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I=imnoise(I1,</a:t>
            </a:r>
            <a:r>
              <a:rPr lang="en-US" altLang="zh-CN" sz="2200" b="0">
                <a:solidFill>
                  <a:srgbClr val="9030C0"/>
                </a:solidFill>
                <a:latin typeface="Times New Roman" panose="02020603050405020304"/>
                <a:ea typeface="Times New Roman" panose="02020603050405020304"/>
              </a:rPr>
              <a:t>‘gaussian’</a:t>
            </a:r>
            <a:r>
              <a:rPr lang="en-US" altLang="zh-CN" sz="22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,0.05);</a:t>
            </a:r>
            <a:endParaRPr lang="en-US" altLang="zh-CN" sz="22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 eaLnBrk="0" fontAlgn="base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zh-CN" sz="2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se  =strel(  </a:t>
            </a:r>
            <a:r>
              <a:rPr lang="en-US" altLang="zh-CN" sz="2200" b="0">
                <a:solidFill>
                  <a:srgbClr val="9030C0"/>
                </a:solidFill>
                <a:latin typeface="Times New Roman" panose="02020603050405020304"/>
                <a:ea typeface="Times New Roman" panose="02020603050405020304"/>
              </a:rPr>
              <a:t>'disk’ </a:t>
            </a:r>
            <a:r>
              <a:rPr lang="en-US" altLang="zh-CN" sz="2200" b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,1);  </a:t>
            </a:r>
            <a:r>
              <a:rPr lang="en-US" altLang="zh-CN" sz="2200" b="0">
                <a:solidFill>
                  <a:srgbClr val="40903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%</a:t>
            </a:r>
            <a:r>
              <a:rPr lang="zh-CN" altLang="en-US" sz="2200" b="0">
                <a:solidFill>
                  <a:srgbClr val="40903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一个平面结构化元素</a:t>
            </a:r>
            <a:r>
              <a:rPr lang="en-US" altLang="zh-CN" sz="2200" b="0">
                <a:solidFill>
                  <a:srgbClr val="40903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 </a:t>
            </a:r>
            <a:endParaRPr lang="en-US" altLang="zh-CN" sz="2200" b="0">
              <a:solidFill>
                <a:srgbClr val="40903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l" defTabSz="266700" eaLnBrk="0" fontAlgn="base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zh-CN" sz="2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J =imopen(I, se);    </a:t>
            </a:r>
            <a:r>
              <a:rPr lang="en-US" altLang="zh-CN" sz="2200" b="0">
                <a:solidFill>
                  <a:srgbClr val="40903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%</a:t>
            </a:r>
            <a:r>
              <a:rPr lang="zh-CN" altLang="en-US" sz="2200" b="0">
                <a:solidFill>
                  <a:srgbClr val="40903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实现开操作</a:t>
            </a:r>
            <a:endParaRPr lang="zh-CN" altLang="en-US" sz="2200" b="0">
              <a:solidFill>
                <a:srgbClr val="40903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algn="l" defTabSz="2667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subplot(1,2,1);imshow(I),title  ( </a:t>
            </a:r>
            <a:r>
              <a:rPr lang="zh-CN" altLang="en-US" sz="2200" b="0">
                <a:solidFill>
                  <a:srgbClr val="8020D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‘原图加噪’</a:t>
            </a:r>
            <a:r>
              <a:rPr lang="en-US" altLang="zh-CN" sz="2200" b="0">
                <a:solidFill>
                  <a:srgbClr val="8020D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200" b="0">
              <a:solidFill>
                <a:srgbClr val="8020D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 eaLnBrk="0" fontAlgn="base">
              <a:spcBef>
                <a:spcPts val="200"/>
              </a:spcBef>
              <a:spcAft>
                <a:spcPct val="0"/>
              </a:spcAft>
            </a:pPr>
            <a:r>
              <a:rPr lang="en-US" altLang="zh-CN" sz="22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subplot(1,2,2),imshow (J),title(   ' </a:t>
            </a:r>
            <a:r>
              <a:rPr lang="zh-CN" altLang="en-US" sz="2200" b="0">
                <a:solidFill>
                  <a:srgbClr val="8020D0"/>
                </a:solidFill>
                <a:latin typeface="+mn-ea"/>
                <a:ea typeface="+mn-ea"/>
              </a:rPr>
              <a:t>开操作后的图像</a:t>
            </a:r>
            <a:r>
              <a:rPr lang="zh-CN" altLang="en-US" sz="2200" b="0">
                <a:solidFill>
                  <a:srgbClr val="8020D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’</a:t>
            </a:r>
            <a:r>
              <a:rPr lang="en-US" altLang="zh-CN" sz="2200" b="0">
                <a:solidFill>
                  <a:srgbClr val="8020D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);</a:t>
            </a:r>
            <a:endParaRPr lang="en-US" altLang="zh-CN" sz="2200" b="0">
              <a:solidFill>
                <a:srgbClr val="8020D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620520"/>
            <a:ext cx="8462010" cy="39401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864840"/>
          </a:xfrm>
        </p:spPr>
        <p:txBody>
          <a:bodyPr/>
          <a:lstStyle/>
          <a:p>
            <a:r>
              <a:rPr lang="zh-CN" altLang="en-US" sz="3200" dirty="0" smtClean="0"/>
              <a:t>图像平移的</a:t>
            </a:r>
            <a:r>
              <a:rPr lang="en-US" altLang="zh-CN" sz="3200" dirty="0" err="1" smtClean="0"/>
              <a:t>matlab</a:t>
            </a:r>
            <a:r>
              <a:rPr lang="zh-CN" altLang="en-US" sz="3200" dirty="0" smtClean="0"/>
              <a:t>程序</a:t>
            </a:r>
            <a:endParaRPr lang="zh-CN" altLang="en-US" sz="32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135890" y="1082675"/>
            <a:ext cx="874839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clc;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clear all;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I=imread('cameraman.tif');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se1=strel(1);</a:t>
            </a:r>
            <a:endParaRPr lang="zh-CN" altLang="en-US" sz="200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se=translate(se1,[50,140]);</a:t>
            </a:r>
            <a:endParaRPr lang="zh-CN" altLang="en-US" sz="200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J=imdilate(I,se);</a:t>
            </a:r>
            <a:endParaRPr lang="zh-CN" altLang="en-US" sz="200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subplot(1,2,1),imshow(I),title('原图');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subplot(1,2,2),imshow(J),title('移动图');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J2=imdilate(I,se,'notpacked','full');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figure(2),subplot(1,2,1),imshow(I),title('原图');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subplot(1,2,2),imshow(J2),title('移动图');</a:t>
            </a:r>
            <a:endParaRPr lang="zh-CN" altLang="en-US" sz="200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20" y="1259205"/>
            <a:ext cx="4987925" cy="29679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555" y="3125470"/>
            <a:ext cx="4105275" cy="3362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" y="4364990"/>
            <a:ext cx="2362200" cy="19145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705802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1143000"/>
            <a:ext cx="610552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1357313"/>
            <a:ext cx="5495925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1223963"/>
            <a:ext cx="4562475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本章小结   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84070"/>
            <a:ext cx="8229600" cy="200660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数学形态学是图像处理和图像分析的有力工具。</a:t>
            </a:r>
            <a:endParaRPr lang="en-US" altLang="zh-CN" sz="28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/>
            <a:r>
              <a:rPr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理解形态学的</a:t>
            </a:r>
            <a:r>
              <a:rPr lang="zh-CN" altLang="en-US" sz="2800" dirty="0" smtClean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膨胀，腐蚀，开操作，闭操作</a:t>
            </a:r>
            <a:r>
              <a:rPr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8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/>
            <a:r>
              <a:rPr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了解形态学的基本形态学算法。</a:t>
            </a:r>
            <a:endParaRPr lang="zh-CN" altLang="en-US" sz="2800" dirty="0" smtClean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a1ce77a7-14c8-48d4-81cd-08649ac97c89"/>
  <p:tag name="COMMONDATA" val="eyJoZGlkIjoiYjE2OWNjNmZkZDkyNDkxZDU2ZGExZWQ0NTM5ODE3ZjUifQ=="/>
</p:tagLst>
</file>

<file path=ppt/theme/theme1.xml><?xml version="1.0" encoding="utf-8"?>
<a:theme xmlns:a="http://schemas.openxmlformats.org/drawingml/2006/main" name="加工">
  <a:themeElements>
    <a:clrScheme name="加工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加工">
      <a:majorFont>
        <a:latin typeface="Arial"/>
        <a:ea typeface="华文行楷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加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Settings\lenovo\Application Data\Microsoft\Templates\加工.pot</Template>
  <TotalTime>0</TotalTime>
  <Words>2673</Words>
  <Application>WPS 演示</Application>
  <PresentationFormat>全屏显示(4:3)</PresentationFormat>
  <Paragraphs>200</Paragraphs>
  <Slides>36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36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楷体_GB2312</vt:lpstr>
      <vt:lpstr>新宋体</vt:lpstr>
      <vt:lpstr>华文行楷</vt:lpstr>
      <vt:lpstr>微软雅黑</vt:lpstr>
      <vt:lpstr>黑体</vt:lpstr>
      <vt:lpstr>Arial Unicode MS</vt:lpstr>
      <vt:lpstr>方正楷体_GB2312</vt:lpstr>
      <vt:lpstr>Arial</vt:lpstr>
      <vt:lpstr>Times New Roman</vt:lpstr>
      <vt:lpstr>华文行楷</vt:lpstr>
      <vt:lpstr>加工</vt:lpstr>
      <vt:lpstr>Equation.KSEE3</vt:lpstr>
      <vt:lpstr>Equation.KSEE3</vt:lpstr>
      <vt:lpstr>Equation.KSEE3</vt:lpstr>
      <vt:lpstr>Paint.Picture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Paint.Picture</vt:lpstr>
      <vt:lpstr>Equation.KSEE3</vt:lpstr>
      <vt:lpstr>   第8章  数学形态学及其应用</vt:lpstr>
      <vt:lpstr>8.1  概述</vt:lpstr>
      <vt:lpstr>8.1  概述</vt:lpstr>
      <vt:lpstr>数学形态学的基于集合的观点</vt:lpstr>
      <vt:lpstr>图8.1  数学形态学的方法</vt:lpstr>
      <vt:lpstr>8.1.1 几个基本概念</vt:lpstr>
      <vt:lpstr>PowerPoint 演示文稿</vt:lpstr>
      <vt:lpstr>PowerPoint 演示文稿</vt:lpstr>
      <vt:lpstr>图像的平移与反射</vt:lpstr>
      <vt:lpstr>  8.2  二值形态学</vt:lpstr>
      <vt:lpstr>结构元素</vt:lpstr>
      <vt:lpstr>8.2.1 二值膨胀</vt:lpstr>
      <vt:lpstr>PowerPoint 演示文稿</vt:lpstr>
      <vt:lpstr>      腐蚀和膨胀操作的直观解释 </vt:lpstr>
      <vt:lpstr>PowerPoint 演示文稿</vt:lpstr>
      <vt:lpstr>8.2.3  二值开运算</vt:lpstr>
      <vt:lpstr>PowerPoint 演示文稿</vt:lpstr>
      <vt:lpstr>PowerPoint 演示文稿</vt:lpstr>
      <vt:lpstr>PowerPoint 演示文稿</vt:lpstr>
      <vt:lpstr>利用圆盘作开运算</vt:lpstr>
      <vt:lpstr>PowerPoint 演示文稿</vt:lpstr>
      <vt:lpstr>  利用圆盘作闭运算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图像平移的matlab程序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   </vt:lpstr>
    </vt:vector>
  </TitlesOfParts>
  <Company>Legend (Beijing)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模拟音视频信号记录 </dc:title>
  <dc:creator>Legend User</dc:creator>
  <cp:lastModifiedBy>小mark</cp:lastModifiedBy>
  <cp:revision>257</cp:revision>
  <dcterms:created xsi:type="dcterms:W3CDTF">2005-05-26T06:19:00Z</dcterms:created>
  <dcterms:modified xsi:type="dcterms:W3CDTF">2026-05-26T03:29:40Z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00DF694D90F643569C238B80C56EBEDD_12</vt:lpwstr>
  </property>
</Properties>
</file>