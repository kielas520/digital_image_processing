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  <p:sldMasterId id="2147483678" r:id="rId4"/>
  </p:sldMasterIdLst>
  <p:notesMasterIdLst>
    <p:notesMasterId r:id="rId6"/>
  </p:notesMasterIdLst>
  <p:handoutMasterIdLst>
    <p:handoutMasterId r:id="rId110"/>
  </p:handoutMasterIdLst>
  <p:sldIdLst>
    <p:sldId id="479" r:id="rId5"/>
    <p:sldId id="1108" r:id="rId7"/>
    <p:sldId id="1109" r:id="rId8"/>
    <p:sldId id="480" r:id="rId9"/>
    <p:sldId id="328" r:id="rId10"/>
    <p:sldId id="1720" r:id="rId11"/>
    <p:sldId id="330" r:id="rId12"/>
    <p:sldId id="335" r:id="rId13"/>
    <p:sldId id="339" r:id="rId14"/>
    <p:sldId id="624" r:id="rId15"/>
    <p:sldId id="625" r:id="rId16"/>
    <p:sldId id="790" r:id="rId17"/>
    <p:sldId id="1630" r:id="rId18"/>
    <p:sldId id="570" r:id="rId19"/>
    <p:sldId id="791" r:id="rId20"/>
    <p:sldId id="571" r:id="rId21"/>
    <p:sldId id="626" r:id="rId22"/>
    <p:sldId id="352" r:id="rId23"/>
    <p:sldId id="355" r:id="rId24"/>
    <p:sldId id="1471" r:id="rId25"/>
    <p:sldId id="948" r:id="rId26"/>
    <p:sldId id="1263" r:id="rId27"/>
    <p:sldId id="390" r:id="rId28"/>
    <p:sldId id="1473" r:id="rId29"/>
    <p:sldId id="393" r:id="rId30"/>
    <p:sldId id="469" r:id="rId31"/>
    <p:sldId id="484" r:id="rId32"/>
    <p:sldId id="800" r:id="rId33"/>
    <p:sldId id="686" r:id="rId34"/>
    <p:sldId id="687" r:id="rId35"/>
    <p:sldId id="1557" r:id="rId36"/>
    <p:sldId id="688" r:id="rId37"/>
    <p:sldId id="1558" r:id="rId38"/>
    <p:sldId id="735" r:id="rId39"/>
    <p:sldId id="736" r:id="rId40"/>
    <p:sldId id="737" r:id="rId41"/>
    <p:sldId id="899" r:id="rId42"/>
    <p:sldId id="1051" r:id="rId43"/>
    <p:sldId id="1721" r:id="rId44"/>
    <p:sldId id="1052" r:id="rId45"/>
    <p:sldId id="1110" r:id="rId46"/>
    <p:sldId id="949" r:id="rId47"/>
    <p:sldId id="801" r:id="rId48"/>
    <p:sldId id="1206" r:id="rId49"/>
    <p:sldId id="802" r:id="rId50"/>
    <p:sldId id="1405" r:id="rId51"/>
    <p:sldId id="1406" r:id="rId52"/>
    <p:sldId id="1413" r:id="rId53"/>
    <p:sldId id="1415" r:id="rId54"/>
    <p:sldId id="399" r:id="rId55"/>
    <p:sldId id="400" r:id="rId56"/>
    <p:sldId id="402" r:id="rId57"/>
    <p:sldId id="1353" r:id="rId58"/>
    <p:sldId id="1210" r:id="rId59"/>
    <p:sldId id="1207" r:id="rId60"/>
    <p:sldId id="1208" r:id="rId61"/>
    <p:sldId id="1818" r:id="rId62"/>
    <p:sldId id="1209" r:id="rId63"/>
    <p:sldId id="900" r:id="rId64"/>
    <p:sldId id="1020" r:id="rId65"/>
    <p:sldId id="357" r:id="rId66"/>
    <p:sldId id="360" r:id="rId67"/>
    <p:sldId id="361" r:id="rId68"/>
    <p:sldId id="363" r:id="rId69"/>
    <p:sldId id="364" r:id="rId70"/>
    <p:sldId id="365" r:id="rId71"/>
    <p:sldId id="367" r:id="rId72"/>
    <p:sldId id="1342" r:id="rId73"/>
    <p:sldId id="1012" r:id="rId74"/>
    <p:sldId id="370" r:id="rId75"/>
    <p:sldId id="1343" r:id="rId76"/>
    <p:sldId id="374" r:id="rId77"/>
    <p:sldId id="795" r:id="rId78"/>
    <p:sldId id="796" r:id="rId79"/>
    <p:sldId id="784" r:id="rId80"/>
    <p:sldId id="785" r:id="rId81"/>
    <p:sldId id="797" r:id="rId82"/>
    <p:sldId id="1346" r:id="rId83"/>
    <p:sldId id="798" r:id="rId84"/>
    <p:sldId id="799" r:id="rId85"/>
    <p:sldId id="1347" r:id="rId86"/>
    <p:sldId id="1348" r:id="rId87"/>
    <p:sldId id="1349" r:id="rId88"/>
    <p:sldId id="878" r:id="rId89"/>
    <p:sldId id="1017" r:id="rId90"/>
    <p:sldId id="1014" r:id="rId91"/>
    <p:sldId id="1015" r:id="rId92"/>
    <p:sldId id="492" r:id="rId93"/>
    <p:sldId id="493" r:id="rId94"/>
    <p:sldId id="946" r:id="rId95"/>
    <p:sldId id="1018" r:id="rId96"/>
    <p:sldId id="947" r:id="rId97"/>
    <p:sldId id="405" r:id="rId98"/>
    <p:sldId id="408" r:id="rId99"/>
    <p:sldId id="409" r:id="rId100"/>
    <p:sldId id="410" r:id="rId101"/>
    <p:sldId id="411" r:id="rId102"/>
    <p:sldId id="939" r:id="rId103"/>
    <p:sldId id="415" r:id="rId104"/>
    <p:sldId id="940" r:id="rId105"/>
    <p:sldId id="941" r:id="rId106"/>
    <p:sldId id="942" r:id="rId107"/>
    <p:sldId id="943" r:id="rId108"/>
    <p:sldId id="463" r:id="rId109"/>
  </p:sldIdLst>
  <p:sldSz cx="9144000" cy="6858000" type="screen4x3"/>
  <p:notesSz cx="6858000" cy="9144000"/>
  <p:custDataLst>
    <p:tags r:id="rId11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华文行楷" panose="0201080004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华文行楷" panose="0201080004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华文行楷" panose="0201080004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华文行楷" panose="0201080004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华文行楷" panose="0201080004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华文行楷" panose="0201080004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华文行楷" panose="0201080004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华文行楷" panose="0201080004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华文行楷" panose="0201080004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26C8F7F-75BD-4C4E-95BA-D16456B61B16}">
          <p14:sldIdLst>
            <p14:sldId id="479"/>
            <p14:sldId id="1108"/>
            <p14:sldId id="1109"/>
            <p14:sldId id="480"/>
            <p14:sldId id="328"/>
            <p14:sldId id="1720"/>
            <p14:sldId id="330"/>
            <p14:sldId id="335"/>
            <p14:sldId id="339"/>
            <p14:sldId id="624"/>
            <p14:sldId id="625"/>
            <p14:sldId id="790"/>
            <p14:sldId id="1630"/>
            <p14:sldId id="570"/>
            <p14:sldId id="791"/>
            <p14:sldId id="571"/>
            <p14:sldId id="626"/>
            <p14:sldId id="352"/>
          </p14:sldIdLst>
        </p14:section>
        <p14:section name="无标题节" id="{7A8A30CB-F463-44FD-A55F-A4ADAE21FDD5}">
          <p14:sldIdLst>
            <p14:sldId id="355"/>
            <p14:sldId id="1471"/>
            <p14:sldId id="948"/>
            <p14:sldId id="1263"/>
            <p14:sldId id="390"/>
            <p14:sldId id="1473"/>
            <p14:sldId id="393"/>
            <p14:sldId id="469"/>
            <p14:sldId id="484"/>
            <p14:sldId id="800"/>
            <p14:sldId id="686"/>
            <p14:sldId id="687"/>
            <p14:sldId id="1557"/>
            <p14:sldId id="688"/>
            <p14:sldId id="1558"/>
            <p14:sldId id="735"/>
            <p14:sldId id="736"/>
            <p14:sldId id="737"/>
            <p14:sldId id="899"/>
            <p14:sldId id="1051"/>
            <p14:sldId id="1721"/>
            <p14:sldId id="1052"/>
            <p14:sldId id="1110"/>
            <p14:sldId id="949"/>
            <p14:sldId id="801"/>
            <p14:sldId id="1206"/>
            <p14:sldId id="802"/>
            <p14:sldId id="1405"/>
            <p14:sldId id="1406"/>
            <p14:sldId id="1413"/>
            <p14:sldId id="1415"/>
            <p14:sldId id="399"/>
            <p14:sldId id="400"/>
            <p14:sldId id="402"/>
            <p14:sldId id="1353"/>
            <p14:sldId id="1210"/>
            <p14:sldId id="1207"/>
            <p14:sldId id="1208"/>
            <p14:sldId id="1818"/>
            <p14:sldId id="1209"/>
            <p14:sldId id="900"/>
            <p14:sldId id="1020"/>
            <p14:sldId id="357"/>
            <p14:sldId id="360"/>
            <p14:sldId id="361"/>
            <p14:sldId id="363"/>
            <p14:sldId id="364"/>
            <p14:sldId id="365"/>
            <p14:sldId id="367"/>
            <p14:sldId id="1342"/>
            <p14:sldId id="1012"/>
            <p14:sldId id="370"/>
            <p14:sldId id="1343"/>
            <p14:sldId id="374"/>
            <p14:sldId id="795"/>
            <p14:sldId id="796"/>
            <p14:sldId id="784"/>
            <p14:sldId id="785"/>
            <p14:sldId id="797"/>
            <p14:sldId id="1346"/>
            <p14:sldId id="798"/>
            <p14:sldId id="799"/>
            <p14:sldId id="1347"/>
            <p14:sldId id="1348"/>
            <p14:sldId id="1349"/>
            <p14:sldId id="878"/>
            <p14:sldId id="1017"/>
            <p14:sldId id="1014"/>
            <p14:sldId id="1015"/>
            <p14:sldId id="492"/>
            <p14:sldId id="493"/>
            <p14:sldId id="946"/>
            <p14:sldId id="1018"/>
            <p14:sldId id="947"/>
            <p14:sldId id="405"/>
            <p14:sldId id="408"/>
            <p14:sldId id="409"/>
            <p14:sldId id="410"/>
            <p14:sldId id="411"/>
            <p14:sldId id="939"/>
            <p14:sldId id="415"/>
            <p14:sldId id="940"/>
            <p14:sldId id="941"/>
            <p14:sldId id="942"/>
            <p14:sldId id="943"/>
            <p14:sldId id="4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90" userDrawn="1">
          <p15:clr>
            <a:srgbClr val="A4A3A4"/>
          </p15:clr>
        </p15:guide>
        <p15:guide id="2" pos="2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DBDB"/>
    <a:srgbClr val="FF33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46"/>
  </p:normalViewPr>
  <p:slideViewPr>
    <p:cSldViewPr showGuides="1">
      <p:cViewPr varScale="1">
        <p:scale>
          <a:sx n="108" d="100"/>
          <a:sy n="108" d="100"/>
        </p:scale>
        <p:origin x="-1680" y="-90"/>
      </p:cViewPr>
      <p:guideLst>
        <p:guide orient="horz" pos="2290"/>
        <p:guide pos="28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" Type="http://schemas.openxmlformats.org/officeDocument/2006/relationships/slide" Target="slides/slide4.xml"/><Relationship Id="rId89" Type="http://schemas.openxmlformats.org/officeDocument/2006/relationships/slide" Target="slides/slide84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80" Type="http://schemas.openxmlformats.org/officeDocument/2006/relationships/slide" Target="slides/slide75.xml"/><Relationship Id="rId8" Type="http://schemas.openxmlformats.org/officeDocument/2006/relationships/slide" Target="slides/slide3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7" Type="http://schemas.openxmlformats.org/officeDocument/2006/relationships/slide" Target="slides/slide2.xml"/><Relationship Id="rId69" Type="http://schemas.openxmlformats.org/officeDocument/2006/relationships/slide" Target="slides/slide64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4" Type="http://schemas.openxmlformats.org/officeDocument/2006/relationships/tags" Target="tags/tag24.xml"/><Relationship Id="rId113" Type="http://schemas.openxmlformats.org/officeDocument/2006/relationships/tableStyles" Target="tableStyles.xml"/><Relationship Id="rId112" Type="http://schemas.openxmlformats.org/officeDocument/2006/relationships/viewProps" Target="viewProps.xml"/><Relationship Id="rId111" Type="http://schemas.openxmlformats.org/officeDocument/2006/relationships/presProps" Target="presProps.xml"/><Relationship Id="rId110" Type="http://schemas.openxmlformats.org/officeDocument/2006/relationships/handoutMaster" Target="handoutMasters/handoutMaster1.xml"/><Relationship Id="rId11" Type="http://schemas.openxmlformats.org/officeDocument/2006/relationships/slide" Target="slides/slide6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png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png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png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png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buFontTx/>
              <a:buNone/>
              <a:defRPr sz="1200">
                <a:ea typeface="华文行楷" panose="0201080004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buFontTx/>
              <a:buNone/>
              <a:defRPr sz="1200">
                <a:ea typeface="华文行楷" panose="02010800040101010101" pitchFamily="2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buFontTx/>
              <a:buNone/>
              <a:defRPr sz="1200">
                <a:ea typeface="华文行楷" panose="0201080004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noProof="1" dirty="0">
                <a:ea typeface="华文行楷" panose="0201080004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65C7AF2-D57B-45D4-B84E-533A5A78FD4C}" type="slidenum">
              <a:rPr kumimoji="0" lang="zh-CN" altLang="en-US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行楷" panose="0201080004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3314" name="文本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数据压缩处理由编码和解码两个过程组成。编码对原始信源数据进行压缩；解码是编码的反过程，将不能被用户（信宿）直接使用的数据还原成可用数据。信源编码主要解决压缩的有效性问题，信道编码是要解决编码的可靠性问题。从原理上看，压缩主要靠信源编码。</a:t>
            </a:r>
            <a:endParaRPr lang="zh-CN" altLang="en-US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比如说，我们在信息论中学到，在信道编码时，对信号加一些校验码，如果信号传输过程发生异变，信道编码能够检测出来，或者直接将发生异变的信号纠正过来。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21506" name="文本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lstStyle/>
          <a:p>
            <a:pPr lvl="0"/>
            <a:r>
              <a:rPr lang="zh-CN" altLang="en-US"/>
              <a:t>让写生先思考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12</a:t>
            </a:r>
            <a:r>
              <a:rPr lang="zh-CN" altLang="en-US"/>
              <a:t>周周一</a:t>
            </a:r>
            <a:r>
              <a:rPr lang="en-US" altLang="zh-CN"/>
              <a:t>3 4</a:t>
            </a:r>
            <a:r>
              <a:rPr lang="zh-CN" altLang="en-US"/>
              <a:t>班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28674" name="文本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6866" name="文本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统计编码主要包括：霍夫曼编码和算术编码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38914" name="文本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幻灯片图像占位符 1"/>
          <p:cNvSpPr>
            <a:spLocks noGrp="1" noRot="1" noChangeAspec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40962" name="文本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11</a:t>
            </a:r>
            <a:r>
              <a:rPr lang="zh-CN" altLang="en-US" dirty="0" smtClean="0"/>
              <a:t>周周四 </a:t>
            </a:r>
            <a:r>
              <a:rPr lang="en-US" altLang="zh-CN" dirty="0" smtClean="0"/>
              <a:t>5 6</a:t>
            </a:r>
            <a:r>
              <a:rPr lang="zh-CN" altLang="en-US" dirty="0" smtClean="0"/>
              <a:t>班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69634" name="文本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71682" name="文本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r>
              <a:rPr lang="en-US" altLang="zh-CN" dirty="0"/>
              <a:t> 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xn 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是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tn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时刻的信号值，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xn' 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是预测器根据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x1,x2,...,xn-1 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的值预测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tn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时刻的信号值。误差值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=xn-xn'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，对误差值量化后进行编码。经译码后，接收端恢复的信号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xn''=xn'+en'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。 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xn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与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xn'' 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的误差为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en-en'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。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 </a:t>
            </a:r>
            <a:endParaRPr lang="en-US" altLang="zh-CN" dirty="0"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/>
          </a:p>
          <a:p>
            <a:pPr lvl="0" eaLnBrk="1" hangingPunct="1">
              <a:spcBef>
                <a:spcPct val="0"/>
              </a:spcBef>
            </a:pPr>
            <a:r>
              <a:rPr lang="en-US" altLang="zh-CN" dirty="0"/>
              <a:t>xn'' </a:t>
            </a:r>
            <a:r>
              <a:rPr lang="zh-CN" altLang="en-US" dirty="0"/>
              <a:t>包含了量化误差值，有损预测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8066" name="文本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21" descr="图片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88125" y="6254750"/>
            <a:ext cx="2376488" cy="603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99" name="Picture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2273300" cy="749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3" name="标题 5122"/>
          <p:cNvSpPr>
            <a:spLocks noGrp="1"/>
          </p:cNvSpPr>
          <p:nvPr>
            <p:ph type="ctrTitle"/>
          </p:nvPr>
        </p:nvSpPr>
        <p:spPr>
          <a:xfrm>
            <a:off x="0" y="1341438"/>
            <a:ext cx="7772400" cy="14700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lvl="0">
              <a:defRPr>
                <a:solidFill>
                  <a:srgbClr val="FF6600"/>
                </a:solidFill>
              </a:defRPr>
            </a:lvl1pPr>
          </a:lstStyle>
          <a:p>
            <a:pPr lvl="0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5124" name="副标题 5123"/>
          <p:cNvSpPr>
            <a:spLocks noGrp="1"/>
          </p:cNvSpPr>
          <p:nvPr>
            <p:ph type="subTitle" idx="1"/>
          </p:nvPr>
        </p:nvSpPr>
        <p:spPr>
          <a:xfrm>
            <a:off x="1258888" y="3429000"/>
            <a:ext cx="6400800" cy="1752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>
              <a:buNone/>
              <a:defRPr>
                <a:solidFill>
                  <a:srgbClr val="FF6600"/>
                </a:solidFill>
                <a:ea typeface="华文楷体" panose="02010600040101010101" pitchFamily="2" charset="-122"/>
              </a:defRPr>
            </a:lvl1pPr>
            <a:lvl2pPr marL="457200" lvl="1" indent="0" algn="ctr">
              <a:buNone/>
              <a:defRPr>
                <a:solidFill>
                  <a:srgbClr val="FF6600"/>
                </a:solidFill>
                <a:ea typeface="华文楷体" panose="02010600040101010101" pitchFamily="2" charset="-122"/>
              </a:defRPr>
            </a:lvl2pPr>
            <a:lvl3pPr marL="914400" lvl="2" indent="0" algn="ctr">
              <a:buNone/>
              <a:defRPr>
                <a:solidFill>
                  <a:srgbClr val="FF6600"/>
                </a:solidFill>
                <a:ea typeface="华文楷体" panose="02010600040101010101" pitchFamily="2" charset="-122"/>
              </a:defRPr>
            </a:lvl3pPr>
            <a:lvl4pPr marL="1371600" lvl="3" indent="0" algn="ctr">
              <a:buNone/>
              <a:defRPr>
                <a:solidFill>
                  <a:srgbClr val="FF6600"/>
                </a:solidFill>
                <a:ea typeface="华文楷体" panose="02010600040101010101" pitchFamily="2" charset="-122"/>
              </a:defRPr>
            </a:lvl4pPr>
            <a:lvl5pPr marL="1828800" lvl="4" indent="0" algn="ctr">
              <a:buNone/>
              <a:defRPr>
                <a:solidFill>
                  <a:srgbClr val="FF6600"/>
                </a:solidFill>
                <a:ea typeface="华文楷体" panose="02010600040101010101" pitchFamily="2" charset="-122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med"/>
  <p:hf sldNum="0"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1188" y="1125538"/>
            <a:ext cx="4032504" cy="452596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08284" y="1125538"/>
            <a:ext cx="4032504" cy="452596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9413" y="115888"/>
            <a:ext cx="2111375" cy="5535612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115888"/>
            <a:ext cx="6211726" cy="553561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图片 21" descr="图片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88125" y="6254750"/>
            <a:ext cx="2376488" cy="603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2273300" cy="749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3" name="标题 5122"/>
          <p:cNvSpPr>
            <a:spLocks noGrp="1"/>
          </p:cNvSpPr>
          <p:nvPr>
            <p:ph type="ctrTitle"/>
          </p:nvPr>
        </p:nvSpPr>
        <p:spPr>
          <a:xfrm>
            <a:off x="0" y="1341438"/>
            <a:ext cx="7772400" cy="14700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lvl="0">
              <a:defRPr>
                <a:solidFill>
                  <a:srgbClr val="FF6600"/>
                </a:solidFill>
              </a:defRPr>
            </a:lvl1pPr>
          </a:lstStyle>
          <a:p>
            <a:pPr lvl="0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5124" name="副标题 5123"/>
          <p:cNvSpPr>
            <a:spLocks noGrp="1"/>
          </p:cNvSpPr>
          <p:nvPr>
            <p:ph type="subTitle" idx="1"/>
          </p:nvPr>
        </p:nvSpPr>
        <p:spPr>
          <a:xfrm>
            <a:off x="1258888" y="3429000"/>
            <a:ext cx="6400800" cy="1752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>
              <a:buNone/>
              <a:defRPr>
                <a:solidFill>
                  <a:srgbClr val="FF6600"/>
                </a:solidFill>
                <a:ea typeface="华文楷体" panose="02010600040101010101" pitchFamily="2" charset="-122"/>
              </a:defRPr>
            </a:lvl1pPr>
            <a:lvl2pPr marL="457200" lvl="1" indent="0" algn="ctr">
              <a:buNone/>
              <a:defRPr>
                <a:solidFill>
                  <a:srgbClr val="FF6600"/>
                </a:solidFill>
                <a:ea typeface="华文楷体" panose="02010600040101010101" pitchFamily="2" charset="-122"/>
              </a:defRPr>
            </a:lvl2pPr>
            <a:lvl3pPr marL="914400" lvl="2" indent="0" algn="ctr">
              <a:buNone/>
              <a:defRPr>
                <a:solidFill>
                  <a:srgbClr val="FF6600"/>
                </a:solidFill>
                <a:ea typeface="华文楷体" panose="02010600040101010101" pitchFamily="2" charset="-122"/>
              </a:defRPr>
            </a:lvl3pPr>
            <a:lvl4pPr marL="1371600" lvl="3" indent="0" algn="ctr">
              <a:buNone/>
              <a:defRPr>
                <a:solidFill>
                  <a:srgbClr val="FF6600"/>
                </a:solidFill>
                <a:ea typeface="华文楷体" panose="02010600040101010101" pitchFamily="2" charset="-122"/>
              </a:defRPr>
            </a:lvl4pPr>
            <a:lvl5pPr marL="1828800" lvl="4" indent="0" algn="ctr">
              <a:buNone/>
              <a:defRPr>
                <a:solidFill>
                  <a:srgbClr val="FF6600"/>
                </a:solidFill>
                <a:ea typeface="华文楷体" panose="02010600040101010101" pitchFamily="2" charset="-122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med"/>
  <p:hf sldNum="0"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1188" y="1125538"/>
            <a:ext cx="4032504" cy="452596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08284" y="1125538"/>
            <a:ext cx="4032504" cy="452596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9413" y="115888"/>
            <a:ext cx="2111375" cy="5535612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115888"/>
            <a:ext cx="6211726" cy="553561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21" descr="图片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88125" y="6254750"/>
            <a:ext cx="2376488" cy="603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7" name="Picture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2273300" cy="749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3" name="标题 5122"/>
          <p:cNvSpPr>
            <a:spLocks noGrp="1"/>
          </p:cNvSpPr>
          <p:nvPr>
            <p:ph type="ctrTitle"/>
          </p:nvPr>
        </p:nvSpPr>
        <p:spPr>
          <a:xfrm>
            <a:off x="0" y="1341438"/>
            <a:ext cx="7772400" cy="14700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lvl="0">
              <a:defRPr>
                <a:solidFill>
                  <a:srgbClr val="FF6600"/>
                </a:solidFill>
              </a:defRPr>
            </a:lvl1pPr>
          </a:lstStyle>
          <a:p>
            <a:pPr lvl="0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5124" name="副标题 5123"/>
          <p:cNvSpPr>
            <a:spLocks noGrp="1"/>
          </p:cNvSpPr>
          <p:nvPr>
            <p:ph type="subTitle" idx="1"/>
          </p:nvPr>
        </p:nvSpPr>
        <p:spPr>
          <a:xfrm>
            <a:off x="1258888" y="3429000"/>
            <a:ext cx="6400800" cy="1752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>
              <a:buNone/>
              <a:defRPr>
                <a:solidFill>
                  <a:srgbClr val="FF6600"/>
                </a:solidFill>
                <a:ea typeface="华文楷体" panose="02010600040101010101" pitchFamily="2" charset="-122"/>
              </a:defRPr>
            </a:lvl1pPr>
            <a:lvl2pPr marL="457200" lvl="1" indent="0" algn="ctr">
              <a:buNone/>
              <a:defRPr>
                <a:solidFill>
                  <a:srgbClr val="FF6600"/>
                </a:solidFill>
                <a:ea typeface="华文楷体" panose="02010600040101010101" pitchFamily="2" charset="-122"/>
              </a:defRPr>
            </a:lvl2pPr>
            <a:lvl3pPr marL="914400" lvl="2" indent="0" algn="ctr">
              <a:buNone/>
              <a:defRPr>
                <a:solidFill>
                  <a:srgbClr val="FF6600"/>
                </a:solidFill>
                <a:ea typeface="华文楷体" panose="02010600040101010101" pitchFamily="2" charset="-122"/>
              </a:defRPr>
            </a:lvl3pPr>
            <a:lvl4pPr marL="1371600" lvl="3" indent="0" algn="ctr">
              <a:buNone/>
              <a:defRPr>
                <a:solidFill>
                  <a:srgbClr val="FF6600"/>
                </a:solidFill>
                <a:ea typeface="华文楷体" panose="02010600040101010101" pitchFamily="2" charset="-122"/>
              </a:defRPr>
            </a:lvl4pPr>
            <a:lvl5pPr marL="1828800" lvl="4" indent="0" algn="ctr">
              <a:buNone/>
              <a:defRPr>
                <a:solidFill>
                  <a:srgbClr val="FF6600"/>
                </a:solidFill>
                <a:ea typeface="华文楷体" panose="02010600040101010101" pitchFamily="2" charset="-122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med"/>
  <p:hf sldNum="0"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1188" y="1125538"/>
            <a:ext cx="4032504" cy="452596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08284" y="1125538"/>
            <a:ext cx="4032504" cy="452596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9413" y="115888"/>
            <a:ext cx="2111375" cy="5535612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115888"/>
            <a:ext cx="6211726" cy="553561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png"/><Relationship Id="rId15" Type="http://schemas.openxmlformats.org/officeDocument/2006/relationships/image" Target="../media/image3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7" Type="http://schemas.openxmlformats.org/officeDocument/2006/relationships/theme" Target="../theme/theme2.xml"/><Relationship Id="rId16" Type="http://schemas.openxmlformats.org/officeDocument/2006/relationships/image" Target="../media/image1.png"/><Relationship Id="rId15" Type="http://schemas.openxmlformats.org/officeDocument/2006/relationships/image" Target="../media/image3.png"/><Relationship Id="rId14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7" Type="http://schemas.openxmlformats.org/officeDocument/2006/relationships/theme" Target="../theme/theme3.xml"/><Relationship Id="rId16" Type="http://schemas.openxmlformats.org/officeDocument/2006/relationships/image" Target="../media/image1.png"/><Relationship Id="rId15" Type="http://schemas.openxmlformats.org/officeDocument/2006/relationships/image" Target="../media/image3.png"/><Relationship Id="rId14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4097" descr="2x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333375"/>
            <a:ext cx="9144000" cy="1246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标题 4098"/>
          <p:cNvSpPr>
            <a:spLocks noGrp="1"/>
          </p:cNvSpPr>
          <p:nvPr>
            <p:ph type="title"/>
          </p:nvPr>
        </p:nvSpPr>
        <p:spPr>
          <a:xfrm>
            <a:off x="395288" y="11588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文本占位符 4099"/>
          <p:cNvSpPr>
            <a:spLocks noGrp="1"/>
          </p:cNvSpPr>
          <p:nvPr>
            <p:ph type="body"/>
          </p:nvPr>
        </p:nvSpPr>
        <p:spPr>
          <a:xfrm>
            <a:off x="611188" y="1125538"/>
            <a:ext cx="8229600" cy="4525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grpSp>
        <p:nvGrpSpPr>
          <p:cNvPr id="1029" name="组合 4100"/>
          <p:cNvGrpSpPr/>
          <p:nvPr/>
        </p:nvGrpSpPr>
        <p:grpSpPr>
          <a:xfrm>
            <a:off x="323850" y="5734050"/>
            <a:ext cx="909638" cy="969963"/>
            <a:chOff x="204" y="3612"/>
            <a:chExt cx="573" cy="611"/>
          </a:xfrm>
        </p:grpSpPr>
        <p:sp>
          <p:nvSpPr>
            <p:cNvPr id="1030" name="矩形 4101"/>
            <p:cNvSpPr/>
            <p:nvPr userDrawn="1"/>
          </p:nvSpPr>
          <p:spPr>
            <a:xfrm rot="10800000">
              <a:off x="249" y="4020"/>
              <a:ext cx="164" cy="203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rot="10800000" anchor="t" anchorCtr="0"/>
            <a:lstStyle/>
            <a:p>
              <a:pPr lvl="0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1" name="矩形 4102"/>
            <p:cNvSpPr/>
            <p:nvPr userDrawn="1"/>
          </p:nvSpPr>
          <p:spPr>
            <a:xfrm rot="10800000">
              <a:off x="204" y="3838"/>
              <a:ext cx="167" cy="203"/>
            </a:xfrm>
            <a:prstGeom prst="rect">
              <a:avLst/>
            </a:prstGeom>
            <a:solidFill>
              <a:srgbClr val="33CCCC"/>
            </a:solidFill>
            <a:ln w="9525">
              <a:noFill/>
            </a:ln>
          </p:spPr>
          <p:txBody>
            <a:bodyPr rot="10800000" anchor="t" anchorCtr="0"/>
            <a:lstStyle/>
            <a:p>
              <a:pPr lvl="0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2" name="矩形 4103"/>
            <p:cNvSpPr/>
            <p:nvPr userDrawn="1"/>
          </p:nvSpPr>
          <p:spPr>
            <a:xfrm rot="10800000">
              <a:off x="385" y="3838"/>
              <a:ext cx="167" cy="203"/>
            </a:xfrm>
            <a:prstGeom prst="rect">
              <a:avLst/>
            </a:prstGeom>
            <a:solidFill>
              <a:srgbClr val="0066FF"/>
            </a:solidFill>
            <a:ln w="9525">
              <a:noFill/>
            </a:ln>
          </p:spPr>
          <p:txBody>
            <a:bodyPr rot="10800000" anchor="t" anchorCtr="0"/>
            <a:lstStyle/>
            <a:p>
              <a:pPr lvl="0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3" name="矩形 4104"/>
            <p:cNvSpPr/>
            <p:nvPr userDrawn="1"/>
          </p:nvSpPr>
          <p:spPr>
            <a:xfrm rot="10800000">
              <a:off x="476" y="3884"/>
              <a:ext cx="167" cy="201"/>
            </a:xfrm>
            <a:prstGeom prst="rect">
              <a:avLst/>
            </a:prstGeom>
            <a:solidFill>
              <a:srgbClr val="CCFFFF"/>
            </a:solidFill>
            <a:ln w="9525">
              <a:noFill/>
            </a:ln>
          </p:spPr>
          <p:txBody>
            <a:bodyPr rot="10800000" anchor="t" anchorCtr="0"/>
            <a:lstStyle/>
            <a:p>
              <a:pPr lvl="0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" name="矩形 4105"/>
            <p:cNvSpPr/>
            <p:nvPr userDrawn="1"/>
          </p:nvSpPr>
          <p:spPr>
            <a:xfrm rot="10800000">
              <a:off x="385" y="3612"/>
              <a:ext cx="166" cy="201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rot="10800000" anchor="t" anchorCtr="0"/>
            <a:lstStyle/>
            <a:p>
              <a:pPr lvl="0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5" name="矩形 4106"/>
            <p:cNvSpPr/>
            <p:nvPr userDrawn="1"/>
          </p:nvSpPr>
          <p:spPr>
            <a:xfrm rot="10800000">
              <a:off x="295" y="3702"/>
              <a:ext cx="164" cy="201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rot="10800000" anchor="t" anchorCtr="0"/>
            <a:lstStyle/>
            <a:p>
              <a:pPr lvl="0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6" name="矩形 4107"/>
            <p:cNvSpPr/>
            <p:nvPr userDrawn="1"/>
          </p:nvSpPr>
          <p:spPr>
            <a:xfrm rot="10800000">
              <a:off x="612" y="3793"/>
              <a:ext cx="165" cy="203"/>
            </a:xfrm>
            <a:prstGeom prst="rect">
              <a:avLst/>
            </a:prstGeom>
            <a:solidFill>
              <a:srgbClr val="CCCCE6"/>
            </a:solidFill>
            <a:ln w="9525">
              <a:noFill/>
            </a:ln>
          </p:spPr>
          <p:txBody>
            <a:bodyPr rot="10800000" anchor="t" anchorCtr="0"/>
            <a:lstStyle/>
            <a:p>
              <a:pPr lvl="0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7" name="矩形 4108"/>
            <p:cNvSpPr/>
            <p:nvPr userDrawn="1"/>
          </p:nvSpPr>
          <p:spPr>
            <a:xfrm rot="10800000">
              <a:off x="476" y="3748"/>
              <a:ext cx="167" cy="203"/>
            </a:xfrm>
            <a:prstGeom prst="rect">
              <a:avLst/>
            </a:prstGeom>
            <a:solidFill>
              <a:srgbClr val="3366FF"/>
            </a:solidFill>
            <a:ln w="9525">
              <a:noFill/>
            </a:ln>
          </p:spPr>
          <p:txBody>
            <a:bodyPr rot="10800000" anchor="t" anchorCtr="0"/>
            <a:lstStyle/>
            <a:p>
              <a:pPr lvl="0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038" name="图片 4115" descr="图片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108075" y="6021388"/>
            <a:ext cx="2376488" cy="6032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2"/>
          </a:solidFill>
          <a:latin typeface="+mj-lt"/>
          <a:ea typeface="+mj-ea"/>
          <a:cs typeface="华文行楷" panose="0201080004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  <a:cs typeface="华文行楷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  <a:cs typeface="华文行楷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  <a:cs typeface="华文行楷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  <a:cs typeface="华文行楷" panose="0201080004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  <a:cs typeface="华文行楷" panose="0201080004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  <a:cs typeface="华文行楷" panose="0201080004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  <a:cs typeface="华文行楷" panose="0201080004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  <a:cs typeface="华文行楷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华文行楷" panose="0201080004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华文行楷" panose="0201080004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华文行楷" panose="0201080004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华文行楷" panose="0201080004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华文行楷" panose="0201080004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华文行楷" panose="0201080004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华文行楷" panose="0201080004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华文行楷" panose="0201080004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4097" descr="2x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333375"/>
            <a:ext cx="9144000" cy="1246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标题 4098"/>
          <p:cNvSpPr>
            <a:spLocks noGrp="1"/>
          </p:cNvSpPr>
          <p:nvPr>
            <p:ph type="title"/>
          </p:nvPr>
        </p:nvSpPr>
        <p:spPr>
          <a:xfrm>
            <a:off x="395288" y="11588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2" name="文本占位符 4099"/>
          <p:cNvSpPr>
            <a:spLocks noGrp="1"/>
          </p:cNvSpPr>
          <p:nvPr>
            <p:ph type="body"/>
          </p:nvPr>
        </p:nvSpPr>
        <p:spPr>
          <a:xfrm>
            <a:off x="611188" y="1125538"/>
            <a:ext cx="8229600" cy="4525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grpSp>
        <p:nvGrpSpPr>
          <p:cNvPr id="2053" name="组合 4100"/>
          <p:cNvGrpSpPr/>
          <p:nvPr/>
        </p:nvGrpSpPr>
        <p:grpSpPr>
          <a:xfrm>
            <a:off x="323850" y="5734050"/>
            <a:ext cx="909638" cy="969963"/>
            <a:chOff x="204" y="3612"/>
            <a:chExt cx="573" cy="611"/>
          </a:xfrm>
        </p:grpSpPr>
        <p:sp>
          <p:nvSpPr>
            <p:cNvPr id="2054" name="矩形 4101"/>
            <p:cNvSpPr/>
            <p:nvPr userDrawn="1"/>
          </p:nvSpPr>
          <p:spPr>
            <a:xfrm rot="10800000">
              <a:off x="249" y="4020"/>
              <a:ext cx="164" cy="203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rot="10800000" anchor="t" anchorCtr="0"/>
            <a:lstStyle/>
            <a:p>
              <a:pPr lvl="0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5" name="矩形 4102"/>
            <p:cNvSpPr/>
            <p:nvPr userDrawn="1"/>
          </p:nvSpPr>
          <p:spPr>
            <a:xfrm rot="10800000">
              <a:off x="204" y="3838"/>
              <a:ext cx="167" cy="203"/>
            </a:xfrm>
            <a:prstGeom prst="rect">
              <a:avLst/>
            </a:prstGeom>
            <a:solidFill>
              <a:srgbClr val="33CCCC"/>
            </a:solidFill>
            <a:ln w="9525">
              <a:noFill/>
            </a:ln>
          </p:spPr>
          <p:txBody>
            <a:bodyPr rot="10800000" anchor="t" anchorCtr="0"/>
            <a:lstStyle/>
            <a:p>
              <a:pPr lvl="0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6" name="矩形 4103"/>
            <p:cNvSpPr/>
            <p:nvPr userDrawn="1"/>
          </p:nvSpPr>
          <p:spPr>
            <a:xfrm rot="10800000">
              <a:off x="385" y="3838"/>
              <a:ext cx="167" cy="203"/>
            </a:xfrm>
            <a:prstGeom prst="rect">
              <a:avLst/>
            </a:prstGeom>
            <a:solidFill>
              <a:srgbClr val="0066FF"/>
            </a:solidFill>
            <a:ln w="9525">
              <a:noFill/>
            </a:ln>
          </p:spPr>
          <p:txBody>
            <a:bodyPr rot="10800000" anchor="t" anchorCtr="0"/>
            <a:lstStyle/>
            <a:p>
              <a:pPr lvl="0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7" name="矩形 4104"/>
            <p:cNvSpPr/>
            <p:nvPr userDrawn="1"/>
          </p:nvSpPr>
          <p:spPr>
            <a:xfrm rot="10800000">
              <a:off x="476" y="3884"/>
              <a:ext cx="167" cy="201"/>
            </a:xfrm>
            <a:prstGeom prst="rect">
              <a:avLst/>
            </a:prstGeom>
            <a:solidFill>
              <a:srgbClr val="CCFFFF"/>
            </a:solidFill>
            <a:ln w="9525">
              <a:noFill/>
            </a:ln>
          </p:spPr>
          <p:txBody>
            <a:bodyPr rot="10800000" anchor="t" anchorCtr="0"/>
            <a:lstStyle/>
            <a:p>
              <a:pPr lvl="0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8" name="矩形 4105"/>
            <p:cNvSpPr/>
            <p:nvPr userDrawn="1"/>
          </p:nvSpPr>
          <p:spPr>
            <a:xfrm rot="10800000">
              <a:off x="385" y="3612"/>
              <a:ext cx="166" cy="201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rot="10800000" anchor="t" anchorCtr="0"/>
            <a:lstStyle/>
            <a:p>
              <a:pPr lvl="0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9" name="矩形 4106"/>
            <p:cNvSpPr/>
            <p:nvPr userDrawn="1"/>
          </p:nvSpPr>
          <p:spPr>
            <a:xfrm rot="10800000">
              <a:off x="295" y="3702"/>
              <a:ext cx="164" cy="201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rot="10800000" anchor="t" anchorCtr="0"/>
            <a:lstStyle/>
            <a:p>
              <a:pPr lvl="0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60" name="矩形 4107"/>
            <p:cNvSpPr/>
            <p:nvPr userDrawn="1"/>
          </p:nvSpPr>
          <p:spPr>
            <a:xfrm rot="10800000">
              <a:off x="612" y="3793"/>
              <a:ext cx="165" cy="203"/>
            </a:xfrm>
            <a:prstGeom prst="rect">
              <a:avLst/>
            </a:prstGeom>
            <a:solidFill>
              <a:srgbClr val="CCCCE6"/>
            </a:solidFill>
            <a:ln w="9525">
              <a:noFill/>
            </a:ln>
          </p:spPr>
          <p:txBody>
            <a:bodyPr rot="10800000" anchor="t" anchorCtr="0"/>
            <a:lstStyle/>
            <a:p>
              <a:pPr lvl="0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61" name="矩形 4108"/>
            <p:cNvSpPr/>
            <p:nvPr userDrawn="1"/>
          </p:nvSpPr>
          <p:spPr>
            <a:xfrm rot="10800000">
              <a:off x="476" y="3748"/>
              <a:ext cx="167" cy="203"/>
            </a:xfrm>
            <a:prstGeom prst="rect">
              <a:avLst/>
            </a:prstGeom>
            <a:solidFill>
              <a:srgbClr val="3366FF"/>
            </a:solidFill>
            <a:ln w="9525">
              <a:noFill/>
            </a:ln>
          </p:spPr>
          <p:txBody>
            <a:bodyPr rot="10800000" anchor="t" anchorCtr="0"/>
            <a:lstStyle/>
            <a:p>
              <a:pPr lvl="0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2062" name="图片 4115" descr="图片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108075" y="6021388"/>
            <a:ext cx="2376488" cy="6032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transition spd="med"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2"/>
          </a:solidFill>
          <a:latin typeface="+mj-lt"/>
          <a:ea typeface="+mj-ea"/>
          <a:cs typeface="华文行楷" panose="0201080004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  <a:cs typeface="华文行楷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  <a:cs typeface="华文行楷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  <a:cs typeface="华文行楷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  <a:cs typeface="华文行楷" panose="0201080004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  <a:cs typeface="华文行楷" panose="0201080004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  <a:cs typeface="华文行楷" panose="0201080004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  <a:cs typeface="华文行楷" panose="0201080004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  <a:cs typeface="华文行楷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华文行楷" panose="0201080004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华文行楷" panose="0201080004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华文行楷" panose="0201080004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华文行楷" panose="0201080004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华文行楷" panose="0201080004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华文行楷" panose="0201080004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华文行楷" panose="0201080004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华文行楷" panose="02010800040101010101" pitchFamily="2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4097" descr="2x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333375"/>
            <a:ext cx="9144000" cy="1246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5" name="标题 4098"/>
          <p:cNvSpPr>
            <a:spLocks noGrp="1"/>
          </p:cNvSpPr>
          <p:nvPr>
            <p:ph type="title"/>
          </p:nvPr>
        </p:nvSpPr>
        <p:spPr>
          <a:xfrm>
            <a:off x="395288" y="11588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76" name="文本占位符 4099"/>
          <p:cNvSpPr>
            <a:spLocks noGrp="1"/>
          </p:cNvSpPr>
          <p:nvPr>
            <p:ph type="body"/>
          </p:nvPr>
        </p:nvSpPr>
        <p:spPr>
          <a:xfrm>
            <a:off x="611188" y="1125538"/>
            <a:ext cx="8229600" cy="4525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grpSp>
        <p:nvGrpSpPr>
          <p:cNvPr id="3077" name="组合 4100"/>
          <p:cNvGrpSpPr/>
          <p:nvPr/>
        </p:nvGrpSpPr>
        <p:grpSpPr>
          <a:xfrm>
            <a:off x="323850" y="5734050"/>
            <a:ext cx="909638" cy="969963"/>
            <a:chOff x="204" y="3612"/>
            <a:chExt cx="573" cy="611"/>
          </a:xfrm>
        </p:grpSpPr>
        <p:sp>
          <p:nvSpPr>
            <p:cNvPr id="3078" name="矩形 4101"/>
            <p:cNvSpPr/>
            <p:nvPr userDrawn="1"/>
          </p:nvSpPr>
          <p:spPr>
            <a:xfrm rot="10800000">
              <a:off x="249" y="4020"/>
              <a:ext cx="164" cy="203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rot="10800000" anchor="t" anchorCtr="0"/>
            <a:lstStyle/>
            <a:p>
              <a:pPr lvl="0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9" name="矩形 4102"/>
            <p:cNvSpPr/>
            <p:nvPr userDrawn="1"/>
          </p:nvSpPr>
          <p:spPr>
            <a:xfrm rot="10800000">
              <a:off x="204" y="3838"/>
              <a:ext cx="167" cy="203"/>
            </a:xfrm>
            <a:prstGeom prst="rect">
              <a:avLst/>
            </a:prstGeom>
            <a:solidFill>
              <a:srgbClr val="33CCCC"/>
            </a:solidFill>
            <a:ln w="9525">
              <a:noFill/>
            </a:ln>
          </p:spPr>
          <p:txBody>
            <a:bodyPr rot="10800000" anchor="t" anchorCtr="0"/>
            <a:lstStyle/>
            <a:p>
              <a:pPr lvl="0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0" name="矩形 4103"/>
            <p:cNvSpPr/>
            <p:nvPr userDrawn="1"/>
          </p:nvSpPr>
          <p:spPr>
            <a:xfrm rot="10800000">
              <a:off x="385" y="3838"/>
              <a:ext cx="167" cy="203"/>
            </a:xfrm>
            <a:prstGeom prst="rect">
              <a:avLst/>
            </a:prstGeom>
            <a:solidFill>
              <a:srgbClr val="0066FF"/>
            </a:solidFill>
            <a:ln w="9525">
              <a:noFill/>
            </a:ln>
          </p:spPr>
          <p:txBody>
            <a:bodyPr rot="10800000" anchor="t" anchorCtr="0"/>
            <a:lstStyle/>
            <a:p>
              <a:pPr lvl="0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1" name="矩形 4104"/>
            <p:cNvSpPr/>
            <p:nvPr userDrawn="1"/>
          </p:nvSpPr>
          <p:spPr>
            <a:xfrm rot="10800000">
              <a:off x="476" y="3884"/>
              <a:ext cx="167" cy="201"/>
            </a:xfrm>
            <a:prstGeom prst="rect">
              <a:avLst/>
            </a:prstGeom>
            <a:solidFill>
              <a:srgbClr val="CCFFFF"/>
            </a:solidFill>
            <a:ln w="9525">
              <a:noFill/>
            </a:ln>
          </p:spPr>
          <p:txBody>
            <a:bodyPr rot="10800000" anchor="t" anchorCtr="0"/>
            <a:lstStyle/>
            <a:p>
              <a:pPr lvl="0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2" name="矩形 4105"/>
            <p:cNvSpPr/>
            <p:nvPr userDrawn="1"/>
          </p:nvSpPr>
          <p:spPr>
            <a:xfrm rot="10800000">
              <a:off x="385" y="3612"/>
              <a:ext cx="166" cy="201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rot="10800000" anchor="t" anchorCtr="0"/>
            <a:lstStyle/>
            <a:p>
              <a:pPr lvl="0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3" name="矩形 4106"/>
            <p:cNvSpPr/>
            <p:nvPr userDrawn="1"/>
          </p:nvSpPr>
          <p:spPr>
            <a:xfrm rot="10800000">
              <a:off x="295" y="3702"/>
              <a:ext cx="164" cy="201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rot="10800000" anchor="t" anchorCtr="0"/>
            <a:lstStyle/>
            <a:p>
              <a:pPr lvl="0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4" name="矩形 4107"/>
            <p:cNvSpPr/>
            <p:nvPr userDrawn="1"/>
          </p:nvSpPr>
          <p:spPr>
            <a:xfrm rot="10800000">
              <a:off x="612" y="3793"/>
              <a:ext cx="165" cy="203"/>
            </a:xfrm>
            <a:prstGeom prst="rect">
              <a:avLst/>
            </a:prstGeom>
            <a:solidFill>
              <a:srgbClr val="CCCCE6"/>
            </a:solidFill>
            <a:ln w="9525">
              <a:noFill/>
            </a:ln>
          </p:spPr>
          <p:txBody>
            <a:bodyPr rot="10800000" anchor="t" anchorCtr="0"/>
            <a:lstStyle/>
            <a:p>
              <a:pPr lvl="0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5" name="矩形 4108"/>
            <p:cNvSpPr/>
            <p:nvPr userDrawn="1"/>
          </p:nvSpPr>
          <p:spPr>
            <a:xfrm rot="10800000">
              <a:off x="476" y="3748"/>
              <a:ext cx="167" cy="203"/>
            </a:xfrm>
            <a:prstGeom prst="rect">
              <a:avLst/>
            </a:prstGeom>
            <a:solidFill>
              <a:srgbClr val="3366FF"/>
            </a:solidFill>
            <a:ln w="9525">
              <a:noFill/>
            </a:ln>
          </p:spPr>
          <p:txBody>
            <a:bodyPr rot="10800000" anchor="t" anchorCtr="0"/>
            <a:lstStyle/>
            <a:p>
              <a:pPr lvl="0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3086" name="图片 4115" descr="图片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108075" y="6021388"/>
            <a:ext cx="2376488" cy="6032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</p:sldLayoutIdLst>
  <p:transition spd="med"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2"/>
          </a:solidFill>
          <a:latin typeface="+mj-lt"/>
          <a:ea typeface="+mj-ea"/>
          <a:cs typeface="华文行楷" panose="0201080004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  <a:cs typeface="华文行楷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  <a:cs typeface="华文行楷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  <a:cs typeface="华文行楷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  <a:cs typeface="华文行楷" panose="0201080004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  <a:cs typeface="华文行楷" panose="0201080004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  <a:cs typeface="华文行楷" panose="0201080004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  <a:cs typeface="华文行楷" panose="0201080004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panose="020B0604020202020204" pitchFamily="34" charset="0"/>
          <a:ea typeface="华文行楷" panose="02010800040101010101" pitchFamily="2" charset="-122"/>
          <a:cs typeface="华文行楷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华文行楷" panose="0201080004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华文行楷" panose="0201080004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华文行楷" panose="0201080004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华文行楷" panose="0201080004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华文行楷" panose="0201080004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华文行楷" panose="0201080004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华文行楷" panose="0201080004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Times New Roman" panose="02020603050405020304" pitchFamily="18" charset="0"/>
          <a:ea typeface="华文行楷" panose="0201080004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2.wmf"/><Relationship Id="rId7" Type="http://schemas.openxmlformats.org/officeDocument/2006/relationships/oleObject" Target="../embeddings/oleObject5.bin"/><Relationship Id="rId6" Type="http://schemas.openxmlformats.org/officeDocument/2006/relationships/image" Target="../media/image11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9.wmf"/><Relationship Id="rId11" Type="http://schemas.openxmlformats.org/officeDocument/2006/relationships/notesSlide" Target="../notesSlides/notesSlide4.xml"/><Relationship Id="rId10" Type="http://schemas.openxmlformats.org/officeDocument/2006/relationships/vmlDrawing" Target="../drawings/vmlDrawing2.vml"/><Relationship Id="rId1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13.wmf"/><Relationship Id="rId1" Type="http://schemas.openxmlformats.org/officeDocument/2006/relationships/oleObject" Target="../embeddings/oleObject6.bin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5.wmf"/><Relationship Id="rId1" Type="http://schemas.openxmlformats.org/officeDocument/2006/relationships/oleObject" Target="../embeddings/oleObject8.bin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wmf"/><Relationship Id="rId1" Type="http://schemas.openxmlformats.org/officeDocument/2006/relationships/oleObject" Target="../embeddings/oleObject11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0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9.wmf"/><Relationship Id="rId1" Type="http://schemas.openxmlformats.org/officeDocument/2006/relationships/oleObject" Target="../embeddings/oleObject12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4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23.wmf"/><Relationship Id="rId1" Type="http://schemas.openxmlformats.org/officeDocument/2006/relationships/oleObject" Target="../embeddings/oleObject15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9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image" Target="../media/image27.png"/><Relationship Id="rId3" Type="http://schemas.openxmlformats.org/officeDocument/2006/relationships/oleObject" Target="../embeddings/oleObject19.bin"/><Relationship Id="rId2" Type="http://schemas.openxmlformats.org/officeDocument/2006/relationships/image" Target="../media/image26.png"/><Relationship Id="rId1" Type="http://schemas.openxmlformats.org/officeDocument/2006/relationships/oleObject" Target="../embeddings/oleObject18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32.wmf"/><Relationship Id="rId1" Type="http://schemas.openxmlformats.org/officeDocument/2006/relationships/oleObject" Target="../embeddings/oleObject20.bin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6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35.wmf"/><Relationship Id="rId1" Type="http://schemas.openxmlformats.org/officeDocument/2006/relationships/oleObject" Target="../embeddings/oleObject23.bin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8.w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37.wmf"/><Relationship Id="rId1" Type="http://schemas.openxmlformats.org/officeDocument/2006/relationships/oleObject" Target="../embeddings/oleObject25.bin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wmf"/><Relationship Id="rId1" Type="http://schemas.openxmlformats.org/officeDocument/2006/relationships/oleObject" Target="../embeddings/oleObject27.bin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2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7.w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46.wmf"/><Relationship Id="rId1" Type="http://schemas.openxmlformats.org/officeDocument/2006/relationships/oleObject" Target="../embeddings/oleObject29.bin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.bin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32.bin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image" Target="../media/image48.wmf"/><Relationship Id="rId12" Type="http://schemas.openxmlformats.org/officeDocument/2006/relationships/vmlDrawing" Target="../drawings/vmlDrawing16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50.wmf"/><Relationship Id="rId1" Type="http://schemas.openxmlformats.org/officeDocument/2006/relationships/oleObject" Target="../embeddings/oleObject31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7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52.w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51.wmf"/><Relationship Id="rId1" Type="http://schemas.openxmlformats.org/officeDocument/2006/relationships/oleObject" Target="../embeddings/oleObject34.bin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4.wmf"/><Relationship Id="rId1" Type="http://schemas.openxmlformats.org/officeDocument/2006/relationships/oleObject" Target="../embeddings/oleObject37.bin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9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6.wmf"/><Relationship Id="rId2" Type="http://schemas.openxmlformats.org/officeDocument/2006/relationships/oleObject" Target="../embeddings/oleObject38.bin"/><Relationship Id="rId1" Type="http://schemas.openxmlformats.org/officeDocument/2006/relationships/tags" Target="../tags/tag1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0.v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57.wmf"/><Relationship Id="rId1" Type="http://schemas.openxmlformats.org/officeDocument/2006/relationships/oleObject" Target="../embeddings/oleObject39.bin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vmlDrawing" Target="../drawings/vmlDrawing2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1" Type="http://schemas.openxmlformats.org/officeDocument/2006/relationships/oleObject" Target="../embeddings/oleObject40.bin"/></Relationships>
</file>

<file path=ppt/slides/_rels/slide6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0.wmf"/><Relationship Id="rId3" Type="http://schemas.openxmlformats.org/officeDocument/2006/relationships/oleObject" Target="../embeddings/oleObject42.bin"/><Relationship Id="rId2" Type="http://schemas.openxmlformats.org/officeDocument/2006/relationships/image" Target="../media/image59.wmf"/><Relationship Id="rId1" Type="http://schemas.openxmlformats.org/officeDocument/2006/relationships/oleObject" Target="../embeddings/oleObject41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62.wmf"/><Relationship Id="rId3" Type="http://schemas.openxmlformats.org/officeDocument/2006/relationships/oleObject" Target="../embeddings/oleObject44.bin"/><Relationship Id="rId2" Type="http://schemas.openxmlformats.org/officeDocument/2006/relationships/image" Target="../media/image61.wmf"/><Relationship Id="rId1" Type="http://schemas.openxmlformats.org/officeDocument/2006/relationships/oleObject" Target="../embeddings/oleObject43.bin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1" Type="http://schemas.openxmlformats.org/officeDocument/2006/relationships/oleObject" Target="../embeddings/oleObject46.bin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9.jpe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0.jpe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3.png"/></Relationships>
</file>

<file path=ppt/slides/_rels/slide8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1" Type="http://schemas.openxmlformats.org/officeDocument/2006/relationships/oleObject" Target="../embeddings/oleObject47.bin"/></Relationships>
</file>

<file path=ppt/slides/_rels/slide8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1.xml"/><Relationship Id="rId2" Type="http://schemas.openxmlformats.org/officeDocument/2006/relationships/image" Target="../media/image75.png"/><Relationship Id="rId1" Type="http://schemas.openxmlformats.org/officeDocument/2006/relationships/tags" Target="../tags/tag20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6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7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2.png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8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1" Type="http://schemas.openxmlformats.org/officeDocument/2006/relationships/oleObject" Target="../embeddings/oleObject48.bin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9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1" Type="http://schemas.openxmlformats.org/officeDocument/2006/relationships/oleObject" Target="../embeddings/oleObject49.bin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标题 236545"/>
          <p:cNvSpPr>
            <a:spLocks noGrp="1"/>
          </p:cNvSpPr>
          <p:nvPr>
            <p:ph type="ctrTitle"/>
          </p:nvPr>
        </p:nvSpPr>
        <p:spPr>
          <a:xfrm>
            <a:off x="1187450" y="1340168"/>
            <a:ext cx="6696075" cy="1423987"/>
          </a:xfrm>
        </p:spPr>
        <p:txBody>
          <a:bodyPr vert="horz" wrap="square" lIns="91440" tIns="45720" rIns="91440" bIns="45720" anchor="ctr" anchorCtr="0"/>
          <a:lstStyle/>
          <a:p>
            <a:pPr eaLnBrk="1" hangingPunct="1">
              <a:buClrTx/>
              <a:buSzTx/>
              <a:buFontTx/>
            </a:pPr>
            <a:r>
              <a:rPr lang="zh-CN" altLang="en-US" b="1" kern="12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lang="en-US" altLang="zh-CN" b="1" kern="12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zh-CN" altLang="en-US" b="1" kern="1200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章  图像编码与压缩</a:t>
            </a:r>
            <a:endParaRPr lang="zh-CN" altLang="en-US" b="1" kern="1200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clrChange>
              <a:clrFrom>
                <a:srgbClr val="CCCCCC">
                  <a:alpha val="100000"/>
                </a:srgbClr>
              </a:clrFrom>
              <a:clrTo>
                <a:srgbClr val="CCCCCC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560" y="1739900"/>
            <a:ext cx="9174480" cy="339598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25" y="1196975"/>
            <a:ext cx="9145270" cy="25571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" y="4005580"/>
            <a:ext cx="9017000" cy="15881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960" y="4964430"/>
            <a:ext cx="8759825" cy="5219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4925" y="3933190"/>
            <a:ext cx="8702040" cy="5219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23756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知识要点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218" name="文本占位符 237570"/>
          <p:cNvSpPr>
            <a:spLocks noGrp="1"/>
          </p:cNvSpPr>
          <p:nvPr>
            <p:ph idx="1"/>
          </p:nvPr>
        </p:nvSpPr>
        <p:spPr>
          <a:xfrm>
            <a:off x="609600" y="954405"/>
            <a:ext cx="7772400" cy="4114800"/>
          </a:xfrm>
        </p:spPr>
        <p:txBody>
          <a:bodyPr vert="horz" wrap="square" lIns="91440" tIns="45720" rIns="91440" bIns="45720" anchor="t" anchorCtr="0"/>
          <a:lstStyle/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●</a:t>
            </a:r>
            <a:r>
              <a:rPr lang="zh-CN" altLang="en-US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信息论中的有关概念</a:t>
            </a:r>
            <a:endParaRPr lang="zh-CN" altLang="en-US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信息，信息量（数据量），信息熵，冗余度</a:t>
            </a:r>
            <a:endParaRPr lang="zh-CN" altLang="en-US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●编码方法</a:t>
            </a:r>
            <a:endParaRPr lang="zh-CN" altLang="en-US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统计编码</a:t>
            </a:r>
            <a:endParaRPr lang="zh-CN" altLang="en-US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预测编码</a:t>
            </a:r>
            <a:endParaRPr lang="zh-CN" altLang="en-US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变换编码</a:t>
            </a:r>
            <a:endParaRPr lang="zh-CN" altLang="en-US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●静态图像压缩标准</a:t>
            </a:r>
            <a:endParaRPr lang="zh-CN" altLang="en-US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JPEG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压缩编码</a:t>
            </a:r>
            <a:endParaRPr lang="zh-CN" altLang="en-US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77825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6858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6.1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</a:rPr>
              <a:t> 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概述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42" name="文本占位符 77826"/>
          <p:cNvSpPr>
            <a:spLocks noGrp="1"/>
          </p:cNvSpPr>
          <p:nvPr>
            <p:ph idx="1"/>
          </p:nvPr>
        </p:nvSpPr>
        <p:spPr>
          <a:xfrm>
            <a:off x="155575" y="1093470"/>
            <a:ext cx="8796020" cy="48355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数据压缩的必要性：</a:t>
            </a:r>
            <a:endParaRPr lang="zh-CN" altLang="en-US" b="1" dirty="0">
              <a:solidFill>
                <a:schemeClr val="tx2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0243" name="文本框 1"/>
          <p:cNvSpPr txBox="1"/>
          <p:nvPr/>
        </p:nvSpPr>
        <p:spPr>
          <a:xfrm>
            <a:off x="538798" y="2632075"/>
            <a:ext cx="8318500" cy="28622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图像作为信息的重要表现形式，数据量大，带宽宽。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一方面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：需要增加信道，但这很有限，因为信道的增加永远  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   赶不上信息的爆炸式增长，况且还要受环境的限制。</a:t>
            </a:r>
            <a:endParaRPr lang="en-US" altLang="zh-CN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另一方面：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必须减少图像的数据量，已达到压缩图像数据的 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     目的。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/>
      <p:bldP spid="1024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77825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6858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6.1</a:t>
            </a:r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</a:rPr>
              <a:t> 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概述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42" name="文本占位符 77826"/>
          <p:cNvSpPr>
            <a:spLocks noGrp="1"/>
          </p:cNvSpPr>
          <p:nvPr>
            <p:ph idx="1"/>
          </p:nvPr>
        </p:nvSpPr>
        <p:spPr>
          <a:xfrm>
            <a:off x="155575" y="1165225"/>
            <a:ext cx="7620000" cy="45259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数据压缩的基本思想：</a:t>
            </a:r>
            <a:endParaRPr lang="zh-CN" altLang="en-US" b="1" dirty="0">
              <a:solidFill>
                <a:schemeClr val="tx2"/>
              </a:solidFill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0243" name="文本框 1"/>
          <p:cNvSpPr txBox="1"/>
          <p:nvPr/>
        </p:nvSpPr>
        <p:spPr>
          <a:xfrm>
            <a:off x="509588" y="2632075"/>
            <a:ext cx="831850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342900" lvl="1" indent="-34290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chemeClr val="tx2"/>
                </a:solidFill>
                <a:ea typeface="楷体_GB2312" panose="02010609030101010101" pitchFamily="49" charset="-122"/>
                <a:sym typeface="+mn-ea"/>
              </a:rPr>
              <a:t>以</a:t>
            </a:r>
            <a:r>
              <a:rPr lang="zh-CN" altLang="en-US" sz="2400" b="1" dirty="0">
                <a:solidFill>
                  <a:srgbClr val="7030A0"/>
                </a:solidFill>
                <a:ea typeface="楷体_GB2312" panose="02010609030101010101" pitchFamily="49" charset="-122"/>
                <a:sym typeface="+mn-ea"/>
              </a:rPr>
              <a:t>较少的数据量</a:t>
            </a:r>
            <a:r>
              <a:rPr lang="zh-CN" altLang="en-US" sz="2400" dirty="0">
                <a:solidFill>
                  <a:schemeClr val="tx2"/>
                </a:solidFill>
                <a:ea typeface="楷体_GB2312" panose="02010609030101010101" pitchFamily="49" charset="-122"/>
                <a:sym typeface="+mn-ea"/>
              </a:rPr>
              <a:t>表示信源以原始形式所代表的信息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342900" lvl="1" indent="-3429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dirty="0">
                <a:solidFill>
                  <a:schemeClr val="tx2"/>
                </a:solidFill>
                <a:ea typeface="楷体_GB2312" panose="02010609030101010101" pitchFamily="49" charset="-122"/>
                <a:sym typeface="+mn-ea"/>
              </a:rPr>
              <a:t>目的在于</a:t>
            </a:r>
            <a:r>
              <a:rPr lang="zh-CN" altLang="en-US" sz="2400" b="1" dirty="0">
                <a:solidFill>
                  <a:srgbClr val="7030A0"/>
                </a:solidFill>
                <a:ea typeface="楷体_GB2312" panose="02010609030101010101" pitchFamily="49" charset="-122"/>
                <a:sym typeface="+mn-ea"/>
              </a:rPr>
              <a:t>节省存储空间</a:t>
            </a:r>
            <a:r>
              <a:rPr lang="zh-CN" altLang="en-US" sz="2400" dirty="0">
                <a:solidFill>
                  <a:schemeClr val="tx2"/>
                </a:solidFill>
                <a:ea typeface="楷体_GB2312" panose="02010609030101010101" pitchFamily="49" charset="-122"/>
                <a:sym typeface="+mn-ea"/>
              </a:rPr>
              <a:t>、提高传输效率等。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/>
      <p:bldP spid="1024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标题 7987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zh-CN" altLang="en-US" dirty="0">
                <a:ea typeface="楷体_GB2312" panose="02010609030101010101" pitchFamily="49" charset="-122"/>
              </a:rPr>
              <a:t>数据压缩系统组成</a:t>
            </a:r>
            <a:r>
              <a:rPr lang="en-US" altLang="zh-CN" dirty="0">
                <a:ea typeface="楷体_GB2312" panose="02010609030101010101" pitchFamily="49" charset="-122"/>
              </a:rPr>
              <a:t>图</a:t>
            </a:r>
            <a:endParaRPr lang="en-US" altLang="zh-CN" dirty="0">
              <a:ea typeface="楷体_GB2312" panose="02010609030101010101" pitchFamily="49" charset="-122"/>
            </a:endParaRPr>
          </a:p>
        </p:txBody>
      </p:sp>
      <p:sp>
        <p:nvSpPr>
          <p:cNvPr id="12290" name="矩形 79876"/>
          <p:cNvSpPr/>
          <p:nvPr/>
        </p:nvSpPr>
        <p:spPr>
          <a:xfrm>
            <a:off x="4219575" y="3246438"/>
            <a:ext cx="2476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291" name="Object 4" descr="image8"/>
          <p:cNvGraphicFramePr/>
          <p:nvPr/>
        </p:nvGraphicFramePr>
        <p:xfrm>
          <a:off x="395605" y="1770698"/>
          <a:ext cx="8382000" cy="333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3017520" imgH="1203960" progId="">
                  <p:embed/>
                </p:oleObj>
              </mc:Choice>
              <mc:Fallback>
                <p:oleObj name="" r:id="rId1" imgW="3017520" imgH="1203960" progId="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5605" y="1770698"/>
                        <a:ext cx="8382000" cy="3332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84993"/>
          <p:cNvSpPr>
            <a:spLocks noGrp="1"/>
          </p:cNvSpPr>
          <p:nvPr>
            <p:ph type="title"/>
          </p:nvPr>
        </p:nvSpPr>
        <p:spPr>
          <a:xfrm>
            <a:off x="304800" y="152400"/>
            <a:ext cx="8229600" cy="9906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dirty="0">
                <a:ea typeface="楷体_GB2312" panose="02010609030101010101" pitchFamily="49" charset="-122"/>
              </a:rPr>
              <a:t>6.1.2  </a:t>
            </a:r>
            <a:r>
              <a:rPr lang="zh-CN" altLang="en-US" dirty="0">
                <a:ea typeface="楷体_GB2312" panose="02010609030101010101" pitchFamily="49" charset="-122"/>
              </a:rPr>
              <a:t>图像编码压缩的必要性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4338" name="内容占位符 84994"/>
          <p:cNvSpPr>
            <a:spLocks noGrp="1"/>
          </p:cNvSpPr>
          <p:nvPr>
            <p:ph idx="1"/>
          </p:nvPr>
        </p:nvSpPr>
        <p:spPr>
          <a:xfrm>
            <a:off x="457200" y="2021840"/>
            <a:ext cx="8229600" cy="352933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图像信号的数据量</a:t>
            </a:r>
            <a:r>
              <a:rPr lang="en-US" altLang="zh-CN" sz="24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V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(volume) 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byte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）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: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楷体_GB2312" panose="02010609030101010101" pitchFamily="49" charset="-122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                      </a:t>
            </a:r>
            <a:r>
              <a:rPr lang="en-US" altLang="zh-CN" sz="2400" b="1" i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 V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 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  <a:sym typeface="Symbol" panose="05050102010706020507" pitchFamily="18" charset="2"/>
              </a:rPr>
              <a:t>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 </a:t>
            </a:r>
            <a:r>
              <a:rPr lang="en-US" altLang="zh-CN" sz="2400" b="1" i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w · h · d/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8</a:t>
            </a:r>
            <a:r>
              <a:rPr lang="en-US" altLang="zh-CN" sz="2400" b="1" i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                           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楷体_GB2312" panose="02010609030101010101" pitchFamily="49" charset="-122"/>
            </a:endParaRPr>
          </a:p>
          <a:p>
            <a:pPr lvl="1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w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、</a:t>
            </a:r>
            <a:r>
              <a:rPr lang="en-US" altLang="zh-CN" sz="24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h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、</a:t>
            </a:r>
            <a:r>
              <a:rPr lang="en-US" altLang="zh-CN" sz="24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d 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分别表示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width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pel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）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、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height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pel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）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 、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depth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bit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）。</a:t>
            </a: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  <a:cs typeface="楷体_GB2312" panose="0201060903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Image Size is </a:t>
            </a:r>
            <a:r>
              <a:rPr lang="en-US" altLang="zh-CN" sz="2400" i="1" dirty="0"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w</a:t>
            </a:r>
            <a:r>
              <a:rPr lang="en-US" altLang="zh-CN" sz="2400" dirty="0"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·</a:t>
            </a:r>
            <a:r>
              <a:rPr lang="en-US" altLang="zh-CN" sz="2400" i="1" dirty="0"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  <a:cs typeface="楷体_GB2312" panose="02010609030101010101" pitchFamily="49" charset="-122"/>
              </a:rPr>
              <a:t>。</a:t>
            </a: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  <a:cs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89089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sz="4000" dirty="0">
                <a:ea typeface="楷体_GB2312" panose="02010609030101010101" pitchFamily="49" charset="-122"/>
              </a:rPr>
              <a:t>6.1.3  </a:t>
            </a:r>
            <a:r>
              <a:rPr lang="zh-CN" altLang="en-US" sz="4000" dirty="0">
                <a:ea typeface="楷体_GB2312" panose="02010609030101010101" pitchFamily="49" charset="-122"/>
              </a:rPr>
              <a:t>图像编码压缩的可能性</a:t>
            </a:r>
            <a:endParaRPr lang="zh-CN" altLang="en-US" sz="4000" dirty="0"/>
          </a:p>
        </p:txBody>
      </p:sp>
      <p:sp>
        <p:nvSpPr>
          <p:cNvPr id="19458" name="内容占位符 89090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数据冗余：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代表无用信息或重复表示了其他数据已经表示过 </a:t>
            </a:r>
            <a:endParaRPr lang="zh-CN" altLang="en-US" sz="2400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       的信息的数据称为数据冗余。</a:t>
            </a:r>
            <a:endParaRPr lang="zh-CN" altLang="en-US" sz="2400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三种数据冗余：</a:t>
            </a:r>
            <a:endParaRPr lang="zh-CN" altLang="en-US" sz="2400" b="1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        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像素间冗余； </a:t>
            </a:r>
            <a:endParaRPr lang="zh-CN" altLang="en-US" sz="2400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           编码冗余；</a:t>
            </a:r>
            <a:endParaRPr lang="zh-CN" altLang="en-US" sz="2400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           心理视觉冗余。</a:t>
            </a:r>
            <a:endParaRPr lang="zh-CN" altLang="en-US" sz="2400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   减少或消除其中一种或多种冗余时，就实现了图像压缩。</a:t>
            </a:r>
            <a:endParaRPr lang="zh-CN" altLang="en-US" sz="2400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endParaRPr lang="zh-CN" altLang="en-US" dirty="0"/>
          </a:p>
        </p:txBody>
      </p:sp>
      <p:sp>
        <p:nvSpPr>
          <p:cNvPr id="16386" name="文本框 4"/>
          <p:cNvSpPr txBox="1"/>
          <p:nvPr/>
        </p:nvSpPr>
        <p:spPr>
          <a:xfrm>
            <a:off x="203200" y="2953385"/>
            <a:ext cx="8971280" cy="1291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编码冗余：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对于相同灰度级的图像，采用不同的编码方法，就可能得到不同的平均码长，由此引出编码的冗余。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6387" name="文本框 5"/>
          <p:cNvSpPr txBox="1"/>
          <p:nvPr/>
        </p:nvSpPr>
        <p:spPr>
          <a:xfrm>
            <a:off x="120650" y="1198245"/>
            <a:ext cx="8864600" cy="18453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像素间冗余：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由于</a:t>
            </a:r>
            <a:r>
              <a:rPr lang="zh-CN" altLang="en-US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像素间存在相关性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，那么对于任一给定的像素值，原理上都可以通过它的相邻像素值预测得到，这就带来了像素间冗余。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1285" y="4176395"/>
            <a:ext cx="8935085" cy="18453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心理视觉冗余：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人观察图像是基于目标物特征而不是像素，这就使得某些信息显得不重要，可以忽略。则表示这些可忽略信息的数据就是心理视觉冗余。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6387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endParaRPr lang="zh-CN" altLang="en-US" dirty="0"/>
          </a:p>
        </p:txBody>
      </p:sp>
      <p:sp>
        <p:nvSpPr>
          <p:cNvPr id="22530" name="文本框 3"/>
          <p:cNvSpPr txBox="1"/>
          <p:nvPr/>
        </p:nvSpPr>
        <p:spPr>
          <a:xfrm>
            <a:off x="312738" y="1258888"/>
            <a:ext cx="8396287" cy="9540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编码冗余举例：</a:t>
            </a:r>
            <a:endParaRPr lang="zh-CN" altLang="en-US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       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变长编码与自然编码的对比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pic>
        <p:nvPicPr>
          <p:cNvPr id="22531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8917" y="2135188"/>
            <a:ext cx="7781925" cy="44719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sz="36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6.1.4 </a:t>
            </a:r>
            <a:r>
              <a:rPr lang="zh-CN" altLang="en-US" sz="36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图像编码压缩技术评价指标</a:t>
            </a:r>
            <a:endParaRPr lang="zh-CN" altLang="en-US" sz="36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3554" name="TextBox 3"/>
          <p:cNvSpPr txBox="1"/>
          <p:nvPr/>
        </p:nvSpPr>
        <p:spPr>
          <a:xfrm>
            <a:off x="500380" y="1351915"/>
            <a:ext cx="8143875" cy="41630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pPr>
              <a:buFont typeface="Arial" panose="020B0604020202020204" pitchFamily="34" charset="0"/>
            </a:pPr>
            <a:r>
              <a:rPr lang="zh-CN" altLang="en-US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①图像熵：</a:t>
            </a:r>
            <a:endParaRPr lang="zh-CN" altLang="en-US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如果一幅图像像素的灰度级为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             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endParaRPr lang="en-US" altLang="zh-CN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endParaRPr lang="en-US" altLang="zh-CN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若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出现的概率为    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，则图像熵定义为：</a:t>
            </a:r>
            <a:endParaRPr lang="en-US" altLang="zh-CN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图像熵表示</a:t>
            </a:r>
            <a:r>
              <a:rPr lang="zh-CN" altLang="en-US" sz="24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图像像素灰度级的平均比特数。</a:t>
            </a:r>
            <a:endParaRPr lang="en-US" altLang="zh-CN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buFont typeface="Arial" panose="020B0604020202020204" pitchFamily="34" charset="0"/>
            </a:pPr>
            <a:endParaRPr lang="en-US" altLang="zh-CN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23555" name="Object 4"/>
          <p:cNvGraphicFramePr/>
          <p:nvPr/>
        </p:nvGraphicFramePr>
        <p:xfrm>
          <a:off x="4892675" y="2132965"/>
          <a:ext cx="2373630" cy="519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9" name="" r:id="rId1" imgW="1205230" imgH="254000" progId="Equation.DSMT4">
                  <p:embed/>
                </p:oleObj>
              </mc:Choice>
              <mc:Fallback>
                <p:oleObj name="" r:id="rId1" imgW="1205230" imgH="2540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92675" y="2132965"/>
                        <a:ext cx="2373630" cy="5194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5"/>
          <p:cNvGraphicFramePr/>
          <p:nvPr/>
        </p:nvGraphicFramePr>
        <p:xfrm>
          <a:off x="971550" y="3049270"/>
          <a:ext cx="371475" cy="520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0" name="" r:id="rId3" imgW="152400" imgH="228600" progId="Equation.DSMT4">
                  <p:embed/>
                </p:oleObj>
              </mc:Choice>
              <mc:Fallback>
                <p:oleObj name="" r:id="rId3" imgW="152400" imgH="2286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1550" y="3049270"/>
                        <a:ext cx="371475" cy="5200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7"/>
          <p:cNvGraphicFramePr/>
          <p:nvPr/>
        </p:nvGraphicFramePr>
        <p:xfrm>
          <a:off x="3203575" y="3114675"/>
          <a:ext cx="772795" cy="454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1" name="" r:id="rId5" imgW="405765" imgH="254000" progId="Equation.DSMT4">
                  <p:embed/>
                </p:oleObj>
              </mc:Choice>
              <mc:Fallback>
                <p:oleObj name="" r:id="rId5" imgW="405765" imgH="2540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03575" y="3114675"/>
                        <a:ext cx="772795" cy="4546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9"/>
          <p:cNvGraphicFramePr/>
          <p:nvPr/>
        </p:nvGraphicFramePr>
        <p:xfrm>
          <a:off x="2339023" y="3716655"/>
          <a:ext cx="310991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2" name="" r:id="rId7" imgW="1878965" imgH="431800" progId="Equation.DSMT4">
                  <p:embed/>
                </p:oleObj>
              </mc:Choice>
              <mc:Fallback>
                <p:oleObj name="" r:id="rId7" imgW="1878965" imgH="4318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39023" y="3716655"/>
                        <a:ext cx="3109912" cy="714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sz="36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6.1.4 </a:t>
            </a:r>
            <a:r>
              <a:rPr lang="zh-CN" altLang="en-US" sz="36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图像编码压缩技术评价指标</a:t>
            </a:r>
            <a:endParaRPr lang="zh-CN" altLang="en-US" sz="36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3554" name="TextBox 3"/>
          <p:cNvSpPr txBox="1"/>
          <p:nvPr/>
        </p:nvSpPr>
        <p:spPr>
          <a:xfrm>
            <a:off x="500380" y="1286510"/>
            <a:ext cx="8143875" cy="485013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pPr>
              <a:buFont typeface="Arial" panose="020B0604020202020204" pitchFamily="34" charset="0"/>
            </a:pPr>
            <a:r>
              <a:rPr lang="zh-CN" altLang="en-US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②平均码长：</a:t>
            </a:r>
            <a:endParaRPr lang="en-US" altLang="zh-CN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对图像灰度进行编码后，平均码字长度简称平均码长，即码字长度的数学期望。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</a:pPr>
            <a:endParaRPr lang="en-US" altLang="zh-CN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根据香农的信息保持编码定理：要保持信源全部信息，须满足：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</a:pP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</a:pP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            </a:t>
            </a:r>
            <a:endParaRPr lang="en-US" altLang="zh-CN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23559" name="Object 10"/>
          <p:cNvGraphicFramePr/>
          <p:nvPr/>
        </p:nvGraphicFramePr>
        <p:xfrm>
          <a:off x="2702878" y="3067368"/>
          <a:ext cx="201771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9" name="" r:id="rId1" imgW="1218565" imgH="431800" progId="Equation.DSMT4">
                  <p:embed/>
                </p:oleObj>
              </mc:Choice>
              <mc:Fallback>
                <p:oleObj name="" r:id="rId1" imgW="1218565" imgH="4318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02878" y="3067368"/>
                        <a:ext cx="2017712" cy="714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11"/>
          <p:cNvGraphicFramePr/>
          <p:nvPr/>
        </p:nvGraphicFramePr>
        <p:xfrm>
          <a:off x="2842578" y="4940300"/>
          <a:ext cx="1408112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0" name="" r:id="rId3" imgW="850265" imgH="254000" progId="Equation.DSMT4">
                  <p:embed/>
                </p:oleObj>
              </mc:Choice>
              <mc:Fallback>
                <p:oleObj name="" r:id="rId3" imgW="850265" imgH="2540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42578" y="4940300"/>
                        <a:ext cx="1408112" cy="420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187450" y="5491480"/>
            <a:ext cx="457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否则会产生信源的编译码失真。</a:t>
            </a:r>
            <a:endParaRPr lang="zh-CN" altLang="en-US" sz="24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66750" y="1526540"/>
            <a:ext cx="7512050" cy="44310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defRPr/>
            </a:pPr>
            <a:r>
              <a:rPr kumimoji="0" lang="zh-CN" altLang="en-US" b="1" kern="1200" cap="none" spc="0" normalizeH="0" baseline="0" noProof="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③图像冗余度：</a:t>
            </a:r>
            <a:endParaRPr kumimoji="0" lang="zh-CN" altLang="en-US" b="1" kern="1200" cap="none" spc="0" normalizeH="0" baseline="0" noProof="0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  <a:sym typeface="+mn-ea"/>
            </a:endParaRPr>
          </a:p>
          <a:p>
            <a:pPr marL="457200" marR="0" indent="-457200" defTabSz="914400">
              <a:buClrTx/>
              <a:buSzTx/>
              <a:buChar char="•"/>
              <a:defRPr/>
            </a:pPr>
            <a:endParaRPr kumimoji="0" lang="zh-CN" altLang="en-US" kern="1200" cap="none" spc="0" normalizeH="0" baseline="0" noProof="0" dirty="0"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  <a:sym typeface="+mn-ea"/>
            </a:endParaRPr>
          </a:p>
          <a:p>
            <a:pPr marL="457200" marR="0" indent="-457200" defTabSz="914400">
              <a:buClrTx/>
              <a:buSzTx/>
              <a:buChar char="•"/>
              <a:defRPr/>
            </a:pPr>
            <a:endParaRPr kumimoji="0" lang="zh-CN" altLang="en-US" kern="1200" cap="none" spc="0" normalizeH="0" baseline="0" noProof="0" dirty="0"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  <a:sym typeface="+mn-ea"/>
            </a:endParaRPr>
          </a:p>
          <a:p>
            <a:pPr marR="0" defTabSz="914400">
              <a:buClrTx/>
              <a:buSzTx/>
              <a:defRPr/>
            </a:pPr>
            <a:r>
              <a:rPr kumimoji="0" lang="zh-CN" altLang="en-US" b="1" kern="1200" cap="none" spc="0" normalizeH="0" baseline="0" noProof="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④图像编码效率：</a:t>
            </a:r>
            <a:endParaRPr kumimoji="0" lang="zh-CN" altLang="en-US" b="1" kern="1200" cap="none" spc="0" normalizeH="0" baseline="0" noProof="0" dirty="0"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  <a:sym typeface="+mn-ea"/>
            </a:endParaRPr>
          </a:p>
          <a:p>
            <a:pPr marL="457200" marR="0" indent="-457200" defTabSz="914400">
              <a:buClrTx/>
              <a:buSzTx/>
              <a:buChar char="•"/>
              <a:defRPr/>
            </a:pPr>
            <a:endParaRPr kumimoji="0" lang="zh-CN" altLang="en-US" b="1" kern="1200" cap="none" spc="0" normalizeH="0" baseline="0" noProof="0" dirty="0"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  <a:sym typeface="+mn-ea"/>
            </a:endParaRPr>
          </a:p>
          <a:p>
            <a:pPr marL="457200" marR="0" indent="-457200" defTabSz="914400">
              <a:buClrTx/>
              <a:buSzTx/>
              <a:buChar char="•"/>
              <a:defRPr/>
            </a:pPr>
            <a:endParaRPr kumimoji="0" lang="zh-CN" altLang="en-US" b="1" kern="1200" cap="none" spc="0" normalizeH="0" baseline="0" noProof="0" dirty="0"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  <a:sym typeface="+mn-ea"/>
            </a:endParaRPr>
          </a:p>
          <a:p>
            <a:pPr marR="0" defTabSz="914400">
              <a:lnSpc>
                <a:spcPct val="150000"/>
              </a:lnSpc>
              <a:buClrTx/>
              <a:buSzTx/>
              <a:defRPr/>
            </a:pPr>
            <a:r>
              <a:rPr kumimoji="0" lang="zh-CN" altLang="en-US" b="1" kern="1200" cap="none" spc="0" normalizeH="0" baseline="0" noProof="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    </a:t>
            </a:r>
            <a:r>
              <a:rPr kumimoji="0" lang="zh-CN" altLang="en-US" sz="2400" kern="1200" cap="none" spc="0" normalizeH="0" baseline="0" noProof="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可见，当平均码长接近像素级平均比特数</a:t>
            </a:r>
            <a:r>
              <a:rPr kumimoji="0" lang="en-US" altLang="zh-CN" sz="2400" kern="1200" cap="none" spc="0" normalizeH="0" baseline="0" noProof="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H(x)</a:t>
            </a:r>
            <a:r>
              <a:rPr kumimoji="0" lang="zh-CN" altLang="en-US" sz="2400" kern="1200" cap="none" spc="0" normalizeH="0" baseline="0" noProof="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时，冗余度接近为</a:t>
            </a:r>
            <a:r>
              <a:rPr kumimoji="0" lang="en-US" altLang="zh-CN" sz="2400" kern="1200" cap="none" spc="0" normalizeH="0" baseline="0" noProof="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0</a:t>
            </a:r>
            <a:r>
              <a:rPr kumimoji="0" lang="zh-CN" altLang="en-US" sz="2400" kern="1200" cap="none" spc="0" normalizeH="0" baseline="0" noProof="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，编码效率接近</a:t>
            </a:r>
            <a:r>
              <a:rPr kumimoji="0" lang="en-US" altLang="zh-CN" sz="2400" kern="1200" cap="none" spc="0" normalizeH="0" baseline="0" noProof="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1</a:t>
            </a:r>
            <a:r>
              <a:rPr kumimoji="0" lang="zh-CN" altLang="en-US" sz="2400" kern="1200" cap="none" spc="0" normalizeH="0" baseline="0" noProof="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，这正是高效编码追求的目标。</a:t>
            </a:r>
            <a:endParaRPr kumimoji="0" lang="zh-CN" altLang="en-US" sz="2400" kern="1200" cap="none" spc="0" normalizeH="0" baseline="0" noProof="0" dirty="0"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  <a:sym typeface="+mn-ea"/>
            </a:endParaRPr>
          </a:p>
        </p:txBody>
      </p:sp>
      <p:graphicFrame>
        <p:nvGraphicFramePr>
          <p:cNvPr id="24579" name="图片 2" descr="image13"/>
          <p:cNvGraphicFramePr/>
          <p:nvPr/>
        </p:nvGraphicFramePr>
        <p:xfrm>
          <a:off x="3421063" y="2068830"/>
          <a:ext cx="1120775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" r:id="rId1" imgW="825500" imgH="469900" progId="Equation.DSMT4">
                  <p:embed/>
                </p:oleObj>
              </mc:Choice>
              <mc:Fallback>
                <p:oleObj name="" r:id="rId1" imgW="825500" imgH="4699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21063" y="2068830"/>
                        <a:ext cx="1120775" cy="658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图片 2" descr="image14"/>
          <p:cNvGraphicFramePr/>
          <p:nvPr/>
        </p:nvGraphicFramePr>
        <p:xfrm>
          <a:off x="3240088" y="3328670"/>
          <a:ext cx="148272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4" name="" r:id="rId3" imgW="1091565" imgH="482600" progId="Equation.DSMT4">
                  <p:embed/>
                </p:oleObj>
              </mc:Choice>
              <mc:Fallback>
                <p:oleObj name="" r:id="rId3" imgW="1091565" imgH="4826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40088" y="3328670"/>
                        <a:ext cx="1482725" cy="676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endParaRPr lang="zh-CN" altLang="en-US" dirty="0"/>
          </a:p>
        </p:txBody>
      </p:sp>
      <p:sp>
        <p:nvSpPr>
          <p:cNvPr id="25602" name="矩形 5"/>
          <p:cNvSpPr/>
          <p:nvPr/>
        </p:nvSpPr>
        <p:spPr>
          <a:xfrm>
            <a:off x="500063" y="1500188"/>
            <a:ext cx="8143875" cy="390779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buFont typeface="Arial" panose="020B0604020202020204" pitchFamily="34" charset="0"/>
            </a:pPr>
            <a:r>
              <a:rPr lang="zh-CN" altLang="en-US" b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⑤图像压缩比：</a:t>
            </a:r>
            <a:endParaRPr lang="zh-CN" altLang="en-US" b="1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b="1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  <a:p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压缩比是衡量数据压缩方法的压缩程度的指标：</a:t>
            </a:r>
            <a:endParaRPr lang="zh-CN" altLang="en-US" sz="2400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  <a:p>
            <a:endParaRPr lang="en-US" altLang="zh-CN" sz="2400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  <a:p>
            <a:endParaRPr lang="en-US" altLang="zh-CN" sz="2400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  <a:p>
            <a:endParaRPr lang="en-US" altLang="zh-CN" sz="2400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  <a:p>
            <a:endParaRPr lang="en-US" altLang="zh-CN" sz="2400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  <a:p>
            <a:endParaRPr lang="en-US" altLang="zh-CN" sz="2400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  <a:p>
            <a:endParaRPr lang="en-US" altLang="zh-CN" sz="2400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  <a:p>
            <a:endParaRPr lang="en-US" altLang="zh-CN" sz="2400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</p:txBody>
      </p:sp>
      <p:graphicFrame>
        <p:nvGraphicFramePr>
          <p:cNvPr id="25603" name="图片 2" descr="image14"/>
          <p:cNvGraphicFramePr/>
          <p:nvPr/>
        </p:nvGraphicFramePr>
        <p:xfrm>
          <a:off x="2627630" y="3284855"/>
          <a:ext cx="2632075" cy="1996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" name="" r:id="rId1" imgW="1536700" imgH="889000" progId="Equation.DSMT4">
                  <p:embed/>
                </p:oleObj>
              </mc:Choice>
              <mc:Fallback>
                <p:oleObj name="" r:id="rId1" imgW="1536700" imgH="8890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27630" y="3284855"/>
                        <a:ext cx="2632075" cy="19964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endParaRPr lang="zh-CN" altLang="en-US" dirty="0"/>
          </a:p>
        </p:txBody>
      </p:sp>
      <p:sp>
        <p:nvSpPr>
          <p:cNvPr id="26626" name="文本框 4"/>
          <p:cNvSpPr txBox="1"/>
          <p:nvPr/>
        </p:nvSpPr>
        <p:spPr>
          <a:xfrm>
            <a:off x="254000" y="1258888"/>
            <a:ext cx="8577263" cy="48679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lvl="1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anose="020B0604020202020204" pitchFamily="34" charset="0"/>
            </a:pPr>
            <a:r>
              <a:rPr lang="zh-CN" altLang="en-US" b="1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⑥保真度评价：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对图像的</a:t>
            </a: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失真程度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或质量进行评价，以便将图像失真限定在给定范围内。</a:t>
            </a:r>
            <a:endParaRPr lang="zh-CN" altLang="en-US" sz="2400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  <a:p>
            <a:pPr lvl="1" indent="0" eaLnBrk="1" hangingPunct="1"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</a:pP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1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ea typeface="华文行楷" panose="02010800040101010101" pitchFamily="2" charset="-122"/>
                <a:sym typeface="+mn-ea"/>
              </a:rPr>
              <a:t>  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均方误差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MSE</a:t>
            </a:r>
            <a:endParaRPr lang="en-US" altLang="zh-CN" sz="2400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  <a:p>
            <a:pPr lvl="1" indent="0" eaLnBrk="1" hangingPunct="1"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</a:pPr>
            <a:endParaRPr lang="en-US" altLang="zh-CN" sz="2400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</a:pP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    </a:t>
            </a:r>
            <a:endParaRPr lang="en-US" altLang="zh-CN" sz="2400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</a:pP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       f(x,y)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指原图像，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g(x,y)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为压缩后重建图像</a:t>
            </a:r>
            <a:endParaRPr lang="en-US" altLang="zh-CN" sz="2400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</a:pP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2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  信噪比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SNR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：指压缩前图像信号方差与解压缩后重建图像误差方差的比值。定义：</a:t>
            </a:r>
            <a:endParaRPr lang="zh-CN" altLang="en-US" sz="2400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</p:txBody>
      </p:sp>
      <p:graphicFrame>
        <p:nvGraphicFramePr>
          <p:cNvPr id="26627" name="Object 1" descr="image21"/>
          <p:cNvGraphicFramePr/>
          <p:nvPr/>
        </p:nvGraphicFramePr>
        <p:xfrm>
          <a:off x="2020888" y="3484880"/>
          <a:ext cx="50419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" name="" r:id="rId1" imgW="2413000" imgH="469900" progId="Equation.DSMT4">
                  <p:embed/>
                </p:oleObj>
              </mc:Choice>
              <mc:Fallback>
                <p:oleObj name="" r:id="rId1" imgW="2413000" imgH="4699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20888" y="3484880"/>
                        <a:ext cx="5041900" cy="749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endParaRPr lang="zh-CN" altLang="en-US" dirty="0"/>
          </a:p>
        </p:txBody>
      </p:sp>
      <p:sp>
        <p:nvSpPr>
          <p:cNvPr id="27650" name="文本框 3"/>
          <p:cNvSpPr txBox="1"/>
          <p:nvPr/>
        </p:nvSpPr>
        <p:spPr>
          <a:xfrm>
            <a:off x="257175" y="3124200"/>
            <a:ext cx="8369300" cy="1162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1" indent="0" eaLnBrk="1" hangingPunct="1"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</a:pP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SNR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越大，压缩过程引入的失真越小，图像质量越高。</a:t>
            </a:r>
            <a:endParaRPr lang="zh-CN" altLang="en-US" sz="2400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  <a:p>
            <a:pPr lvl="1" indent="0" eaLnBrk="1" hangingPunct="1">
              <a:lnSpc>
                <a:spcPct val="120000"/>
              </a:lnSpc>
              <a:spcBef>
                <a:spcPct val="50000"/>
              </a:spcBef>
              <a:buClr>
                <a:schemeClr val="tx2"/>
              </a:buClr>
            </a:pP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（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3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）峰值信噪比</a:t>
            </a:r>
            <a:r>
              <a:rPr lang="en-US" altLang="zh-CN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PSNR</a:t>
            </a:r>
            <a:r>
              <a:rPr lang="zh-CN" altLang="en-US" sz="2400" dirty="0">
                <a:solidFill>
                  <a:schemeClr val="tx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：</a:t>
            </a:r>
            <a:endParaRPr lang="zh-CN" altLang="en-US" sz="2400" dirty="0">
              <a:solidFill>
                <a:schemeClr val="tx2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</p:txBody>
      </p:sp>
      <p:graphicFrame>
        <p:nvGraphicFramePr>
          <p:cNvPr id="2" name="对象 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55650" y="1610995"/>
          <a:ext cx="7357110" cy="1161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" r:id="rId1" imgW="5549900" imgH="876300" progId="Equation.KSEE3">
                  <p:embed/>
                </p:oleObj>
              </mc:Choice>
              <mc:Fallback>
                <p:oleObj name="" r:id="rId1" imgW="5549900" imgH="876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5650" y="1610995"/>
                        <a:ext cx="7357110" cy="11614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502150" y="3282950"/>
          <a:ext cx="1397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" r:id="rId3" imgW="139700" imgH="292100" progId="Equation.KSEE3">
                  <p:embed/>
                </p:oleObj>
              </mc:Choice>
              <mc:Fallback>
                <p:oleObj name="" r:id="rId3" imgW="139700" imgH="2921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02150" y="3282950"/>
                        <a:ext cx="1397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99795" y="4413885"/>
          <a:ext cx="7081520" cy="1812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" r:id="rId5" imgW="4813300" imgH="1231265" progId="Equation.KSEE3">
                  <p:embed/>
                </p:oleObj>
              </mc:Choice>
              <mc:Fallback>
                <p:oleObj name="" r:id="rId5" imgW="4813300" imgH="1231265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99795" y="4413885"/>
                        <a:ext cx="7081520" cy="18122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10240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zh-CN" altLang="en-US" sz="4000" b="1" dirty="0">
                <a:ea typeface="楷体_GB2312" panose="02010609030101010101" pitchFamily="49" charset="-122"/>
              </a:rPr>
              <a:t>主观评价</a:t>
            </a:r>
            <a:endParaRPr lang="zh-CN" altLang="en-US" sz="4000" b="1" dirty="0">
              <a:ea typeface="楷体_GB2312" panose="02010609030101010101" pitchFamily="49" charset="-122"/>
            </a:endParaRPr>
          </a:p>
        </p:txBody>
      </p:sp>
      <p:sp>
        <p:nvSpPr>
          <p:cNvPr id="102403" name="文本占位符 102402"/>
          <p:cNvSpPr>
            <a:spLocks noGrp="1"/>
          </p:cNvSpPr>
          <p:nvPr>
            <p:ph type="body" sz="half" idx="1"/>
          </p:nvPr>
        </p:nvSpPr>
        <p:spPr>
          <a:xfrm>
            <a:off x="215900" y="1143000"/>
            <a:ext cx="8678863" cy="49403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57200" marR="0" lvl="1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  <a:sym typeface="+mn-ea"/>
              </a:rPr>
              <a:t>主观评价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  <a:sym typeface="+mn-ea"/>
              </a:rPr>
              <a:t>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  <a:sym typeface="+mn-ea"/>
              </a:rPr>
              <a:t>对于最终作为人的视觉感受使用的视觉图像，一般也采用主观评价的方法，如综合评价法：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  <a:sym typeface="+mn-ea"/>
              </a:rPr>
              <a:t>不同的观察者对给出的图像进行评价，然后将评价结果加以平均，作为综合评价的结果。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anose="02010609030101010101" pitchFamily="49" charset="-122"/>
              <a:ea typeface="楷体_GB2312" panose="02010609030101010101" pitchFamily="49" charset="-122"/>
              <a:cs typeface="+mn-cs"/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Tx/>
              <a:buFontTx/>
              <a:buChar char="•"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+mn-cs"/>
              <a:sym typeface="+mn-ea"/>
            </a:endParaRPr>
          </a:p>
        </p:txBody>
      </p:sp>
      <p:graphicFrame>
        <p:nvGraphicFramePr>
          <p:cNvPr id="31748" name="表格 31747"/>
          <p:cNvGraphicFramePr/>
          <p:nvPr>
            <p:custDataLst>
              <p:tags r:id="rId1"/>
            </p:custDataLst>
          </p:nvPr>
        </p:nvGraphicFramePr>
        <p:xfrm>
          <a:off x="887413" y="3168015"/>
          <a:ext cx="7723187" cy="2840355"/>
        </p:xfrm>
        <a:graphic>
          <a:graphicData uri="http://schemas.openxmlformats.org/drawingml/2006/table">
            <a:tbl>
              <a:tblPr/>
              <a:tblGrid>
                <a:gridCol w="865188"/>
                <a:gridCol w="1295400"/>
                <a:gridCol w="5562599"/>
              </a:tblGrid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Score</a:t>
                      </a:r>
                      <a:endParaRPr lang="en-US" altLang="zh-CN" sz="1800" b="1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评价</a:t>
                      </a:r>
                      <a:endParaRPr lang="zh-CN" altLang="en-US" sz="2000" b="1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Notes</a:t>
                      </a:r>
                      <a:endParaRPr lang="en-US" altLang="zh-CN" sz="2000" b="1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5</a:t>
                      </a:r>
                      <a:endParaRPr lang="en-US" altLang="zh-CN" sz="2000" b="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优秀</a:t>
                      </a:r>
                      <a:endParaRPr lang="zh-CN" altLang="en-US" sz="2000" b="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图像质量非常好</a:t>
                      </a:r>
                      <a:endParaRPr lang="zh-CN" altLang="en-US" sz="2000" b="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4</a:t>
                      </a:r>
                      <a:endParaRPr lang="en-US" altLang="zh-CN" sz="2000" b="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良好</a:t>
                      </a:r>
                      <a:endParaRPr lang="zh-CN" altLang="en-US" sz="2000" b="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图像质量高</a:t>
                      </a:r>
                      <a:r>
                        <a:rPr lang="en-US" altLang="zh-CN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,</a:t>
                      </a:r>
                      <a:r>
                        <a:rPr lang="zh-CN" altLang="en-US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有很小的干扰但不影响观看</a:t>
                      </a:r>
                      <a:endParaRPr lang="zh-CN" altLang="en-US" sz="2000" b="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64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3</a:t>
                      </a:r>
                      <a:endParaRPr lang="en-US" altLang="zh-CN" sz="2000" b="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中等</a:t>
                      </a:r>
                      <a:endParaRPr lang="zh-CN" altLang="en-US" sz="2000" b="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图像质量可接受</a:t>
                      </a:r>
                      <a:r>
                        <a:rPr lang="en-US" altLang="zh-CN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,</a:t>
                      </a:r>
                      <a:r>
                        <a:rPr lang="zh-CN" altLang="en-US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但有一些干扰</a:t>
                      </a:r>
                      <a:r>
                        <a:rPr lang="en-US" altLang="zh-CN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,</a:t>
                      </a:r>
                      <a:r>
                        <a:rPr lang="zh-CN" altLang="en-US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对观看稍有妨碍</a:t>
                      </a:r>
                      <a:endParaRPr lang="zh-CN" altLang="en-US" sz="2000" b="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2</a:t>
                      </a:r>
                      <a:endParaRPr lang="en-US" altLang="zh-CN" sz="2000" b="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差</a:t>
                      </a:r>
                      <a:endParaRPr lang="zh-CN" altLang="en-US" sz="2000" b="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图像质量差</a:t>
                      </a:r>
                      <a:r>
                        <a:rPr lang="en-US" altLang="zh-CN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,</a:t>
                      </a:r>
                      <a:r>
                        <a:rPr lang="zh-CN" altLang="en-US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对观看有妨碍</a:t>
                      </a:r>
                      <a:endParaRPr lang="zh-CN" altLang="en-US" sz="2000" b="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530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1</a:t>
                      </a:r>
                      <a:endParaRPr lang="en-US" altLang="zh-CN" sz="2000" b="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很差</a:t>
                      </a:r>
                      <a:r>
                        <a:rPr lang="en-US" altLang="zh-CN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,</a:t>
                      </a:r>
                      <a:r>
                        <a:rPr lang="zh-CN" altLang="en-US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劣</a:t>
                      </a:r>
                      <a:endParaRPr lang="zh-CN" altLang="en-US" sz="2000" b="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图像质量很差</a:t>
                      </a:r>
                      <a:r>
                        <a:rPr lang="en-US" altLang="zh-CN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,</a:t>
                      </a:r>
                      <a:r>
                        <a:rPr lang="zh-CN" altLang="en-US" sz="2000" b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无法观看</a:t>
                      </a:r>
                      <a:endParaRPr lang="zh-CN" altLang="en-US" sz="2000" b="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标题 105473"/>
          <p:cNvSpPr>
            <a:spLocks noGrp="1"/>
          </p:cNvSpPr>
          <p:nvPr>
            <p:ph type="title"/>
          </p:nvPr>
        </p:nvSpPr>
        <p:spPr>
          <a:xfrm>
            <a:off x="533400" y="152400"/>
            <a:ext cx="7793038" cy="9144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dirty="0">
                <a:ea typeface="楷体_GB2312" panose="02010609030101010101" pitchFamily="49" charset="-122"/>
              </a:rPr>
              <a:t>6.1.5  </a:t>
            </a:r>
            <a:r>
              <a:rPr lang="zh-CN" altLang="en-US" dirty="0">
                <a:ea typeface="楷体_GB2312" panose="02010609030101010101" pitchFamily="49" charset="-122"/>
              </a:rPr>
              <a:t>数据压缩方法的分类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8674" name="文本占位符 105474"/>
          <p:cNvSpPr>
            <a:spLocks noGrp="1"/>
          </p:cNvSpPr>
          <p:nvPr>
            <p:ph idx="1"/>
          </p:nvPr>
        </p:nvSpPr>
        <p:spPr>
          <a:xfrm>
            <a:off x="609600" y="1447800"/>
            <a:ext cx="8001000" cy="756920"/>
          </a:xfrm>
        </p:spPr>
        <p:txBody>
          <a:bodyPr vert="horz" wrap="square" lIns="91440" tIns="45720" rIns="91440" bIns="45720" anchor="t"/>
          <a:lstStyle/>
          <a:p>
            <a:pPr marL="342900" marR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1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1 .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无损压缩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（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Lossless Compression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）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:</a:t>
            </a:r>
            <a:endParaRPr kumimoji="0" lang="en-US" altLang="zh-CN" sz="3600" b="1" i="0" u="none" strike="noStrike" kern="1200" cap="none" spc="0" normalizeH="0" baseline="0" noProof="1">
              <a:solidFill>
                <a:schemeClr val="accent2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67493" y="4148773"/>
            <a:ext cx="3917950" cy="230695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特点：压缩解压过程，无信息损失，主要用于图像存档，但压缩比有限。也称无失真，无损，可逆型编码。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9795" y="2132965"/>
            <a:ext cx="50057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zh-CN" sz="2400" b="1" dirty="0">
                <a:solidFill>
                  <a:schemeClr val="tx1"/>
                </a:solidFill>
                <a:ea typeface="楷体_GB2312" panose="0201060903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 Huffman</a:t>
            </a:r>
            <a:r>
              <a:rPr lang="zh-CN" altLang="en-US" sz="24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编码</a:t>
            </a:r>
            <a:endParaRPr lang="zh-CN" altLang="en-US" sz="2400" b="1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61695" y="2963545"/>
            <a:ext cx="458025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ü"/>
            </a:pPr>
            <a:r>
              <a:rPr lang="en-US" altLang="zh-CN" sz="2400" b="1" dirty="0">
                <a:solidFill>
                  <a:schemeClr val="tx1"/>
                </a:solidFill>
                <a:ea typeface="+mn-ea"/>
                <a:sym typeface="+mn-ea"/>
              </a:rPr>
              <a:t>Shannon-Fanno</a:t>
            </a:r>
            <a:r>
              <a:rPr lang="zh-CN" altLang="en-US" sz="2400" b="1" dirty="0">
                <a:solidFill>
                  <a:schemeClr val="tx1"/>
                </a:solidFill>
                <a:ea typeface="+mn-ea"/>
                <a:sym typeface="+mn-ea"/>
              </a:rPr>
              <a:t>编码</a:t>
            </a:r>
            <a:endParaRPr lang="zh-CN" altLang="en-US" sz="2400" b="1" dirty="0">
              <a:solidFill>
                <a:schemeClr val="tx1"/>
              </a:solidFill>
              <a:latin typeface="楷体_GB2312" panose="02010609030101010101" pitchFamily="49" charset="-122"/>
              <a:ea typeface="+mn-ea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5185" y="3664585"/>
            <a:ext cx="458025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ü"/>
            </a:pPr>
            <a:r>
              <a:rPr lang="zh-CN" altLang="en-US" sz="2400" b="1" dirty="0">
                <a:solidFill>
                  <a:schemeClr val="tx1"/>
                </a:solidFill>
                <a:ea typeface="+mn-ea"/>
                <a:sym typeface="+mn-ea"/>
              </a:rPr>
              <a:t>算术编码</a:t>
            </a:r>
            <a:endParaRPr lang="zh-CN" altLang="en-US" sz="2400" b="1" dirty="0">
              <a:solidFill>
                <a:schemeClr val="tx1"/>
              </a:solidFill>
              <a:latin typeface="楷体_GB2312" panose="02010609030101010101" pitchFamily="49" charset="-122"/>
              <a:ea typeface="+mn-ea"/>
              <a:sym typeface="+mn-ea"/>
            </a:endParaRPr>
          </a:p>
        </p:txBody>
      </p:sp>
      <p:sp>
        <p:nvSpPr>
          <p:cNvPr id="6" name="右大括号 5"/>
          <p:cNvSpPr/>
          <p:nvPr/>
        </p:nvSpPr>
        <p:spPr>
          <a:xfrm>
            <a:off x="4477385" y="2291080"/>
            <a:ext cx="670560" cy="1782445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599430" y="2812415"/>
            <a:ext cx="199898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统计编码</a:t>
            </a:r>
            <a:endParaRPr lang="zh-CN" altLang="en-US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build="p"/>
      <p:bldP spid="28674" grpId="1" build="p"/>
      <p:bldP spid="2" grpId="0"/>
      <p:bldP spid="2" grpId="1"/>
      <p:bldP spid="3" grpId="0"/>
      <p:bldP spid="3" grpId="1"/>
      <p:bldP spid="4" grpId="0"/>
      <p:bldP spid="4" grpId="1"/>
      <p:bldP spid="5" grpId="0"/>
      <p:bldP spid="5" grpId="1"/>
      <p:bldP spid="6" grpId="0" animBg="1"/>
      <p:bldP spid="6" grpId="1" animBg="1"/>
      <p:bldP spid="7" grpId="0"/>
      <p:bldP spid="7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标题 105473"/>
          <p:cNvSpPr>
            <a:spLocks noGrp="1"/>
          </p:cNvSpPr>
          <p:nvPr>
            <p:ph type="title"/>
          </p:nvPr>
        </p:nvSpPr>
        <p:spPr>
          <a:xfrm>
            <a:off x="533400" y="152400"/>
            <a:ext cx="7793038" cy="9144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dirty="0">
                <a:ea typeface="楷体_GB2312" panose="02010609030101010101" pitchFamily="49" charset="-122"/>
              </a:rPr>
              <a:t>6.1.5  </a:t>
            </a:r>
            <a:r>
              <a:rPr lang="zh-CN" altLang="en-US" dirty="0">
                <a:ea typeface="楷体_GB2312" panose="02010609030101010101" pitchFamily="49" charset="-122"/>
              </a:rPr>
              <a:t>数据压缩方法的分类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8674" name="文本占位符 105474"/>
          <p:cNvSpPr>
            <a:spLocks noGrp="1"/>
          </p:cNvSpPr>
          <p:nvPr>
            <p:ph idx="1"/>
          </p:nvPr>
        </p:nvSpPr>
        <p:spPr>
          <a:xfrm>
            <a:off x="609600" y="1447800"/>
            <a:ext cx="8001000" cy="756920"/>
          </a:xfrm>
        </p:spPr>
        <p:txBody>
          <a:bodyPr vert="horz" wrap="square" lIns="91440" tIns="45720" rIns="91440" bIns="45720" anchor="t"/>
          <a:lstStyle/>
          <a:p>
            <a:pPr marL="342900" marR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kern="1200" cap="none" spc="0" normalizeH="0" baseline="0" noProof="1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2 .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有损压缩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（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  <a:sym typeface="+mn-ea"/>
              </a:rPr>
              <a:t>Lossy Compression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）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+mn-cs"/>
              </a:rPr>
              <a:t>:</a:t>
            </a:r>
            <a:endParaRPr kumimoji="0" lang="en-US" altLang="zh-CN" sz="3600" b="1" i="0" u="none" strike="noStrike" kern="1200" cap="none" spc="0" normalizeH="0" baseline="0" noProof="1">
              <a:solidFill>
                <a:schemeClr val="accent2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33788" y="2996883"/>
            <a:ext cx="3917950" cy="341503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特点：牺牲部分信息，来获取高压缩比，通过忽略人的视觉不敏感的次要信息来获取高的压缩比。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应用：数字电视，多媒体，图像传输等。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9795" y="2132965"/>
            <a:ext cx="50057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zh-CN" sz="2400" b="1" dirty="0">
                <a:solidFill>
                  <a:schemeClr val="tx1"/>
                </a:solidFill>
                <a:ea typeface="楷体_GB2312" panose="0201060903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zh-CN" altLang="zh-CN" sz="24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预测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编码</a:t>
            </a:r>
            <a:endParaRPr lang="zh-CN" altLang="en-US" sz="2400" b="1" dirty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61695" y="2963545"/>
            <a:ext cx="458025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ü"/>
            </a:pPr>
            <a:r>
              <a:rPr lang="zh-CN" altLang="en-US" sz="2400" b="1" dirty="0">
                <a:solidFill>
                  <a:schemeClr val="tx1"/>
                </a:solidFill>
                <a:ea typeface="+mn-ea"/>
                <a:sym typeface="+mn-ea"/>
              </a:rPr>
              <a:t>变换编码</a:t>
            </a:r>
            <a:endParaRPr lang="zh-CN" altLang="en-US" sz="2400" b="1" dirty="0">
              <a:solidFill>
                <a:schemeClr val="tx1"/>
              </a:solidFill>
              <a:latin typeface="楷体_GB2312" panose="02010609030101010101" pitchFamily="49" charset="-122"/>
              <a:ea typeface="+mn-ea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build="p"/>
      <p:bldP spid="28674" grpId="1" build="p"/>
      <p:bldP spid="2" grpId="0"/>
      <p:bldP spid="2" grpId="1"/>
      <p:bldP spid="3" grpId="0"/>
      <p:bldP spid="3" grpId="1"/>
      <p:bldP spid="4" grpId="0"/>
      <p:bldP spid="4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问题</a:t>
            </a:r>
            <a:endParaRPr lang="zh-CN" altLang="en-US" dirty="0"/>
          </a:p>
        </p:txBody>
      </p:sp>
      <p:sp>
        <p:nvSpPr>
          <p:cNvPr id="34818" name="内容占位符 2"/>
          <p:cNvSpPr>
            <a:spLocks noGrp="1"/>
          </p:cNvSpPr>
          <p:nvPr>
            <p:ph idx="1"/>
          </p:nvPr>
        </p:nvSpPr>
        <p:spPr>
          <a:xfrm>
            <a:off x="539750" y="1341438"/>
            <a:ext cx="8229600" cy="2393950"/>
          </a:xfrm>
        </p:spPr>
        <p:txBody>
          <a:bodyPr vert="horz" wrap="square" lIns="91440" tIns="45720" rIns="91440" bIns="45720" anchor="t" anchorCtr="0"/>
          <a:lstStyle/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1. </a:t>
            </a:r>
            <a:r>
              <a:rPr lang="zh-CN" altLang="en-US" dirty="0"/>
              <a:t>图像数据间存在的冗余有哪些？</a:t>
            </a:r>
            <a:endParaRPr lang="en-US" altLang="zh-CN" dirty="0"/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/>
              <a:t>2. </a:t>
            </a:r>
            <a:r>
              <a:rPr lang="zh-CN" altLang="en-US" dirty="0"/>
              <a:t>图像的压缩方法可以分为哪几类？分别有什么特点？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40289"/>
          <p:cNvSpPr>
            <a:spLocks noGrp="1"/>
          </p:cNvSpPr>
          <p:nvPr>
            <p:ph type="title"/>
          </p:nvPr>
        </p:nvSpPr>
        <p:spPr>
          <a:xfrm>
            <a:off x="228600" y="0"/>
            <a:ext cx="8229600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6.2 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统计编码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842" name="文本占位符 140290"/>
          <p:cNvSpPr>
            <a:spLocks noGrp="1"/>
          </p:cNvSpPr>
          <p:nvPr>
            <p:ph idx="1"/>
          </p:nvPr>
        </p:nvSpPr>
        <p:spPr>
          <a:xfrm>
            <a:off x="533400" y="1371600"/>
            <a:ext cx="7772400" cy="786765"/>
          </a:xfrm>
        </p:spPr>
        <p:txBody>
          <a:bodyPr vert="horz" wrap="square" lIns="91440" tIns="45720" rIns="91440" bIns="45720" anchor="t" anchorCtr="0"/>
          <a:lstStyle/>
          <a:p>
            <a:pPr indent="0" eaLnBrk="1" hangingPunct="1">
              <a:lnSpc>
                <a:spcPts val="3075"/>
              </a:lnSpc>
              <a:spcBef>
                <a:spcPct val="0"/>
              </a:spcBef>
            </a:pP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基本原理</a:t>
            </a:r>
            <a:endParaRPr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indent="0" eaLnBrk="1" hangingPunct="1">
              <a:lnSpc>
                <a:spcPts val="2975"/>
              </a:lnSpc>
              <a:spcBef>
                <a:spcPct val="0"/>
              </a:spcBef>
              <a:buNone/>
            </a:pPr>
            <a:endParaRPr lang="zh-CN" altLang="en-US" sz="28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lvl="1" indent="0" eaLnBrk="1" hangingPunct="1">
              <a:lnSpc>
                <a:spcPts val="2975"/>
              </a:lnSpc>
              <a:spcBef>
                <a:spcPct val="0"/>
              </a:spcBef>
            </a:pPr>
            <a:endParaRPr lang="zh-CN" altLang="en-US" sz="20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lvl="1" indent="0" eaLnBrk="1" latinLnBrk="0" hangingPunct="1">
              <a:lnSpc>
                <a:spcPct val="150000"/>
              </a:lnSpc>
              <a:spcBef>
                <a:spcPct val="0"/>
              </a:spcBef>
              <a:buNone/>
            </a:pP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8610" y="2125980"/>
            <a:ext cx="800798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    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根据信源的</a:t>
            </a:r>
            <a:r>
              <a:rPr lang="zh-CN" altLang="en-US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概率分布特性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，</a:t>
            </a:r>
            <a:r>
              <a:rPr lang="zh-CN" altLang="en-US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分配具有惟一可译性的可变长码字，概率大的信号对应的码字短，概率小的信号对应的码字长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。以此</a:t>
            </a:r>
            <a:r>
              <a:rPr lang="zh-CN" altLang="en-US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降低平均码字长度。</a:t>
            </a:r>
            <a:endParaRPr lang="en-US" altLang="zh-CN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标题 141313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762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dirty="0">
                <a:ea typeface="楷体_GB2312" panose="02010609030101010101" pitchFamily="49" charset="-122"/>
              </a:rPr>
              <a:t>6.2.1  Huffman</a:t>
            </a:r>
            <a:r>
              <a:rPr lang="zh-CN" altLang="en-US" dirty="0">
                <a:ea typeface="楷体_GB2312" panose="02010609030101010101" pitchFamily="49" charset="-122"/>
              </a:rPr>
              <a:t>编码</a:t>
            </a:r>
            <a:endParaRPr lang="zh-CN" altLang="en-US" dirty="0">
              <a:ea typeface="楷体_GB2312" panose="02010609030101010101" pitchFamily="49" charset="-122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idx="1"/>
          </p:nvPr>
        </p:nvSpPr>
        <p:spPr>
          <a:xfrm>
            <a:off x="611505" y="1125855"/>
            <a:ext cx="8229600" cy="248983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+mn-ea"/>
              </a:rPr>
              <a:t>1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+mn-ea"/>
              </a:rPr>
              <a:t>、前缀码（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+mn-ea"/>
              </a:rPr>
              <a:t>Prefix Code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+mn-ea"/>
              </a:rPr>
              <a:t>）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前缀码的构造采用根节点的概率为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二进制码树，这是典型的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二叉树数据结构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。实际的编码一般是全树的子树，如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Huffman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编码。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37891" name="文本框 4"/>
          <p:cNvSpPr txBox="1"/>
          <p:nvPr/>
        </p:nvSpPr>
        <p:spPr>
          <a:xfrm>
            <a:off x="3513455" y="6164898"/>
            <a:ext cx="2425700" cy="3984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4</a:t>
            </a:r>
            <a:r>
              <a:rPr lang="zh-CN" altLang="en-US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层树结构编码</a:t>
            </a:r>
            <a:endParaRPr lang="zh-CN" altLang="en-US" sz="20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pic>
        <p:nvPicPr>
          <p:cNvPr id="37892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3530" y="3429000"/>
            <a:ext cx="4133215" cy="2806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  <p:bldP spid="37891" grpId="0"/>
      <p:bldP spid="37891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标题 1"/>
          <p:cNvSpPr>
            <a:spLocks noGrp="1"/>
          </p:cNvSpPr>
          <p:nvPr>
            <p:ph type="title"/>
          </p:nvPr>
        </p:nvSpPr>
        <p:spPr>
          <a:xfrm>
            <a:off x="395288" y="115888"/>
            <a:ext cx="8229600" cy="841375"/>
          </a:xfrm>
        </p:spPr>
        <p:txBody>
          <a:bodyPr vert="horz" wrap="square" lIns="91440" tIns="45720" rIns="91440" bIns="45720" anchor="ctr" anchorCtr="0"/>
          <a:lstStyle/>
          <a:p>
            <a:pPr marL="342900" algn="l" defTabSz="914400" eaLnBrk="1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defRPr/>
            </a:pPr>
            <a:r>
              <a:rPr lang="en-US" altLang="zh-CN" sz="3200" b="1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2、前缀码特点</a:t>
            </a:r>
            <a:endParaRPr lang="en-US" altLang="zh-CN" sz="3200" b="1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4995" y="1549400"/>
            <a:ext cx="8229600" cy="106616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</a:rPr>
              <a:t>任意一个码字只与一种信号存在对应关系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</a:rPr>
              <a:t>任意一个码 字都不是其他码字的前缀。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594995" y="2615565"/>
            <a:ext cx="8229600" cy="7207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   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如一组图像的符号集合：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</p:txBody>
      </p:sp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391660" y="2786380"/>
          <a:ext cx="3082290" cy="379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9" name="" r:id="rId1" imgW="1854200" imgH="228600" progId="Equation.3">
                  <p:embed/>
                </p:oleObj>
              </mc:Choice>
              <mc:Fallback>
                <p:oleObj name="" r:id="rId1" imgW="1854200" imgH="228600" progId="Equation.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91660" y="2786380"/>
                        <a:ext cx="3082290" cy="3797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内容占位符 2"/>
          <p:cNvSpPr>
            <a:spLocks noGrp="1"/>
          </p:cNvSpPr>
          <p:nvPr/>
        </p:nvSpPr>
        <p:spPr>
          <a:xfrm>
            <a:off x="594995" y="3138805"/>
            <a:ext cx="8229600" cy="7207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设定的码子集合：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</p:txBody>
      </p:sp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406583" y="3319463"/>
          <a:ext cx="20478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0" name="" r:id="rId3" imgW="1231265" imgH="215900" progId="Equation.3">
                  <p:embed/>
                </p:oleObj>
              </mc:Choice>
              <mc:Fallback>
                <p:oleObj name="" r:id="rId3" imgW="1231265" imgH="215900" progId="Equation.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06583" y="3319463"/>
                        <a:ext cx="2047875" cy="358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内容占位符 2"/>
          <p:cNvSpPr>
            <a:spLocks noGrp="1"/>
          </p:cNvSpPr>
          <p:nvPr/>
        </p:nvSpPr>
        <p:spPr>
          <a:xfrm>
            <a:off x="594995" y="3691890"/>
            <a:ext cx="8229600" cy="74803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若一前缀码为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0101111100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，则译码输出的信号为：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  <a:p>
            <a:pPr marL="0" marR="0" lv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</p:txBody>
      </p:sp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079625" y="4424998"/>
          <a:ext cx="342138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1" name="" r:id="rId5" imgW="2057400" imgH="215900" progId="Equation.3">
                  <p:embed/>
                </p:oleObj>
              </mc:Choice>
              <mc:Fallback>
                <p:oleObj name="" r:id="rId5" imgW="2057400" imgH="215900" progId="Equation.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79625" y="4424998"/>
                        <a:ext cx="3421380" cy="358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973455" y="4921250"/>
            <a:ext cx="70739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前缀码保证译码的唯一性和</a:t>
            </a:r>
            <a:r>
              <a:rPr lang="en-US" altLang="zh-CN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即时性</a:t>
            </a:r>
            <a:r>
              <a:rPr lang="en-US" altLang="zh-CN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”</a:t>
            </a:r>
            <a:r>
              <a:rPr lang="zh-CN" altLang="en-US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。</a:t>
            </a:r>
            <a:endParaRPr lang="zh-CN" altLang="en-US" b="1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4" grpId="0"/>
      <p:bldP spid="4" grpId="1"/>
      <p:bldP spid="9" grpId="0"/>
      <p:bldP spid="9" grpId="1"/>
      <p:bldP spid="11" grpId="0"/>
      <p:bldP spid="11" grpId="1"/>
      <p:bldP spid="14" grpId="0"/>
      <p:bldP spid="14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14438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dirty="0">
                <a:ea typeface="楷体_GB2312" panose="02010609030101010101" pitchFamily="49" charset="-122"/>
              </a:rPr>
              <a:t>Huffman</a:t>
            </a:r>
            <a:r>
              <a:rPr lang="zh-CN" altLang="en-US" dirty="0">
                <a:ea typeface="楷体_GB2312" panose="02010609030101010101" pitchFamily="49" charset="-122"/>
              </a:rPr>
              <a:t>编码算法</a:t>
            </a:r>
            <a:endParaRPr lang="en-US" altLang="zh-CN" dirty="0">
              <a:ea typeface="楷体_GB2312" panose="02010609030101010101" pitchFamily="49" charset="-122"/>
            </a:endParaRPr>
          </a:p>
        </p:txBody>
      </p:sp>
      <p:sp>
        <p:nvSpPr>
          <p:cNvPr id="41986" name="文本占位符 144386"/>
          <p:cNvSpPr>
            <a:spLocks noGrp="1"/>
          </p:cNvSpPr>
          <p:nvPr>
            <p:ph idx="1"/>
          </p:nvPr>
        </p:nvSpPr>
        <p:spPr>
          <a:xfrm>
            <a:off x="395605" y="1430655"/>
            <a:ext cx="8439150" cy="541655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lnSpc>
                <a:spcPct val="125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① 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将图像的灰度等级按</a:t>
            </a:r>
            <a:r>
              <a:rPr lang="zh-CN" altLang="en-US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概率大小进行降序排序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50000"/>
              </a:spcBef>
              <a:buNone/>
            </a:pP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50000"/>
              </a:spcBef>
              <a:buNone/>
            </a:pP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50000"/>
              </a:spcBef>
              <a:buNone/>
            </a:pP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50000"/>
              </a:spcBef>
              <a:buNone/>
            </a:pP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50000"/>
              </a:spcBef>
              <a:buNone/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50000"/>
              </a:spcBef>
              <a:buNone/>
            </a:pPr>
            <a:endParaRPr lang="zh-CN" altLang="en-US" sz="24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2072005"/>
            <a:ext cx="874776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eaLnBrk="1" hangingPunct="1">
              <a:lnSpc>
                <a:spcPct val="125000"/>
              </a:lnSpc>
              <a:spcBef>
                <a:spcPct val="50000"/>
              </a:spcBef>
              <a:buNone/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 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②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在灰度级集合中取</a:t>
            </a:r>
            <a:r>
              <a:rPr lang="zh-CN" altLang="en-US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两个最小概率相加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，</a:t>
            </a:r>
            <a:r>
              <a:rPr lang="zh-CN" altLang="en-US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合成一个概率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。</a:t>
            </a:r>
            <a:endParaRPr lang="zh-CN" altLang="en-US" sz="24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5445" y="2717800"/>
            <a:ext cx="850201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eaLnBrk="1" hangingPunct="1">
              <a:lnSpc>
                <a:spcPct val="125000"/>
              </a:lnSpc>
              <a:spcBef>
                <a:spcPct val="50000"/>
              </a:spcBef>
              <a:buNone/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 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③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新合成的概率与其他的概率成员组成新的概率集合并排序。</a:t>
            </a:r>
            <a:endParaRPr lang="zh-CN" altLang="en-US" sz="24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4355" y="3188335"/>
            <a:ext cx="823214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④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在新的概率集合中，仍然按照步骤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②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～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③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的规则，直至新的概率集</a:t>
            </a:r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合</a:t>
            </a:r>
            <a:r>
              <a:rPr lang="zh-CN" altLang="en-US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中只有一个概率为</a:t>
            </a:r>
            <a:r>
              <a:rPr lang="en-US" altLang="zh-CN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1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的成员。这样的归并过程可以用二叉树结构描述。</a:t>
            </a:r>
            <a:endParaRPr lang="zh-CN" altLang="en-US" sz="24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1000" y="4826635"/>
            <a:ext cx="764857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 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⑤ </a:t>
            </a:r>
            <a:r>
              <a:rPr lang="zh-CN" altLang="en-US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从根节点按前缀码的编码规则进行二进制编码。</a:t>
            </a:r>
            <a:endParaRPr lang="zh-CN" altLang="en-US" sz="24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build="p"/>
      <p:bldP spid="41986" grpId="1" build="p"/>
      <p:bldP spid="2" grpId="0"/>
      <p:bldP spid="2" grpId="1"/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标题 222209"/>
          <p:cNvSpPr>
            <a:spLocks noGrp="1"/>
          </p:cNvSpPr>
          <p:nvPr>
            <p:ph type="title"/>
          </p:nvPr>
        </p:nvSpPr>
        <p:spPr>
          <a:xfrm>
            <a:off x="395288" y="115888"/>
            <a:ext cx="8229600" cy="1103312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zh-CN" altLang="en-US" dirty="0"/>
              <a:t>编码过程举例</a:t>
            </a:r>
            <a:endParaRPr lang="zh-CN" altLang="en-US" dirty="0"/>
          </a:p>
        </p:txBody>
      </p:sp>
      <p:sp>
        <p:nvSpPr>
          <p:cNvPr id="43010" name="内容占位符 222210"/>
          <p:cNvSpPr>
            <a:spLocks noGrp="1"/>
          </p:cNvSpPr>
          <p:nvPr>
            <p:ph idx="1"/>
          </p:nvPr>
        </p:nvSpPr>
        <p:spPr>
          <a:xfrm>
            <a:off x="381000" y="1658938"/>
            <a:ext cx="8229600" cy="16764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5000"/>
              </a:lnSpc>
              <a:spcBef>
                <a:spcPct val="50000"/>
              </a:spcBef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第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行和第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行列举了一个信源的统计特性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222248" name="表格 222247"/>
          <p:cNvGraphicFramePr/>
          <p:nvPr>
            <p:custDataLst>
              <p:tags r:id="rId1"/>
            </p:custDataLst>
          </p:nvPr>
        </p:nvGraphicFramePr>
        <p:xfrm>
          <a:off x="533400" y="3048000"/>
          <a:ext cx="8001000" cy="1844675"/>
        </p:xfrm>
        <a:graphic>
          <a:graphicData uri="http://schemas.openxmlformats.org/drawingml/2006/table">
            <a:tbl>
              <a:tblPr/>
              <a:tblGrid>
                <a:gridCol w="2438400"/>
                <a:gridCol w="838200"/>
                <a:gridCol w="838200"/>
                <a:gridCol w="990600"/>
                <a:gridCol w="914400"/>
                <a:gridCol w="1066800"/>
                <a:gridCol w="914400"/>
              </a:tblGrid>
              <a:tr h="8921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符号集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{x</a:t>
                      </a:r>
                      <a:r>
                        <a:rPr lang="en-US" altLang="zh-CN" sz="2400" b="1" i="1" baseline="-30000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i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} </a:t>
                      </a:r>
                      <a:r>
                        <a:rPr lang="zh-CN" altLang="en-US" sz="24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才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x</a:t>
                      </a:r>
                      <a:r>
                        <a:rPr lang="en-US" altLang="zh-CN" sz="2400" b="1" baseline="-3000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1</a:t>
                      </a:r>
                      <a:r>
                        <a:rPr lang="en-US" altLang="zh-CN" sz="2400" b="1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400" b="1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x</a:t>
                      </a:r>
                      <a:r>
                        <a:rPr lang="en-US" altLang="zh-CN" sz="2400" b="1" baseline="-3000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2</a:t>
                      </a:r>
                      <a:r>
                        <a:rPr lang="en-US" altLang="zh-CN" sz="2400" b="1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400" b="1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x</a:t>
                      </a:r>
                      <a:r>
                        <a:rPr lang="en-US" altLang="zh-CN" sz="2400" b="1" baseline="-3000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3</a:t>
                      </a:r>
                      <a:r>
                        <a:rPr lang="en-US" altLang="zh-CN" sz="2400" b="1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400" b="1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x</a:t>
                      </a:r>
                      <a:r>
                        <a:rPr lang="en-US" altLang="zh-CN" sz="2400" b="1" baseline="-3000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4</a:t>
                      </a:r>
                      <a:r>
                        <a:rPr lang="en-US" altLang="zh-CN" sz="2400" b="1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400" b="1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x</a:t>
                      </a:r>
                      <a:r>
                        <a:rPr lang="en-US" altLang="zh-CN" sz="2400" b="1" baseline="-3000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5</a:t>
                      </a:r>
                      <a:r>
                        <a:rPr lang="en-US" altLang="zh-CN" sz="2400" b="1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400" b="1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x</a:t>
                      </a:r>
                      <a:r>
                        <a:rPr lang="en-US" altLang="zh-CN" sz="2400" b="1" baseline="-3000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6</a:t>
                      </a:r>
                      <a:r>
                        <a:rPr lang="en-US" altLang="zh-CN" sz="2400" b="1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400" b="1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525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概率分布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{</a:t>
                      </a:r>
                      <a:r>
                        <a:rPr lang="en-US" altLang="zh-CN" sz="2400" b="1" i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p</a:t>
                      </a:r>
                      <a:r>
                        <a:rPr lang="en-US" altLang="zh-CN" sz="2400" b="1" i="1" baseline="-30000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i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} 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0.40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0.20</a:t>
                      </a:r>
                      <a:endParaRPr lang="en-US" altLang="zh-CN" sz="2400" b="1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0.12</a:t>
                      </a:r>
                      <a:endParaRPr lang="en-US" altLang="zh-CN" sz="2400" b="1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0.11</a:t>
                      </a:r>
                      <a:endParaRPr lang="en-US" altLang="zh-CN" sz="2400" b="1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0.09</a:t>
                      </a:r>
                      <a:endParaRPr lang="en-US" altLang="zh-CN" sz="2400" b="1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0.08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3037" name="文本框 1"/>
          <p:cNvSpPr txBox="1"/>
          <p:nvPr/>
        </p:nvSpPr>
        <p:spPr>
          <a:xfrm>
            <a:off x="566738" y="1158875"/>
            <a:ext cx="2274887" cy="5222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【例</a:t>
            </a:r>
            <a:r>
              <a:rPr lang="en-US" altLang="zh-CN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6.1</a:t>
            </a:r>
            <a:r>
              <a:rPr lang="zh-CN" altLang="en-US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】：</a:t>
            </a:r>
            <a:endParaRPr lang="zh-CN" altLang="en-US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标题 24166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</a:rPr>
              <a:t>Huffman</a:t>
            </a:r>
            <a:r>
              <a:rPr lang="zh-CN" altLang="en-US" dirty="0">
                <a:latin typeface="Times New Roman" panose="02020603050405020304" pitchFamily="18" charset="0"/>
                <a:ea typeface="楷体_GB2312" panose="02010609030101010101" pitchFamily="49" charset="-122"/>
              </a:rPr>
              <a:t>编码示意图</a:t>
            </a:r>
            <a:endParaRPr lang="zh-CN" altLang="en-US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graphicFrame>
        <p:nvGraphicFramePr>
          <p:cNvPr id="44034" name="Object 2" descr="image30"/>
          <p:cNvGraphicFramePr/>
          <p:nvPr/>
        </p:nvGraphicFramePr>
        <p:xfrm>
          <a:off x="395288" y="1684338"/>
          <a:ext cx="4724400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3" name="" r:id="rId1" imgW="2868930" imgH="1013460" progId="">
                  <p:embed/>
                </p:oleObj>
              </mc:Choice>
              <mc:Fallback>
                <p:oleObj name="" r:id="rId1" imgW="2868930" imgH="1013460" progId="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5288" y="1684338"/>
                        <a:ext cx="4724400" cy="1987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5" name="Object 1" descr="image31"/>
          <p:cNvGraphicFramePr/>
          <p:nvPr/>
        </p:nvGraphicFramePr>
        <p:xfrm>
          <a:off x="5256213" y="1400175"/>
          <a:ext cx="3581400" cy="269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name="" r:id="rId3" imgW="1729740" imgH="1303020" progId="">
                  <p:embed/>
                </p:oleObj>
              </mc:Choice>
              <mc:Fallback>
                <p:oleObj name="" r:id="rId3" imgW="1729740" imgH="1303020" progId="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56213" y="1400175"/>
                        <a:ext cx="3581400" cy="2697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表格 7173"/>
          <p:cNvGraphicFramePr/>
          <p:nvPr>
            <p:custDataLst>
              <p:tags r:id="rId5"/>
            </p:custDataLst>
          </p:nvPr>
        </p:nvGraphicFramePr>
        <p:xfrm>
          <a:off x="623888" y="4452938"/>
          <a:ext cx="8001000" cy="928370"/>
        </p:xfrm>
        <a:graphic>
          <a:graphicData uri="http://schemas.openxmlformats.org/drawingml/2006/table">
            <a:tbl>
              <a:tblPr/>
              <a:tblGrid>
                <a:gridCol w="2438400"/>
                <a:gridCol w="838200"/>
                <a:gridCol w="838200"/>
                <a:gridCol w="990600"/>
                <a:gridCol w="914400"/>
                <a:gridCol w="1066800"/>
                <a:gridCol w="914400"/>
              </a:tblGrid>
              <a:tr h="49974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18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符号集</a:t>
                      </a: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{x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i</a:t>
                      </a: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} </a:t>
                      </a:r>
                      <a:endParaRPr lang="en-US" altLang="zh-CN" sz="18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x</a:t>
                      </a:r>
                      <a:r>
                        <a:rPr lang="en-US" altLang="zh-CN" sz="1800" b="1" baseline="-30000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1</a:t>
                      </a: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18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x</a:t>
                      </a:r>
                      <a:r>
                        <a:rPr lang="en-US" altLang="zh-CN" sz="1800" b="1" baseline="-30000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2</a:t>
                      </a: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18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x</a:t>
                      </a:r>
                      <a:r>
                        <a:rPr lang="en-US" altLang="zh-CN" sz="1800" b="1" baseline="-30000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3</a:t>
                      </a: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18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x</a:t>
                      </a:r>
                      <a:r>
                        <a:rPr lang="en-US" altLang="zh-CN" sz="1800" b="1" baseline="-30000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4</a:t>
                      </a: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18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x</a:t>
                      </a:r>
                      <a:r>
                        <a:rPr lang="en-US" altLang="zh-CN" sz="1800" b="1" baseline="-30000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5</a:t>
                      </a: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18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x</a:t>
                      </a:r>
                      <a:r>
                        <a:rPr lang="en-US" altLang="zh-CN" sz="1800" b="1" baseline="-30000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6</a:t>
                      </a: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18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86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Huffman</a:t>
                      </a:r>
                      <a:r>
                        <a:rPr lang="zh-CN" altLang="en-US" sz="18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编码 </a:t>
                      </a:r>
                      <a:endParaRPr lang="en-US" altLang="zh-CN" sz="18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010</a:t>
                      </a:r>
                      <a:endParaRPr lang="en-US" altLang="zh-CN" sz="18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000</a:t>
                      </a:r>
                      <a:endParaRPr lang="en-US" altLang="zh-CN" sz="18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001</a:t>
                      </a:r>
                      <a:endParaRPr lang="en-US" altLang="zh-CN" sz="18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0110</a:t>
                      </a:r>
                      <a:endParaRPr lang="en-US" altLang="zh-CN" sz="18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0111</a:t>
                      </a:r>
                      <a:endParaRPr lang="en-US" altLang="zh-CN" sz="18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练习</a:t>
            </a:r>
            <a:endParaRPr lang="zh-CN" altLang="en-US" dirty="0"/>
          </a:p>
        </p:txBody>
      </p:sp>
      <p:sp>
        <p:nvSpPr>
          <p:cNvPr id="45058" name="文本占位符 222210"/>
          <p:cNvSpPr txBox="1"/>
          <p:nvPr/>
        </p:nvSpPr>
        <p:spPr>
          <a:xfrm>
            <a:off x="381000" y="1659255"/>
            <a:ext cx="8229600" cy="12477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lnSpc>
                <a:spcPct val="135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第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行和第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行列举了一个信源的统计特性，写出下列信源符号霍夫曼编码过程。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533400" y="3048000"/>
          <a:ext cx="8001028" cy="1844675"/>
        </p:xfrm>
        <a:graphic>
          <a:graphicData uri="http://schemas.openxmlformats.org/drawingml/2006/table">
            <a:tbl>
              <a:tblPr/>
              <a:tblGrid>
                <a:gridCol w="1638300"/>
                <a:gridCol w="900130"/>
                <a:gridCol w="857256"/>
                <a:gridCol w="857256"/>
                <a:gridCol w="857256"/>
                <a:gridCol w="1000132"/>
                <a:gridCol w="1000132"/>
                <a:gridCol w="890566"/>
              </a:tblGrid>
              <a:tr h="8921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符号集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{</a:t>
                      </a:r>
                      <a:r>
                        <a:rPr lang="en-US" altLang="zh-CN" sz="2400" b="1" i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  <a:sym typeface="+mn-ea"/>
                        </a:rPr>
                        <a:t>a</a:t>
                      </a:r>
                      <a:r>
                        <a:rPr lang="en-US" altLang="zh-CN" sz="2400" b="1" i="1" baseline="-30000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i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} 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i="1" baseline="0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r>
                        <a:rPr lang="en-US" altLang="zh-CN" sz="2400" b="1" baseline="-30000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1</a:t>
                      </a: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i="1" baseline="0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r>
                        <a:rPr lang="en-US" altLang="zh-CN" sz="2400" b="1" baseline="-30000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2</a:t>
                      </a: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i="1" baseline="0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r>
                        <a:rPr lang="en-US" altLang="zh-CN" sz="2400" b="1" baseline="-30000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3</a:t>
                      </a: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i="1" baseline="0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r>
                        <a:rPr lang="en-US" altLang="zh-CN" sz="2400" b="1" baseline="-30000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4</a:t>
                      </a: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i="1" baseline="0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r>
                        <a:rPr lang="en-US" altLang="zh-CN" sz="2400" b="1" baseline="-30000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5</a:t>
                      </a: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i="1" baseline="0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r>
                        <a:rPr lang="en-US" altLang="zh-CN" sz="2400" b="1" baseline="-30000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6</a:t>
                      </a: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i="1" baseline="0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r>
                        <a:rPr lang="en-US" altLang="zh-CN" sz="2400" b="1" i="0" baseline="-30000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7</a:t>
                      </a: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400" b="1" dirty="0" smtClean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  <a:p>
                      <a:pPr marL="0" lvl="0" indent="0" algn="ctr">
                        <a:buNone/>
                      </a:pP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525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概率分布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{</a:t>
                      </a:r>
                      <a:r>
                        <a:rPr lang="en-US" altLang="zh-CN" sz="2400" b="1" i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p</a:t>
                      </a:r>
                      <a:r>
                        <a:rPr lang="en-US" altLang="zh-CN" sz="2400" b="1" i="1" baseline="-30000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i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} 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0.16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0.4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0.12</a:t>
                      </a:r>
                      <a:endParaRPr lang="en-US" altLang="zh-CN" sz="2400" b="1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0.04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0.02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0.2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0.06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endParaRPr lang="zh-CN" altLang="en-US" dirty="0"/>
          </a:p>
        </p:txBody>
      </p:sp>
      <p:pic>
        <p:nvPicPr>
          <p:cNvPr id="46082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1188" y="1746250"/>
            <a:ext cx="8229600" cy="3714750"/>
          </a:xfrm>
        </p:spPr>
      </p:pic>
      <p:pic>
        <p:nvPicPr>
          <p:cNvPr id="46083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75" y="5546725"/>
            <a:ext cx="3381375" cy="352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084" name="TextBox 5"/>
          <p:cNvSpPr txBox="1"/>
          <p:nvPr/>
        </p:nvSpPr>
        <p:spPr>
          <a:xfrm>
            <a:off x="2928938" y="5929313"/>
            <a:ext cx="3286125" cy="400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二叉树码字分配过程？</a:t>
            </a:r>
            <a:endParaRPr lang="zh-CN" altLang="en-US" sz="20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endParaRPr lang="zh-CN" altLang="en-US" dirty="0"/>
          </a:p>
        </p:txBody>
      </p:sp>
      <p:pic>
        <p:nvPicPr>
          <p:cNvPr id="47106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055" y="1747203"/>
            <a:ext cx="8648700" cy="3362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07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625" y="5235575"/>
            <a:ext cx="2371725" cy="371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457835" y="2637155"/>
          <a:ext cx="8402320" cy="2449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290"/>
                <a:gridCol w="1050290"/>
                <a:gridCol w="1050290"/>
                <a:gridCol w="1050290"/>
                <a:gridCol w="1050290"/>
                <a:gridCol w="1050290"/>
                <a:gridCol w="1050290"/>
                <a:gridCol w="1050290"/>
              </a:tblGrid>
              <a:tr h="85534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信源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400" b="1" i="1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r>
                        <a:rPr lang="en-US" altLang="zh-CN" sz="2400" b="1" baseline="-30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1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400" b="1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400" b="1" i="1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r>
                        <a:rPr lang="en-US" altLang="zh-CN" sz="2400" b="1" baseline="-30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2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400" b="1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400" b="1" i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r>
                        <a:rPr lang="en-US" altLang="zh-CN" sz="2400" b="1" baseline="-30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3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400" b="1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400" b="1" i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r>
                        <a:rPr lang="en-US" altLang="zh-CN" sz="2400" b="1" baseline="-30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4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400" b="1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400" b="1" i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r>
                        <a:rPr lang="en-US" altLang="zh-CN" sz="2400" b="1" baseline="-30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5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400" b="1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400" b="1" i="1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r>
                        <a:rPr lang="en-US" altLang="zh-CN" sz="2400" b="1" baseline="-30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6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400" b="1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i="1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r>
                        <a:rPr lang="en-US" altLang="zh-CN" sz="2400" b="1" i="0" baseline="-30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7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400" b="1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82677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概率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0.16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0.4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400" b="1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0.12</a:t>
                      </a:r>
                      <a:endParaRPr lang="en-US" altLang="zh-CN" sz="2400" b="1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0.04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0.02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0.2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0.06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6771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码字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01110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01111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0110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271145" y="1520190"/>
            <a:ext cx="316293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Huffman</a:t>
            </a:r>
            <a:r>
              <a:rPr lang="zh-CN" altLang="en-US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编码：</a:t>
            </a:r>
            <a:endParaRPr lang="zh-CN" altLang="en-US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97815" y="995045"/>
            <a:ext cx="823277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计算与编码性能相关的参数：</a:t>
            </a:r>
            <a:endParaRPr lang="zh-CN" altLang="en-US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7815" y="1566545"/>
            <a:ext cx="823277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）：信源的熵</a:t>
            </a:r>
            <a:endParaRPr lang="zh-CN" altLang="en-US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graphicFrame>
        <p:nvGraphicFramePr>
          <p:cNvPr id="7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615440" y="2206625"/>
          <a:ext cx="3688715" cy="716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" name="" r:id="rId1" imgW="2222500" imgH="431800" progId="Equation.3">
                  <p:embed/>
                </p:oleObj>
              </mc:Choice>
              <mc:Fallback>
                <p:oleObj name="" r:id="rId1" imgW="2222500" imgH="431800" progId="Equation.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15440" y="2206625"/>
                        <a:ext cx="3688715" cy="7169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281305" y="2841625"/>
            <a:ext cx="823277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）：平均码字长度</a:t>
            </a:r>
            <a:endParaRPr lang="zh-CN" altLang="en-US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263015" y="3528060"/>
          <a:ext cx="7362190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" name="" r:id="rId3" imgW="4279900" imgH="889000" progId="Equation.3">
                  <p:embed/>
                </p:oleObj>
              </mc:Choice>
              <mc:Fallback>
                <p:oleObj name="" r:id="rId3" imgW="4279900" imgH="889000" progId="Equation.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63015" y="3528060"/>
                        <a:ext cx="7362190" cy="1530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264795" y="4906010"/>
            <a:ext cx="823277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）：编码效率</a:t>
            </a:r>
            <a:endParaRPr lang="zh-CN" altLang="en-US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graphicFrame>
        <p:nvGraphicFramePr>
          <p:cNvPr id="11" name="对象 1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342833" y="5528628"/>
          <a:ext cx="3469005" cy="934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3" name="" r:id="rId5" imgW="1651000" imgH="444500" progId="Equation.3">
                  <p:embed/>
                </p:oleObj>
              </mc:Choice>
              <mc:Fallback>
                <p:oleObj name="" r:id="rId5" imgW="1651000" imgH="444500" progId="Equation.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42833" y="5528628"/>
                        <a:ext cx="3469005" cy="9347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8" grpId="0"/>
      <p:bldP spid="8" grpId="1"/>
      <p:bldP spid="10" grpId="0"/>
      <p:bldP spid="10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97815" y="995045"/>
            <a:ext cx="823277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计算与编码性能相关的参数：</a:t>
            </a:r>
            <a:endParaRPr lang="zh-CN" altLang="en-US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7815" y="1566545"/>
            <a:ext cx="823277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4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）：冗余度</a:t>
            </a:r>
            <a:endParaRPr lang="zh-CN" altLang="en-US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graphicFrame>
        <p:nvGraphicFramePr>
          <p:cNvPr id="7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176463" y="2269490"/>
          <a:ext cx="354774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7" name="" r:id="rId1" imgW="1688465" imgH="215900" progId="Equation.3">
                  <p:embed/>
                </p:oleObj>
              </mc:Choice>
              <mc:Fallback>
                <p:oleObj name="" r:id="rId1" imgW="1688465" imgH="215900" progId="Equation.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76463" y="2269490"/>
                        <a:ext cx="3547745" cy="45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264795" y="2508250"/>
            <a:ext cx="823277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5</a:t>
            </a:r>
            <a:r>
              <a:rPr lang="zh-CN" altLang="en-US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）：压缩比</a:t>
            </a:r>
            <a:endParaRPr lang="zh-CN" altLang="en-US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258060" y="3018790"/>
          <a:ext cx="2894965" cy="831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8" name="" r:id="rId3" imgW="1548765" imgH="444500" progId="Equation.3">
                  <p:embed/>
                </p:oleObj>
              </mc:Choice>
              <mc:Fallback>
                <p:oleObj name="" r:id="rId3" imgW="1548765" imgH="444500" progId="Equation.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58060" y="3018790"/>
                        <a:ext cx="2894965" cy="8312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5" name="文本框 4"/>
          <p:cNvSpPr txBox="1"/>
          <p:nvPr/>
        </p:nvSpPr>
        <p:spPr>
          <a:xfrm>
            <a:off x="545465" y="3851593"/>
            <a:ext cx="7985125" cy="286131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霍夫曼编码是无失真编码中效率较高的一种编码方法，在分配码字过程中，</a:t>
            </a:r>
            <a:r>
              <a:rPr lang="zh-CN" altLang="en-US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随机赋</a:t>
            </a:r>
            <a:r>
              <a:rPr lang="en-US" altLang="zh-CN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“0”</a:t>
            </a:r>
            <a:r>
              <a:rPr lang="zh-CN" altLang="en-US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和</a:t>
            </a:r>
            <a:r>
              <a:rPr lang="en-US" altLang="zh-CN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“1”</a:t>
            </a:r>
            <a:r>
              <a:rPr lang="zh-CN" altLang="en-US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的不同，结果会使码字不唯一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，而</a:t>
            </a:r>
            <a:r>
              <a:rPr lang="zh-CN" altLang="en-US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码字长和平均码字不会改变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，它也是唯一可解码的。但缺点是：</a:t>
            </a:r>
            <a:r>
              <a:rPr lang="zh-CN" altLang="en-US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信源缩减过程复杂，运算量大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。为克服这个缺点，也提出了一些改进方法。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8" grpId="0"/>
      <p:bldP spid="8" grpId="1"/>
      <p:bldP spid="49155" grpId="0"/>
      <p:bldP spid="49155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内容占位符 2"/>
          <p:cNvSpPr>
            <a:spLocks noGrp="1"/>
          </p:cNvSpPr>
          <p:nvPr>
            <p:ph idx="1"/>
          </p:nvPr>
        </p:nvSpPr>
        <p:spPr>
          <a:xfrm>
            <a:off x="179705" y="1340485"/>
            <a:ext cx="8324215" cy="5969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Font typeface="Wingdings" panose="05000000000000000000" charset="0"/>
              <a:buChar char="u"/>
            </a:pPr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具体编码方法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:</a:t>
            </a:r>
            <a:endParaRPr lang="en-US" altLang="zh-CN" sz="2400" b="1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50178" name="标题 150529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10668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sz="4000" dirty="0">
                <a:ea typeface="楷体_GB2312" panose="02010609030101010101" pitchFamily="49" charset="-122"/>
              </a:rPr>
              <a:t>6.2.2  </a:t>
            </a:r>
            <a:r>
              <a:rPr lang="zh-CN" altLang="en-US" sz="4000" dirty="0">
                <a:ea typeface="楷体_GB2312" panose="02010609030101010101" pitchFamily="49" charset="-122"/>
              </a:rPr>
              <a:t>香农</a:t>
            </a:r>
            <a:r>
              <a:rPr lang="en-US" altLang="zh-CN" sz="4000" dirty="0">
                <a:ea typeface="楷体_GB2312" panose="02010609030101010101" pitchFamily="49" charset="-122"/>
              </a:rPr>
              <a:t>-</a:t>
            </a:r>
            <a:r>
              <a:rPr lang="zh-CN" altLang="en-US" sz="4000" dirty="0">
                <a:ea typeface="楷体_GB2312" panose="02010609030101010101" pitchFamily="49" charset="-122"/>
              </a:rPr>
              <a:t>费诺编码法</a:t>
            </a:r>
            <a:endParaRPr lang="zh-CN" altLang="en-US" sz="4000" dirty="0">
              <a:ea typeface="楷体_GB2312" panose="0201060903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9705" y="1847215"/>
            <a:ext cx="83140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）将信符</a:t>
            </a:r>
            <a:r>
              <a:rPr lang="en-US" altLang="zh-CN" sz="24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X</a:t>
            </a:r>
            <a:r>
              <a:rPr lang="en-US" altLang="zh-CN" sz="2400" b="1" baseline="-250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i</a:t>
            </a:r>
            <a:r>
              <a:rPr lang="zh-CN" altLang="en-US" sz="24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按照出现概率从大到小排序</a:t>
            </a:r>
            <a:r>
              <a:rPr lang="zh-CN" altLang="en-US" sz="24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。</a:t>
            </a:r>
            <a:endParaRPr lang="zh-CN" altLang="en-US" sz="2400" baseline="-25000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3195" y="3696335"/>
            <a:ext cx="83140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）将</a:t>
            </a:r>
            <a:r>
              <a:rPr lang="en-US" altLang="zh-CN" sz="24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X</a:t>
            </a:r>
            <a:r>
              <a:rPr lang="zh-CN" altLang="en-US" sz="24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分成两个子集：</a:t>
            </a:r>
            <a:endParaRPr lang="zh-CN" altLang="en-US" sz="2400" baseline="-25000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295400" y="2656205"/>
          <a:ext cx="4842510" cy="1040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1" name="" r:id="rId1" imgW="2247900" imgH="482600" progId="Equation.KSEE3">
                  <p:embed/>
                </p:oleObj>
              </mc:Choice>
              <mc:Fallback>
                <p:oleObj name="" r:id="rId1" imgW="2247900" imgH="482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5400" y="2656205"/>
                        <a:ext cx="4842510" cy="1040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67385" y="4586605"/>
          <a:ext cx="6905625" cy="1093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2" name="" r:id="rId3" imgW="3048000" imgH="482600" progId="Equation.KSEE3">
                  <p:embed/>
                </p:oleObj>
              </mc:Choice>
              <mc:Fallback>
                <p:oleObj name="" r:id="rId3" imgW="3048000" imgH="482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7385" y="4586605"/>
                        <a:ext cx="6905625" cy="1093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7" grpId="0" build="p"/>
      <p:bldP spid="50177" grpId="1" build="p"/>
      <p:bldP spid="6" grpId="0"/>
      <p:bldP spid="6" grpId="1"/>
      <p:bldP spid="4" grpId="0"/>
      <p:bldP spid="4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69265" y="1509395"/>
            <a:ext cx="19424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要求：</a:t>
            </a:r>
            <a:endParaRPr lang="zh-CN" altLang="en-US" b="1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7315" y="2780665"/>
            <a:ext cx="83140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）</a:t>
            </a:r>
            <a:r>
              <a:rPr lang="zh-CN" altLang="en-US" sz="24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给两个子集赋不同的码元值，如</a:t>
            </a:r>
            <a:r>
              <a:rPr lang="en-US" altLang="zh-CN" sz="24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 X</a:t>
            </a:r>
            <a:r>
              <a:rPr lang="en-US" altLang="zh-CN" sz="2400" baseline="-250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1 </a:t>
            </a:r>
            <a:r>
              <a:rPr lang="zh-CN" altLang="en-US" sz="24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中的符号赋</a:t>
            </a:r>
            <a:r>
              <a:rPr lang="en-US" altLang="zh-CN" sz="24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“0”</a:t>
            </a:r>
            <a:r>
              <a:rPr lang="zh-CN" altLang="en-US" sz="24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X</a:t>
            </a:r>
            <a:r>
              <a:rPr lang="en-US" altLang="zh-CN" sz="2400" baseline="-250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中的符号就赋</a:t>
            </a:r>
            <a:r>
              <a:rPr lang="en-US" altLang="zh-CN" sz="24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“1”</a:t>
            </a:r>
            <a:r>
              <a:rPr lang="zh-CN" altLang="en-US" sz="24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，也可以反过来。</a:t>
            </a:r>
            <a:endParaRPr lang="zh-CN" altLang="en-US" sz="2400" baseline="-25000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0805" y="3983990"/>
            <a:ext cx="83140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4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4</a:t>
            </a:r>
            <a:r>
              <a:rPr lang="zh-CN" altLang="en-US" sz="2400" b="1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）</a:t>
            </a:r>
            <a:r>
              <a:rPr lang="zh-CN" altLang="en-US" sz="24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重复步骤（</a:t>
            </a:r>
            <a:r>
              <a:rPr lang="en-US" altLang="zh-CN" sz="24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），步骤（</a:t>
            </a:r>
            <a:r>
              <a:rPr lang="en-US" altLang="zh-CN" sz="24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），直到每个子集仅含一个信源为止。</a:t>
            </a:r>
            <a:endParaRPr lang="zh-CN" altLang="en-US" sz="2400" baseline="-25000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graphicFrame>
        <p:nvGraphicFramePr>
          <p:cNvPr id="2" name="对象 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024380" y="1509395"/>
          <a:ext cx="16637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5" name="" r:id="rId1" imgW="862965" imgH="444500" progId="Equation.KSEE3">
                  <p:embed/>
                </p:oleObj>
              </mc:Choice>
              <mc:Fallback>
                <p:oleObj name="" r:id="rId1" imgW="862965" imgH="4445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24380" y="1509395"/>
                        <a:ext cx="1663700" cy="857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6" grpId="0"/>
      <p:bldP spid="6" grpId="1"/>
      <p:bldP spid="7" grpId="0"/>
      <p:bldP spid="7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标题 1"/>
          <p:cNvSpPr>
            <a:spLocks noGrp="1"/>
          </p:cNvSpPr>
          <p:nvPr>
            <p:ph type="title"/>
          </p:nvPr>
        </p:nvSpPr>
        <p:spPr>
          <a:xfrm>
            <a:off x="35243" y="-27622"/>
            <a:ext cx="8229600" cy="1143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香农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费诺编码举例：</a:t>
            </a:r>
            <a:endParaRPr lang="zh-CN" altLang="en-US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47110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1528" y="3033078"/>
            <a:ext cx="5070475" cy="27130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11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188" y="5889625"/>
            <a:ext cx="2609850" cy="314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466725" y="2277745"/>
            <a:ext cx="28994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编码过程如下：</a:t>
            </a:r>
            <a:endParaRPr lang="zh-CN" altLang="en-US" sz="24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53110" y="1439545"/>
          <a:ext cx="637921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9" name="" r:id="rId3" imgW="3479800" imgH="457200" progId="Equation.KSEE3">
                  <p:embed/>
                </p:oleObj>
              </mc:Choice>
              <mc:Fallback>
                <p:oleObj name="" r:id="rId3" imgW="3479800" imgH="457200" progId="Equation.KSEE3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3110" y="1439545"/>
                        <a:ext cx="637921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7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endParaRPr lang="zh-CN" altLang="en-US" dirty="0"/>
          </a:p>
        </p:txBody>
      </p:sp>
      <p:graphicFrame>
        <p:nvGraphicFramePr>
          <p:cNvPr id="49155" name="表格 49154"/>
          <p:cNvGraphicFramePr/>
          <p:nvPr>
            <p:custDataLst>
              <p:tags r:id="rId1"/>
            </p:custDataLst>
          </p:nvPr>
        </p:nvGraphicFramePr>
        <p:xfrm>
          <a:off x="457200" y="1547337"/>
          <a:ext cx="8229600" cy="327723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826260"/>
                <a:gridCol w="918210"/>
                <a:gridCol w="786130"/>
                <a:gridCol w="918210"/>
                <a:gridCol w="984885"/>
                <a:gridCol w="984250"/>
                <a:gridCol w="860425"/>
                <a:gridCol w="951230"/>
              </a:tblGrid>
              <a:tr h="61404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spc="130">
                          <a:solidFill>
                            <a:srgbClr val="848587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符号集{xi}</a:t>
                      </a:r>
                      <a:endParaRPr lang="zh-CN" altLang="en-US" sz="1600" b="1" spc="130">
                        <a:solidFill>
                          <a:srgbClr val="848587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spc="130">
                          <a:solidFill>
                            <a:srgbClr val="848587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a1</a:t>
                      </a:r>
                      <a:endParaRPr lang="en-US" altLang="zh-CN" sz="1600" b="1" spc="130">
                        <a:solidFill>
                          <a:srgbClr val="848587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spc="130">
                          <a:solidFill>
                            <a:srgbClr val="848587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a2</a:t>
                      </a:r>
                      <a:endParaRPr lang="en-US" altLang="zh-CN" sz="1600" b="1" spc="130">
                        <a:solidFill>
                          <a:srgbClr val="848587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spc="130">
                          <a:solidFill>
                            <a:srgbClr val="848587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a3</a:t>
                      </a:r>
                      <a:endParaRPr lang="en-US" altLang="zh-CN" sz="1600" b="1" spc="130">
                        <a:solidFill>
                          <a:srgbClr val="848587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spc="130">
                          <a:solidFill>
                            <a:srgbClr val="848587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a4</a:t>
                      </a:r>
                      <a:endParaRPr lang="en-US" altLang="zh-CN" sz="1600" b="1" spc="130">
                        <a:solidFill>
                          <a:srgbClr val="848587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spc="130">
                          <a:solidFill>
                            <a:srgbClr val="848587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a5</a:t>
                      </a:r>
                      <a:endParaRPr lang="en-US" altLang="zh-CN" sz="1600" b="1" spc="130">
                        <a:solidFill>
                          <a:srgbClr val="848587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spc="130">
                          <a:solidFill>
                            <a:srgbClr val="848587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a6</a:t>
                      </a:r>
                      <a:endParaRPr lang="en-US" altLang="zh-CN" sz="1600" b="1" spc="130">
                        <a:solidFill>
                          <a:srgbClr val="848587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spc="130">
                          <a:solidFill>
                            <a:srgbClr val="848587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a7</a:t>
                      </a:r>
                      <a:endParaRPr lang="en-US" altLang="zh-CN" sz="1600" b="1" spc="130">
                        <a:solidFill>
                          <a:srgbClr val="848587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773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1" spc="130">
                          <a:solidFill>
                            <a:srgbClr val="404040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概率分布{pi}</a:t>
                      </a:r>
                      <a:endParaRPr lang="zh-CN" altLang="en-US" sz="1400" b="1" spc="130">
                        <a:solidFill>
                          <a:srgbClr val="404040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spc="130">
                          <a:solidFill>
                            <a:srgbClr val="404040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0.16</a:t>
                      </a:r>
                      <a:endParaRPr lang="en-US" altLang="zh-CN" sz="1400" b="1" spc="130">
                        <a:solidFill>
                          <a:srgbClr val="404040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spc="130">
                          <a:solidFill>
                            <a:srgbClr val="404040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0.4</a:t>
                      </a:r>
                      <a:endParaRPr lang="en-US" altLang="zh-CN" sz="1400" b="1" spc="130">
                        <a:solidFill>
                          <a:srgbClr val="404040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spc="130">
                          <a:solidFill>
                            <a:srgbClr val="404040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0.12</a:t>
                      </a:r>
                      <a:endParaRPr lang="en-US" altLang="zh-CN" sz="1400" b="1" spc="130">
                        <a:solidFill>
                          <a:srgbClr val="404040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spc="130">
                          <a:solidFill>
                            <a:srgbClr val="404040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0.04</a:t>
                      </a:r>
                      <a:endParaRPr lang="en-US" altLang="zh-CN" sz="1400" b="1" spc="130">
                        <a:solidFill>
                          <a:srgbClr val="404040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spc="130">
                          <a:solidFill>
                            <a:srgbClr val="404040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0.02</a:t>
                      </a:r>
                      <a:endParaRPr lang="en-US" altLang="zh-CN" sz="1400" b="1" spc="130">
                        <a:solidFill>
                          <a:srgbClr val="404040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spc="130">
                          <a:solidFill>
                            <a:srgbClr val="404040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0.2</a:t>
                      </a:r>
                      <a:endParaRPr lang="en-US" altLang="zh-CN" sz="1400" b="1" spc="130">
                        <a:solidFill>
                          <a:srgbClr val="404040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spc="130">
                          <a:solidFill>
                            <a:srgbClr val="404040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0.06</a:t>
                      </a:r>
                      <a:endParaRPr lang="en-US" altLang="zh-CN" sz="1400" b="1" spc="130">
                        <a:solidFill>
                          <a:srgbClr val="404040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88773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1" spc="130">
                          <a:solidFill>
                            <a:srgbClr val="404040"/>
                          </a:solidFill>
                          <a:ea typeface="微软雅黑" panose="020B0503020204020204" charset="-122"/>
                        </a:rPr>
                        <a:t>香农费诺编码</a:t>
                      </a:r>
                      <a:endParaRPr lang="zh-CN" altLang="en-US" sz="1400" b="1" spc="130">
                        <a:solidFill>
                          <a:srgbClr val="404040"/>
                        </a:solidFill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spc="130">
                          <a:solidFill>
                            <a:srgbClr val="404040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101</a:t>
                      </a:r>
                      <a:endParaRPr lang="en-US" altLang="zh-CN" sz="1400" b="1" spc="130">
                        <a:solidFill>
                          <a:srgbClr val="404040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spc="130">
                          <a:solidFill>
                            <a:srgbClr val="404040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1400" b="1" spc="130">
                        <a:solidFill>
                          <a:srgbClr val="404040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spc="130">
                          <a:solidFill>
                            <a:srgbClr val="404040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110</a:t>
                      </a:r>
                      <a:endParaRPr lang="en-US" altLang="zh-CN" sz="1400" b="1" spc="130">
                        <a:solidFill>
                          <a:srgbClr val="404040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spc="130">
                          <a:solidFill>
                            <a:srgbClr val="404040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11110</a:t>
                      </a:r>
                      <a:endParaRPr lang="en-US" altLang="zh-CN" sz="1400" b="1" spc="130">
                        <a:solidFill>
                          <a:srgbClr val="404040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spc="130">
                          <a:solidFill>
                            <a:srgbClr val="404040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11111</a:t>
                      </a:r>
                      <a:endParaRPr lang="en-US" altLang="zh-CN" sz="1400" b="1" spc="130">
                        <a:solidFill>
                          <a:srgbClr val="404040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spc="130">
                          <a:solidFill>
                            <a:srgbClr val="404040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100</a:t>
                      </a:r>
                      <a:endParaRPr lang="en-US" altLang="zh-CN" sz="1400" b="1" spc="130">
                        <a:solidFill>
                          <a:srgbClr val="404040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spc="130">
                          <a:solidFill>
                            <a:srgbClr val="404040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1110</a:t>
                      </a:r>
                      <a:endParaRPr lang="en-US" altLang="zh-CN" sz="1400" b="1" spc="130">
                        <a:solidFill>
                          <a:srgbClr val="404040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solidFill>
                      <a:srgbClr val="F2F2F2"/>
                    </a:solidFill>
                  </a:tcPr>
                </a:tc>
              </a:tr>
              <a:tr h="88773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1" spc="130">
                          <a:solidFill>
                            <a:srgbClr val="404040"/>
                          </a:solidFill>
                          <a:ea typeface="微软雅黑" panose="020B0503020204020204" charset="-122"/>
                        </a:rPr>
                        <a:t>霍夫曼编码</a:t>
                      </a:r>
                      <a:endParaRPr lang="zh-CN" altLang="en-US" sz="1400" b="1" spc="130">
                        <a:solidFill>
                          <a:srgbClr val="404040"/>
                        </a:solidFill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spc="130">
                          <a:solidFill>
                            <a:srgbClr val="404040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001</a:t>
                      </a:r>
                      <a:endParaRPr lang="en-US" altLang="zh-CN" sz="1400" b="1" spc="130">
                        <a:solidFill>
                          <a:srgbClr val="404040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spc="130">
                          <a:solidFill>
                            <a:srgbClr val="404040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400" b="1" spc="130">
                        <a:solidFill>
                          <a:srgbClr val="404040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spc="130">
                          <a:solidFill>
                            <a:srgbClr val="404040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010</a:t>
                      </a:r>
                      <a:endParaRPr lang="en-US" altLang="zh-CN" sz="1400" b="1" spc="130">
                        <a:solidFill>
                          <a:srgbClr val="404040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spc="130">
                          <a:solidFill>
                            <a:srgbClr val="404040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01110</a:t>
                      </a:r>
                      <a:endParaRPr lang="en-US" altLang="zh-CN" sz="1400" b="1" spc="130">
                        <a:solidFill>
                          <a:srgbClr val="404040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spc="130">
                          <a:solidFill>
                            <a:srgbClr val="404040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01111</a:t>
                      </a:r>
                      <a:endParaRPr lang="en-US" altLang="zh-CN" sz="1400" b="1" spc="130">
                        <a:solidFill>
                          <a:srgbClr val="404040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spc="130">
                          <a:solidFill>
                            <a:srgbClr val="404040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000</a:t>
                      </a:r>
                      <a:endParaRPr lang="en-US" altLang="zh-CN" sz="1400" b="1" spc="130">
                        <a:solidFill>
                          <a:srgbClr val="404040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l" ea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spc="130">
                          <a:solidFill>
                            <a:srgbClr val="404040"/>
                          </a:solidFill>
                          <a:ea typeface="微软雅黑" panose="020B0503020204020204" charset="-122"/>
                          <a:cs typeface="Times New Roman" panose="02020603050405020304" pitchFamily="18" charset="0"/>
                        </a:rPr>
                        <a:t>0110</a:t>
                      </a:r>
                      <a:endParaRPr lang="en-US" altLang="zh-CN" sz="1400" b="1" spc="130">
                        <a:solidFill>
                          <a:srgbClr val="404040"/>
                        </a:solidFill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297" name="文本框 3"/>
          <p:cNvSpPr txBox="1"/>
          <p:nvPr/>
        </p:nvSpPr>
        <p:spPr>
          <a:xfrm>
            <a:off x="566738" y="5067300"/>
            <a:ext cx="8685212" cy="9540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香农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费诺编码平均码长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=</a:t>
            </a:r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霍夫曼编码平均码长</a:t>
            </a: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=2.38</a:t>
            </a:r>
            <a:endParaRPr lang="en-US" altLang="zh-CN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：</a:t>
            </a:r>
            <a:endParaRPr lang="zh-CN" altLang="en-US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标题 1"/>
          <p:cNvSpPr>
            <a:spLocks noGrp="1"/>
          </p:cNvSpPr>
          <p:nvPr>
            <p:ph type="title"/>
          </p:nvPr>
        </p:nvSpPr>
        <p:spPr>
          <a:xfrm>
            <a:off x="36513" y="115888"/>
            <a:ext cx="8229600" cy="1143000"/>
          </a:xfrm>
        </p:spPr>
        <p:txBody>
          <a:bodyPr anchor="ctr" anchorCtr="0"/>
          <a:lstStyle/>
          <a:p>
            <a:pPr algn="l"/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数字图像的的霍夫曼编码：</a:t>
            </a:r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4945" y="1118235"/>
            <a:ext cx="8841740" cy="5446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/>
              <a:t>clear;clear all;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I1 = imread('lena.bmp');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I=rgb2gray(I1);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[M,N] = size(I);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 I1 = I(:); </a:t>
            </a:r>
            <a:r>
              <a:rPr lang="zh-CN" altLang="en-US" sz="2400">
                <a:solidFill>
                  <a:srgbClr val="00B050"/>
                </a:solidFill>
              </a:rPr>
              <a:t>% 将图像灰度矩阵按列排列，得到列向量</a:t>
            </a:r>
            <a:endParaRPr lang="zh-CN" altLang="en-US" sz="240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/>
              <a:t> P = zeros(1,256); 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 for i = 0:255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     P(i+1) = length(find(I1 == i))/(M*N);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 end      </a:t>
            </a:r>
            <a:r>
              <a:rPr lang="zh-CN" altLang="en-US" sz="2400">
                <a:solidFill>
                  <a:srgbClr val="00B050"/>
                </a:solidFill>
                <a:sym typeface="+mn-ea"/>
              </a:rPr>
              <a:t>%获取各符号的概率；</a:t>
            </a:r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2413" y="1269048"/>
            <a:ext cx="8229600" cy="4525962"/>
          </a:xfrm>
        </p:spPr>
        <p:txBody>
          <a:bodyPr/>
          <a:lstStyle/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/>
              <a:t>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k = 0:255;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dict = huffmandict(k,P); </a:t>
            </a:r>
            <a:r>
              <a:rPr lang="zh-CN" altLang="en-US" sz="24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%生成字典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enco = huffmanenco(I1,dict); </a:t>
            </a:r>
            <a:r>
              <a:rPr lang="zh-CN" altLang="en-US" sz="24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%编码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deco = huffmandeco(enco,dict); </a:t>
            </a:r>
            <a:r>
              <a:rPr lang="zh-CN" altLang="en-US" sz="24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%解码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Ide = col2im(deco,[M,N],[M,N],'distinct'); </a:t>
            </a:r>
            <a:r>
              <a:rPr lang="zh-CN" altLang="en-US" sz="240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%把向量重新转换成图像块；</a:t>
            </a:r>
            <a:endParaRPr lang="zh-CN" altLang="en-US" sz="240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subplot(1,2,1);imshow(I);title('original image');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subplot(1,2,2);imshow(uint8(Ide));title('deco image');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endParaRPr lang="zh-CN" altLang="en-US"/>
          </a:p>
        </p:txBody>
      </p:sp>
      <p:pic>
        <p:nvPicPr>
          <p:cNvPr id="56322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200" y="1158875"/>
            <a:ext cx="3402013" cy="3835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6323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675" y="1158875"/>
            <a:ext cx="3273425" cy="5514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clrChange>
              <a:clrFrom>
                <a:srgbClr val="CCCCCC">
                  <a:alpha val="100000"/>
                </a:srgbClr>
              </a:clrFrom>
              <a:clrTo>
                <a:srgbClr val="CCCCCC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0825" y="1412875"/>
            <a:ext cx="8827135" cy="431863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练习</a:t>
            </a:r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94970" y="2951480"/>
          <a:ext cx="8001000" cy="1844675"/>
        </p:xfrm>
        <a:graphic>
          <a:graphicData uri="http://schemas.openxmlformats.org/drawingml/2006/table">
            <a:tbl>
              <a:tblPr/>
              <a:tblGrid>
                <a:gridCol w="1806352"/>
                <a:gridCol w="864096"/>
                <a:gridCol w="864096"/>
                <a:gridCol w="864096"/>
                <a:gridCol w="1003745"/>
                <a:gridCol w="957385"/>
                <a:gridCol w="820615"/>
                <a:gridCol w="820615"/>
              </a:tblGrid>
              <a:tr h="8921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符号集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{x</a:t>
                      </a:r>
                      <a:r>
                        <a:rPr lang="en-US" altLang="zh-CN" sz="2400" b="1" i="1" baseline="-300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} 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b="1" baseline="-3000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CN" sz="2400" b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zh-CN" sz="2400" b="1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b="1" baseline="-3000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2400" b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zh-CN" sz="2400" b="1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b="1" baseline="-3000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CN" sz="2400" b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zh-CN" sz="2400" b="1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b="1" baseline="-3000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2400" b="1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zh-CN" sz="2400" b="1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i="1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b="1" baseline="-300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i="1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b="1" baseline="-300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400" b="1" i="1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b="1" i="0" baseline="-30000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525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b="1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概率分布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CN" sz="2400" b="1" i="1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CN" sz="2400" b="1" i="1" baseline="-30000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2400" b="1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} 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0.30</a:t>
                      </a:r>
                      <a:endParaRPr lang="en-US" altLang="zh-CN" sz="2400" b="1" dirty="0" smtClean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0.15</a:t>
                      </a:r>
                      <a:endParaRPr lang="en-US" altLang="zh-CN" sz="2400" b="1" dirty="0" smtClean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0.12</a:t>
                      </a:r>
                      <a:endParaRPr lang="en-US" altLang="zh-CN" sz="2400" b="1" dirty="0" smtClean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0.18</a:t>
                      </a:r>
                      <a:endParaRPr lang="en-US" altLang="zh-CN" sz="2400" b="1" dirty="0" smtClean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0.07</a:t>
                      </a:r>
                      <a:endParaRPr lang="en-US" altLang="zh-CN" sz="2400" b="1" dirty="0" smtClean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0.08</a:t>
                      </a:r>
                      <a:endParaRPr lang="en-US" altLang="zh-CN" sz="2400" b="1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0.10</a:t>
                      </a:r>
                      <a:endParaRPr lang="en-US" altLang="zh-CN" sz="2400" b="1" dirty="0" smtClean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None/>
                      </a:pPr>
                      <a:endParaRPr lang="en-US" altLang="zh-CN" sz="2400" b="1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4304" name="矩形 4"/>
          <p:cNvSpPr/>
          <p:nvPr/>
        </p:nvSpPr>
        <p:spPr>
          <a:xfrm>
            <a:off x="187960" y="1506855"/>
            <a:ext cx="8436610" cy="1087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35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第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行和第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行列举了一个信源的统计特性，写出下列信源</a:t>
            </a:r>
            <a:r>
              <a:rPr lang="zh-CN" altLang="en-US" sz="24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符号香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农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费诺编码过程，求出压缩效率和压缩比。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extBox 1"/>
          <p:cNvSpPr txBox="1"/>
          <p:nvPr/>
        </p:nvSpPr>
        <p:spPr>
          <a:xfrm>
            <a:off x="419100" y="1438275"/>
            <a:ext cx="609600" cy="41719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anchor="t" anchorCtr="0">
            <a:spAutoFit/>
          </a:bodyPr>
          <a:lstStyle/>
          <a:p>
            <a:pPr defTabSz="914400">
              <a:lnSpc>
                <a:spcPts val="2900"/>
              </a:lnSpc>
              <a:tabLst>
                <a:tab pos="228600" algn="l"/>
                <a:tab pos="609600" algn="l"/>
              </a:tabLst>
            </a:pP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		</a:t>
            </a:r>
            <a:endParaRPr lang="en-US" altLang="zh-CN" dirty="0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57346" name="标题 150529"/>
          <p:cNvSpPr txBox="1"/>
          <p:nvPr/>
        </p:nvSpPr>
        <p:spPr>
          <a:xfrm>
            <a:off x="381000" y="152400"/>
            <a:ext cx="8229600" cy="1066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r>
              <a:rPr lang="en-US" altLang="zh-CN" sz="4400" dirty="0">
                <a:solidFill>
                  <a:schemeClr val="accent2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6.2.3  </a:t>
            </a:r>
            <a:r>
              <a:rPr lang="zh-CN" altLang="en-US" sz="4400" dirty="0">
                <a:solidFill>
                  <a:schemeClr val="accent2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算术编码</a:t>
            </a:r>
            <a:endParaRPr lang="zh-CN" altLang="en-US" sz="44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4480" y="2074545"/>
            <a:ext cx="842327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609600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算术编码是一种</a:t>
            </a:r>
            <a:r>
              <a:rPr lang="zh-CN" altLang="en-US" sz="240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无损</a:t>
            </a:r>
            <a:r>
              <a:rPr lang="zh-CN" altLang="en-US" sz="240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压缩方法，也是一种熵编码的方法。和其它熵编码方法不同的地方在于，其他的熵编码方法通常是把输入的消息分区为符号，然后对每个符号进行编码，而</a:t>
            </a:r>
            <a:r>
              <a:rPr lang="zh-CN" altLang="en-US" sz="240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算术编码是直接把整个输入的消息编码为一个数</a:t>
            </a:r>
            <a:r>
              <a:rPr lang="zh-CN" altLang="en-US" sz="240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，一个满足(0.0 ≤ n &lt; 1.0)的小数n。然后用</a:t>
            </a:r>
            <a:r>
              <a:rPr lang="en-US" altLang="zh-CN" sz="240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n</a:t>
            </a:r>
            <a:r>
              <a:rPr lang="zh-CN" altLang="en-US" sz="240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的</a:t>
            </a: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二进制位数</a:t>
            </a: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来表示信息流的编码。</a:t>
            </a:r>
            <a:endParaRPr lang="zh-CN" altLang="en-US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18770" y="2178685"/>
            <a:ext cx="850582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609600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算术编码的</a:t>
            </a: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基本原理</a:t>
            </a: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是将被编码的</a:t>
            </a: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信息流</a:t>
            </a: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（称为消息）表示成</a:t>
            </a: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实数</a:t>
            </a:r>
            <a:r>
              <a:rPr lang="en-US" altLang="zh-CN" sz="24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0</a:t>
            </a: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和</a:t>
            </a:r>
            <a:r>
              <a:rPr lang="en-US" altLang="zh-CN" sz="24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1</a:t>
            </a: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之间的一个</a:t>
            </a: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编码</a:t>
            </a: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区间</a:t>
            </a: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。消息越长，编码表示它的区间就越小，表示这一小区间所需的二进制位数就越多。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7346" name="标题 150529"/>
          <p:cNvSpPr txBox="1"/>
          <p:nvPr/>
        </p:nvSpPr>
        <p:spPr>
          <a:xfrm>
            <a:off x="381000" y="152400"/>
            <a:ext cx="8229600" cy="1066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r>
              <a:rPr lang="en-US" altLang="zh-CN" sz="4400" dirty="0">
                <a:solidFill>
                  <a:schemeClr val="accent2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6.2.3  </a:t>
            </a:r>
            <a:r>
              <a:rPr lang="zh-CN" altLang="en-US" sz="4400" dirty="0">
                <a:solidFill>
                  <a:schemeClr val="accent2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算术编码</a:t>
            </a:r>
            <a:endParaRPr lang="zh-CN" altLang="en-US" sz="44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Box 1"/>
          <p:cNvSpPr txBox="1"/>
          <p:nvPr/>
        </p:nvSpPr>
        <p:spPr>
          <a:xfrm>
            <a:off x="107633" y="1199198"/>
            <a:ext cx="8991600" cy="2346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anchor="t" anchorCtr="0">
            <a:spAutoFit/>
          </a:bodyPr>
          <a:lstStyle/>
          <a:p>
            <a:pPr algn="l" defTabSz="914400">
              <a:lnSpc>
                <a:spcPct val="150000"/>
              </a:lnSpc>
              <a:tabLst>
                <a:tab pos="304800" algn="l"/>
                <a:tab pos="762000" algn="l"/>
                <a:tab pos="1219200" algn="l"/>
              </a:tabLst>
            </a:pP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（1）按照各信源信号出现的频率，将[0, 1)这个区间分成若干段，</a:t>
            </a:r>
            <a:endParaRPr lang="en-US" altLang="zh-CN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  <a:p>
            <a:pPr algn="l" defTabSz="914400">
              <a:lnSpc>
                <a:spcPct val="150000"/>
              </a:lnSpc>
              <a:tabLst>
                <a:tab pos="304800" algn="l"/>
                <a:tab pos="762000" algn="l"/>
                <a:tab pos="1219200" algn="l"/>
              </a:tabLst>
            </a:pP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每个信号源就会有自己对应的</a:t>
            </a: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初始</a:t>
            </a: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区间</a:t>
            </a: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了,</a:t>
            </a: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用</a:t>
            </a: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[l,h)</a:t>
            </a: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表示</a:t>
            </a: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；</a:t>
            </a:r>
            <a:endParaRPr lang="en-US" altLang="zh-CN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  <a:p>
            <a:pPr algn="l" defTabSz="914400">
              <a:lnSpc>
                <a:spcPts val="3100"/>
              </a:lnSpc>
              <a:tabLst>
                <a:tab pos="304800" algn="l"/>
                <a:tab pos="762000" algn="l"/>
                <a:tab pos="1219200" algn="l"/>
              </a:tabLst>
            </a:pPr>
            <a:endParaRPr lang="en-US" altLang="zh-CN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  <a:p>
            <a:pPr algn="l" defTabSz="914400">
              <a:lnSpc>
                <a:spcPts val="3100"/>
              </a:lnSpc>
              <a:tabLst>
                <a:tab pos="304800" algn="l"/>
                <a:tab pos="762000" algn="l"/>
                <a:tab pos="1219200" algn="l"/>
              </a:tabLst>
            </a:pPr>
            <a:endParaRPr lang="en-US" altLang="zh-CN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  <a:p>
            <a:pPr algn="l" defTabSz="914400">
              <a:lnSpc>
                <a:spcPts val="3100"/>
              </a:lnSpc>
              <a:tabLst>
                <a:tab pos="304800" algn="l"/>
                <a:tab pos="762000" algn="l"/>
                <a:tab pos="1219200" algn="l"/>
              </a:tabLst>
            </a:pPr>
            <a:endParaRPr lang="en-US" altLang="zh-CN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算术编码步骤：</a:t>
            </a:r>
            <a:endParaRPr lang="en-US" altLang="zh-CN" dirty="0"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878" y="2563178"/>
            <a:ext cx="9144000" cy="44323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anchor="t" anchorCtr="0">
            <a:spAutoFit/>
          </a:bodyPr>
          <a:lstStyle/>
          <a:p>
            <a:pPr algn="l" defTabSz="914400">
              <a:lnSpc>
                <a:spcPts val="3100"/>
              </a:lnSpc>
              <a:tabLst>
                <a:tab pos="304800" algn="l"/>
                <a:tab pos="762000" algn="l"/>
                <a:tab pos="1219200" algn="l"/>
              </a:tabLst>
            </a:pP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（2）将</a:t>
            </a: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[0, 1)</a:t>
            </a: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这个区间设置为</a:t>
            </a: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初始</a:t>
            </a: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编码区间，</a:t>
            </a:r>
            <a:r>
              <a:rPr lang="zh-CN" altLang="en-US" sz="24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用</a:t>
            </a: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[L(0),H(0))</a:t>
            </a: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表示</a:t>
            </a: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；</a:t>
            </a:r>
            <a:endParaRPr lang="en-US" altLang="zh-CN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3335" y="3026410"/>
            <a:ext cx="90481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400">
              <a:lnSpc>
                <a:spcPct val="150000"/>
              </a:lnSpc>
              <a:tabLst>
                <a:tab pos="304800" algn="l"/>
                <a:tab pos="762000" algn="l"/>
                <a:tab pos="1219200" algn="l"/>
              </a:tabLst>
            </a:pP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（3）按照待处理的信号，每读入一个信号，</a:t>
            </a: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根据</a:t>
            </a:r>
            <a:r>
              <a:rPr lang="zh-CN" altLang="en-US" sz="24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编码区间迭代公式</a:t>
            </a: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得到</a:t>
            </a: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新</a:t>
            </a: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的</a:t>
            </a: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编码区间</a:t>
            </a: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[L(i),H(i))</a:t>
            </a: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；</a:t>
            </a:r>
            <a:endParaRPr lang="zh-CN" altLang="en-US" sz="24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4148455"/>
            <a:ext cx="89801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400">
              <a:lnSpc>
                <a:spcPct val="150000"/>
              </a:lnSpc>
              <a:tabLst>
                <a:tab pos="304800" algn="l"/>
                <a:tab pos="762000" algn="l"/>
                <a:tab pos="1219200" algn="l"/>
              </a:tabLst>
            </a:pP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4</a:t>
            </a: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）依次迭代，不断重复进行步骤3，直到最后信号中的信源信号全部读完为止；</a:t>
            </a:r>
            <a:endParaRPr lang="zh-CN" altLang="en-US" sz="24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-6985" y="5227955"/>
            <a:ext cx="9113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5</a:t>
            </a: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）迭代完成后，从编码区间选一个实数作为最终的算术编码。</a:t>
            </a:r>
            <a:endParaRPr lang="zh-CN" altLang="en-US" sz="2400" b="1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4" grpId="0"/>
      <p:bldP spid="59394" grpId="1"/>
      <p:bldP spid="2" grpId="0"/>
      <p:bldP spid="2" grpId="1"/>
      <p:bldP spid="3" grpId="0"/>
      <p:bldP spid="4" grpId="0"/>
      <p:bldP spid="4" grpId="1"/>
      <p:bldP spid="6" grpId="0"/>
      <p:bldP spid="6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678" y="1412558"/>
            <a:ext cx="8229600" cy="4525962"/>
          </a:xfrm>
        </p:spPr>
        <p:txBody>
          <a:bodyPr/>
          <a:lstStyle/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/>
              <a:t>       </a:t>
            </a:r>
            <a:r>
              <a:rPr lang="zh-CN" altLang="zh-CN" sz="2400"/>
              <a:t>设要编码的信息流为</a:t>
            </a:r>
            <a:r>
              <a:rPr lang="en-US" altLang="zh-CN" sz="2400"/>
              <a:t>bcadc,</a:t>
            </a:r>
            <a:r>
              <a:rPr lang="zh-CN" altLang="en-US" sz="2400"/>
              <a:t>信息流中每个符号出现的概率如下：</a:t>
            </a:r>
            <a:endParaRPr lang="zh-CN" altLang="en-US" sz="240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算术编码步骤：</a:t>
            </a:r>
            <a:endParaRPr lang="en-US" altLang="zh-CN" dirty="0"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624840" y="2857500"/>
          <a:ext cx="7144385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4805"/>
                <a:gridCol w="1363980"/>
                <a:gridCol w="1400810"/>
                <a:gridCol w="1381760"/>
                <a:gridCol w="1383030"/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solidFill>
                            <a:schemeClr val="tx1"/>
                          </a:solidFill>
                        </a:rPr>
                        <a:t>信源符号</a:t>
                      </a:r>
                      <a:endParaRPr lang="zh-CN" alt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altLang="zh-C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altLang="zh-C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altLang="zh-C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altLang="zh-C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solidFill>
                            <a:schemeClr val="tx1"/>
                          </a:solidFill>
                        </a:rPr>
                        <a:t>概率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altLang="zh-C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</a:rPr>
                        <a:t>0.2</a:t>
                      </a:r>
                      <a:endParaRPr lang="en-US" altLang="zh-C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</a:rPr>
                        <a:t>0.3</a:t>
                      </a:r>
                      <a:endParaRPr lang="en-US" altLang="zh-C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</a:rPr>
                        <a:t>0.4</a:t>
                      </a:r>
                      <a:endParaRPr lang="en-US" altLang="zh-C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</a:rPr>
                        <a:t>0.1</a:t>
                      </a:r>
                      <a:endParaRPr lang="en-US" altLang="zh-C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solidFill>
                            <a:schemeClr val="tx1"/>
                          </a:solidFill>
                        </a:rPr>
                        <a:t>初始区间</a:t>
                      </a:r>
                      <a:endParaRPr lang="zh-CN" altLang="en-US" sz="240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</a:rPr>
                        <a:t>[ l , h)</a:t>
                      </a:r>
                      <a:endParaRPr lang="en-US" altLang="zh-C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267585" y="3789045"/>
            <a:ext cx="13150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[0,0.2)</a:t>
            </a:r>
            <a:endParaRPr lang="en-US" altLang="zh-CN" sz="24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42665" y="3772535"/>
            <a:ext cx="1547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[0.2,0.5)</a:t>
            </a:r>
            <a:endParaRPr lang="en-US" altLang="zh-CN" sz="24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89500" y="3756025"/>
            <a:ext cx="1547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[0.5,0.9)</a:t>
            </a:r>
            <a:endParaRPr lang="en-US" altLang="zh-CN" sz="24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96355" y="3756025"/>
            <a:ext cx="12719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[0.9,1)</a:t>
            </a:r>
            <a:endParaRPr lang="en-US" altLang="zh-CN" sz="24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360" y="1412875"/>
            <a:ext cx="8229600" cy="2204720"/>
          </a:xfrm>
        </p:spPr>
        <p:txBody>
          <a:bodyPr/>
          <a:lstStyle/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/>
              <a:t>       </a:t>
            </a:r>
            <a:r>
              <a:rPr lang="zh-CN" altLang="en-US" sz="2400"/>
              <a:t>定义编码区间为</a:t>
            </a:r>
            <a:r>
              <a:rPr lang="en-US" altLang="zh-CN" sz="2400"/>
              <a:t>[ L(i)  ,  H(i) )</a:t>
            </a:r>
            <a:r>
              <a:rPr lang="zh-CN" altLang="en-US" sz="2400"/>
              <a:t>，当前信号源的初始区间为</a:t>
            </a:r>
            <a:r>
              <a:rPr lang="en-US" altLang="zh-CN" sz="2400"/>
              <a:t>[l,h);</a:t>
            </a:r>
            <a:r>
              <a:rPr lang="zh-CN" altLang="en-US" sz="2400"/>
              <a:t>编码区间迭代公式为：</a:t>
            </a:r>
            <a:endParaRPr lang="zh-CN" altLang="en-US" sz="2400"/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400"/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302510" y="2564765"/>
          <a:ext cx="4415790" cy="964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3" name="" r:id="rId1" imgW="2209800" imgH="482600" progId="Equation.3">
                  <p:embed/>
                </p:oleObj>
              </mc:Choice>
              <mc:Fallback>
                <p:oleObj name="" r:id="rId1" imgW="2209800" imgH="482600" progId="Equation.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02510" y="2564765"/>
                        <a:ext cx="4415790" cy="964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39750" y="3500755"/>
            <a:ext cx="82638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lt"/>
                <a:ea typeface="+mn-ea"/>
                <a:sym typeface="Wingdings" panose="05000000000000000000" pitchFamily="2" charset="2"/>
              </a:rPr>
              <a:t>b信源出现后，根据迭代公式，编码区间更新为</a:t>
            </a:r>
            <a:r>
              <a:rPr lang="en-US" altLang="zh-CN" sz="2400" dirty="0">
                <a:latin typeface="+mn-lt"/>
                <a:ea typeface="+mn-ea"/>
                <a:sym typeface="Wingdings" panose="05000000000000000000" pitchFamily="2" charset="2"/>
              </a:rPr>
              <a:t>:</a:t>
            </a:r>
            <a:endParaRPr lang="en-US" altLang="zh-CN" sz="2400" dirty="0">
              <a:latin typeface="+mn-lt"/>
              <a:ea typeface="+mn-ea"/>
              <a:sym typeface="Wingdings" panose="05000000000000000000" pitchFamily="2" charset="2"/>
            </a:endParaRPr>
          </a:p>
        </p:txBody>
      </p:sp>
      <p:graphicFrame>
        <p:nvGraphicFramePr>
          <p:cNvPr id="7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268220" y="4076700"/>
          <a:ext cx="3905250" cy="1024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4" name="" r:id="rId3" imgW="1841500" imgH="482600" progId="Equation.3">
                  <p:embed/>
                </p:oleObj>
              </mc:Choice>
              <mc:Fallback>
                <p:oleObj name="" r:id="rId3" imgW="1841500" imgH="482600" progId="Equation.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8220" y="4076700"/>
                        <a:ext cx="3905250" cy="10242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39750" y="5013325"/>
            <a:ext cx="82638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+mn-ea"/>
                <a:sym typeface="Wingdings" panose="05000000000000000000" pitchFamily="2" charset="2"/>
              </a:rPr>
              <a:t>c</a:t>
            </a:r>
            <a:r>
              <a:rPr lang="zh-CN" altLang="en-US" sz="2400" dirty="0">
                <a:latin typeface="+mn-lt"/>
                <a:ea typeface="+mn-ea"/>
                <a:sym typeface="Wingdings" panose="05000000000000000000" pitchFamily="2" charset="2"/>
              </a:rPr>
              <a:t>信源出现后，根据迭代公式，编码区间更新为</a:t>
            </a:r>
            <a:r>
              <a:rPr lang="en-US" altLang="zh-CN" sz="2400" dirty="0">
                <a:latin typeface="+mn-lt"/>
                <a:ea typeface="+mn-ea"/>
                <a:sym typeface="Wingdings" panose="05000000000000000000" pitchFamily="2" charset="2"/>
              </a:rPr>
              <a:t>:</a:t>
            </a:r>
            <a:endParaRPr lang="en-US" altLang="zh-CN" sz="2400" dirty="0">
              <a:latin typeface="+mn-lt"/>
              <a:ea typeface="+mn-ea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 build="p"/>
      <p:bldP spid="6" grpId="0"/>
      <p:bldP spid="6" grpId="1"/>
      <p:bldP spid="8" grpId="0"/>
      <p:bldP spid="8" grpId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7360" y="1412875"/>
            <a:ext cx="8229600" cy="2204720"/>
          </a:xfrm>
        </p:spPr>
        <p:txBody>
          <a:bodyPr/>
          <a:lstStyle/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/>
              <a:t>       </a:t>
            </a:r>
            <a:endParaRPr lang="zh-CN" altLang="en-US" sz="2400"/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400"/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741805" y="1556385"/>
          <a:ext cx="5342890" cy="906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7" name="" r:id="rId1" imgW="2844800" imgH="482600" progId="Equation.3">
                  <p:embed/>
                </p:oleObj>
              </mc:Choice>
              <mc:Fallback>
                <p:oleObj name="" r:id="rId1" imgW="2844800" imgH="482600" progId="Equation.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41805" y="1556385"/>
                        <a:ext cx="5342890" cy="9061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11505" y="2493010"/>
            <a:ext cx="82638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>
                <a:latin typeface="+mn-lt"/>
                <a:ea typeface="+mn-ea"/>
                <a:sym typeface="Wingdings" panose="05000000000000000000" pitchFamily="2" charset="2"/>
              </a:rPr>
              <a:t>a</a:t>
            </a:r>
            <a:r>
              <a:rPr lang="zh-CN" altLang="en-US" sz="2400">
                <a:latin typeface="+mn-lt"/>
                <a:ea typeface="+mn-ea"/>
                <a:sym typeface="Wingdings" panose="05000000000000000000" pitchFamily="2" charset="2"/>
              </a:rPr>
              <a:t>信源出现后，根据迭代公式，编码区间更新为</a:t>
            </a:r>
            <a:r>
              <a:rPr lang="en-US" altLang="zh-CN" sz="2400">
                <a:latin typeface="+mn-lt"/>
                <a:ea typeface="+mn-ea"/>
                <a:sym typeface="Wingdings" panose="05000000000000000000" pitchFamily="2" charset="2"/>
              </a:rPr>
              <a:t>:</a:t>
            </a:r>
            <a:endParaRPr lang="en-US" altLang="zh-CN" sz="2400">
              <a:latin typeface="+mn-lt"/>
              <a:ea typeface="+mn-ea"/>
              <a:sym typeface="Wingdings" panose="05000000000000000000" pitchFamily="2" charset="2"/>
            </a:endParaRPr>
          </a:p>
        </p:txBody>
      </p:sp>
      <p:graphicFrame>
        <p:nvGraphicFramePr>
          <p:cNvPr id="7" name="对象 6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835785" y="3056890"/>
          <a:ext cx="3633470" cy="86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8" name="" r:id="rId5" imgW="2019300" imgH="482600" progId="Equation.3">
                  <p:embed/>
                </p:oleObj>
              </mc:Choice>
              <mc:Fallback>
                <p:oleObj name="" r:id="rId5" imgW="2019300" imgH="482600" progId="Equation.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35785" y="3056890"/>
                        <a:ext cx="3633470" cy="868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83895" y="4004945"/>
            <a:ext cx="82638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>
                <a:latin typeface="+mn-lt"/>
                <a:ea typeface="+mn-ea"/>
                <a:sym typeface="Wingdings" panose="05000000000000000000" pitchFamily="2" charset="2"/>
              </a:rPr>
              <a:t>d</a:t>
            </a:r>
            <a:r>
              <a:rPr lang="zh-CN" altLang="en-US" sz="2400">
                <a:latin typeface="+mn-lt"/>
                <a:ea typeface="+mn-ea"/>
                <a:sym typeface="Wingdings" panose="05000000000000000000" pitchFamily="2" charset="2"/>
              </a:rPr>
              <a:t>信源出现后，根据迭代公式，编码区间更新为</a:t>
            </a:r>
            <a:r>
              <a:rPr lang="en-US" altLang="zh-CN" sz="2400">
                <a:latin typeface="+mn-lt"/>
                <a:ea typeface="+mn-ea"/>
                <a:sym typeface="Wingdings" panose="05000000000000000000" pitchFamily="2" charset="2"/>
              </a:rPr>
              <a:t>:</a:t>
            </a:r>
            <a:endParaRPr lang="en-US" altLang="zh-CN" sz="2400">
              <a:latin typeface="+mn-lt"/>
              <a:ea typeface="+mn-ea"/>
              <a:sym typeface="Wingdings" panose="05000000000000000000" pitchFamily="2" charset="2"/>
            </a:endParaRPr>
          </a:p>
        </p:txBody>
      </p:sp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1979930" y="4729480"/>
          <a:ext cx="3633470" cy="86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9" name="" r:id="rId9" imgW="2019300" imgH="482600" progId="Equation.3">
                  <p:embed/>
                </p:oleObj>
              </mc:Choice>
              <mc:Fallback>
                <p:oleObj name="" r:id="rId9" imgW="2019300" imgH="482600" progId="Equation.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79930" y="4729480"/>
                        <a:ext cx="3633470" cy="868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 build="p"/>
      <p:bldP spid="6" grpId="0"/>
      <p:bldP spid="6" grpId="1"/>
      <p:bldP spid="8" grpId="0"/>
      <p:bldP spid="8" grpId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297815" y="1412875"/>
            <a:ext cx="8399145" cy="2204720"/>
          </a:xfrm>
        </p:spPr>
        <p:txBody>
          <a:bodyPr/>
          <a:lstStyle/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/>
              <a:t>       </a:t>
            </a:r>
            <a:endParaRPr lang="zh-CN" altLang="en-US" sz="2400"/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467995" y="3028950"/>
            <a:ext cx="8622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>
                <a:latin typeface="+mn-lt"/>
                <a:ea typeface="+mn-ea"/>
                <a:sym typeface="Wingdings" panose="05000000000000000000" pitchFamily="2" charset="2"/>
              </a:rPr>
              <a:t>至此输入信息流</a:t>
            </a:r>
            <a:r>
              <a:rPr lang="en-US" altLang="zh-CN" sz="2400">
                <a:latin typeface="+mn-lt"/>
                <a:ea typeface="+mn-ea"/>
                <a:sym typeface="Wingdings" panose="05000000000000000000" pitchFamily="2" charset="2"/>
              </a:rPr>
              <a:t>“bcadc”</a:t>
            </a:r>
            <a:r>
              <a:rPr lang="zh-CN" altLang="en-US" sz="2400">
                <a:latin typeface="+mn-lt"/>
                <a:ea typeface="+mn-ea"/>
                <a:sym typeface="Wingdings" panose="05000000000000000000" pitchFamily="2" charset="2"/>
              </a:rPr>
              <a:t>被编码为一个实数区间</a:t>
            </a:r>
            <a:r>
              <a:rPr lang="en-US" altLang="zh-CN" sz="2400">
                <a:latin typeface="+mn-lt"/>
                <a:ea typeface="+mn-ea"/>
                <a:sym typeface="Wingdings" panose="05000000000000000000" pitchFamily="2" charset="2"/>
              </a:rPr>
              <a:t>[0.3728,0.37376)</a:t>
            </a:r>
            <a:endParaRPr lang="en-US" altLang="zh-CN" sz="2400">
              <a:latin typeface="+mn-lt"/>
              <a:ea typeface="+mn-ea"/>
              <a:sym typeface="Wingdings" panose="05000000000000000000" pitchFamily="2" charset="2"/>
            </a:endParaRPr>
          </a:p>
        </p:txBody>
      </p:sp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539240" y="4486275"/>
          <a:ext cx="5474970" cy="502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1" name="" r:id="rId1" imgW="2362200" imgH="215900" progId="Equation.3">
                  <p:embed/>
                </p:oleObj>
              </mc:Choice>
              <mc:Fallback>
                <p:oleObj name="" r:id="rId1" imgW="2362200" imgH="215900" progId="Equation.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39240" y="4486275"/>
                        <a:ext cx="5474970" cy="502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395605" y="1397635"/>
            <a:ext cx="82638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>
                <a:latin typeface="+mn-lt"/>
                <a:ea typeface="+mn-ea"/>
                <a:sym typeface="Wingdings" panose="05000000000000000000" pitchFamily="2" charset="2"/>
              </a:rPr>
              <a:t>最后</a:t>
            </a:r>
            <a:r>
              <a:rPr lang="en-US" altLang="zh-CN" sz="2400">
                <a:latin typeface="+mn-lt"/>
                <a:ea typeface="+mn-ea"/>
                <a:sym typeface="Wingdings" panose="05000000000000000000" pitchFamily="2" charset="2"/>
              </a:rPr>
              <a:t>c</a:t>
            </a:r>
            <a:r>
              <a:rPr lang="zh-CN" altLang="en-US" sz="2400">
                <a:latin typeface="+mn-lt"/>
                <a:ea typeface="+mn-ea"/>
                <a:sym typeface="Wingdings" panose="05000000000000000000" pitchFamily="2" charset="2"/>
              </a:rPr>
              <a:t>信源出现后，根据迭代公式，编码区间更新为</a:t>
            </a:r>
            <a:r>
              <a:rPr lang="en-US" altLang="zh-CN" sz="2400">
                <a:latin typeface="+mn-lt"/>
                <a:ea typeface="+mn-ea"/>
                <a:sym typeface="Wingdings" panose="05000000000000000000" pitchFamily="2" charset="2"/>
              </a:rPr>
              <a:t>:</a:t>
            </a:r>
            <a:endParaRPr lang="en-US" altLang="zh-CN" sz="2400">
              <a:latin typeface="+mn-lt"/>
              <a:ea typeface="+mn-ea"/>
              <a:sym typeface="Wingdings" panose="05000000000000000000" pitchFamily="2" charset="2"/>
            </a:endParaRPr>
          </a:p>
        </p:txBody>
      </p:sp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764030" y="2042795"/>
          <a:ext cx="3907790" cy="86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2" name="" r:id="rId3" imgW="2171700" imgH="482600" progId="Equation.3">
                  <p:embed/>
                </p:oleObj>
              </mc:Choice>
              <mc:Fallback>
                <p:oleObj name="" r:id="rId3" imgW="2171700" imgH="482600" progId="Equation.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4030" y="2042795"/>
                        <a:ext cx="3907790" cy="868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467360" y="3716655"/>
            <a:ext cx="8622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>
                <a:latin typeface="+mn-lt"/>
                <a:ea typeface="+mn-ea"/>
                <a:sym typeface="Wingdings" panose="05000000000000000000" pitchFamily="2" charset="2"/>
              </a:rPr>
              <a:t>将该区间用二进制形式可表示为：</a:t>
            </a:r>
            <a:endParaRPr lang="zh-CN" altLang="en-US" sz="2400">
              <a:latin typeface="+mn-lt"/>
              <a:ea typeface="+mn-ea"/>
              <a:sym typeface="Wingdings" panose="05000000000000000000" pitchFamily="2" charset="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1505" y="4940935"/>
            <a:ext cx="8622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lt"/>
                <a:ea typeface="+mn-ea"/>
                <a:sym typeface="Wingdings" panose="05000000000000000000" pitchFamily="2" charset="2"/>
              </a:rPr>
              <a:t>将信息流的算术编码可表示为：</a:t>
            </a:r>
            <a:endParaRPr lang="zh-CN" altLang="en-US" sz="2400" dirty="0">
              <a:latin typeface="+mn-lt"/>
              <a:ea typeface="+mn-ea"/>
              <a:sym typeface="Wingdings" panose="05000000000000000000" pitchFamily="2" charset="2"/>
            </a:endParaRPr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844165" y="5516880"/>
          <a:ext cx="282575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3" name="" r:id="rId5" imgW="1219200" imgH="431800" progId="Equation.3">
                  <p:embed/>
                </p:oleObj>
              </mc:Choice>
              <mc:Fallback>
                <p:oleObj name="" r:id="rId5" imgW="1219200" imgH="431800" progId="Equation.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44165" y="5516880"/>
                        <a:ext cx="2825750" cy="1003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 build="p"/>
      <p:bldP spid="8" grpId="0"/>
      <p:bldP spid="8" grpId="1"/>
      <p:bldP spid="11" grpId="0"/>
      <p:bldP spid="11" grpId="1"/>
      <p:bldP spid="14" grpId="0"/>
      <p:bldP spid="14" grpId="1"/>
      <p:bldP spid="3" grpId="0"/>
      <p:bldP spid="3" grpId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文本占位符 150530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3603625"/>
          </a:xfrm>
        </p:spPr>
        <p:txBody>
          <a:bodyPr vert="horz" wrap="square" lIns="91440" tIns="45720" rIns="91440" bIns="45720" anchor="t" anchorCtr="0"/>
          <a:lstStyle/>
          <a:p>
            <a:pPr marL="0" indent="0" algn="just" eaLnBrk="1" hangingPunct="1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【例</a:t>
            </a: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6.2</a:t>
            </a: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】根据信源的概率分布进行算术编码。已知信源的概率分布为</a:t>
            </a:r>
            <a:endParaRPr lang="zh-CN" altLang="en-US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just" eaLnBrk="1" hangingPunct="1">
              <a:lnSpc>
                <a:spcPct val="120000"/>
              </a:lnSpc>
            </a:pPr>
            <a:endParaRPr lang="zh-CN" altLang="en-US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just" eaLnBrk="1" hangingPunct="1">
              <a:lnSpc>
                <a:spcPct val="120000"/>
              </a:lnSpc>
            </a:pPr>
            <a:endParaRPr lang="zh-CN" altLang="en-US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just" eaLnBrk="1" hangingPunct="1">
              <a:lnSpc>
                <a:spcPct val="120000"/>
              </a:lnSpc>
            </a:pPr>
            <a:endParaRPr lang="zh-CN" altLang="en-US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indent="0" algn="just" eaLnBrk="1" hangingPunct="1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求二进制序列</a:t>
            </a: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01011</a:t>
            </a: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的算术编码。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64515" name="Object 1" descr="image57"/>
          <p:cNvGraphicFramePr/>
          <p:nvPr/>
        </p:nvGraphicFramePr>
        <p:xfrm>
          <a:off x="3088005" y="2050098"/>
          <a:ext cx="1907540" cy="1324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5" name="" r:id="rId1" imgW="736600" imgH="508000" progId="Equation.3">
                  <p:embed/>
                </p:oleObj>
              </mc:Choice>
              <mc:Fallback>
                <p:oleObj name="" r:id="rId1" imgW="736600" imgH="5080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88005" y="2050098"/>
                        <a:ext cx="1907540" cy="13246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算术编码举例</a:t>
            </a:r>
            <a:endParaRPr lang="zh-CN" altLang="en-US"/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5" name="内容占位符 151554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198938"/>
          </a:xfrm>
        </p:spPr>
        <p:txBody>
          <a:bodyPr vert="horz" wrap="square" lIns="91440" tIns="45720" rIns="91440" bIns="45720" anchor="t" anchorCtr="0"/>
          <a:lstStyle/>
          <a:p>
            <a:pPr marL="0" indent="0" algn="just" eaLnBrk="1" hangingPunct="1">
              <a:lnSpc>
                <a:spcPct val="120000"/>
              </a:lnSpc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解：步骤如下：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）</a:t>
            </a:r>
            <a:r>
              <a:rPr lang="zh-CN" altLang="en-US" sz="28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二进制信源只有</a:t>
            </a:r>
            <a:r>
              <a:rPr lang="en-US" altLang="zh-CN" sz="2800" i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x</a:t>
            </a:r>
            <a:r>
              <a:rPr lang="en-US" altLang="zh-CN" sz="2800" baseline="-300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1 </a:t>
            </a:r>
            <a:r>
              <a:rPr lang="en-US" altLang="zh-CN" sz="28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= 0</a:t>
            </a:r>
            <a:r>
              <a:rPr lang="zh-CN" altLang="en-US" sz="28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x</a:t>
            </a:r>
            <a:r>
              <a:rPr lang="en-US" altLang="zh-CN" sz="2800" baseline="-300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2 </a:t>
            </a:r>
            <a:r>
              <a:rPr lang="en-US" altLang="zh-CN" sz="28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= 1</a:t>
            </a:r>
            <a:r>
              <a:rPr lang="zh-CN" altLang="en-US" sz="28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两种符号，相应的概率为</a:t>
            </a:r>
            <a:r>
              <a:rPr lang="en-US" altLang="zh-CN" sz="2800" i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p</a:t>
            </a:r>
            <a:r>
              <a:rPr lang="en-US" altLang="zh-CN" sz="2800" baseline="-300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c </a:t>
            </a:r>
            <a:r>
              <a:rPr lang="en-US" altLang="zh-CN" sz="28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= 2/5,   </a:t>
            </a:r>
            <a:r>
              <a:rPr lang="en-US" altLang="zh-CN" sz="2800" i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p</a:t>
            </a:r>
            <a:r>
              <a:rPr lang="en-US" altLang="zh-CN" sz="2800" baseline="-300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e </a:t>
            </a:r>
            <a:r>
              <a:rPr lang="en-US" altLang="zh-CN" sz="28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= 1- </a:t>
            </a:r>
            <a:r>
              <a:rPr lang="en-US" altLang="zh-CN" sz="2800" i="1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p</a:t>
            </a:r>
            <a:r>
              <a:rPr lang="en-US" altLang="zh-CN" sz="2800" baseline="-300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c </a:t>
            </a:r>
            <a:r>
              <a:rPr lang="en-US" altLang="zh-CN" sz="28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=3/5 </a:t>
            </a:r>
            <a:endParaRPr lang="en-US" altLang="zh-CN" sz="28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（</a:t>
            </a:r>
            <a:r>
              <a:rPr lang="en-US" altLang="zh-CN" sz="28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2</a:t>
            </a: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）设</a:t>
            </a:r>
            <a:r>
              <a:rPr lang="en-US" altLang="zh-CN" sz="28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L</a:t>
            </a: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为区域左端起始位置，</a:t>
            </a:r>
            <a:r>
              <a:rPr lang="en-US" altLang="zh-CN" sz="28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H</a:t>
            </a: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为区域右端终止位置，</a:t>
            </a:r>
            <a:r>
              <a:rPr lang="en-US" altLang="zh-CN" sz="28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l</a:t>
            </a: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为子区的长度，则 </a:t>
            </a:r>
            <a:endParaRPr lang="zh-CN" altLang="en-US" sz="2800" dirty="0"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  <a:p>
            <a:pPr marL="457200" lvl="1" indent="0" algn="just" eaLnBrk="1" hangingPunct="1">
              <a:lnSpc>
                <a:spcPct val="130000"/>
              </a:lnSpc>
              <a:buNone/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符号“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0”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的子区为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[0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，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2/5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），子区长度为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2/5 ;</a:t>
            </a:r>
            <a:endParaRPr lang="en-US" altLang="zh-CN" sz="2400" dirty="0"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  <a:p>
            <a:pPr marL="457200" lvl="1" indent="0" algn="just" eaLnBrk="1" hangingPunct="1">
              <a:lnSpc>
                <a:spcPct val="130000"/>
              </a:lnSpc>
              <a:buNone/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符号“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1”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的子区为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[2/5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，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1]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，子区长度为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3/5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。</a:t>
            </a:r>
            <a:endParaRPr lang="zh-CN" altLang="en-US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算术编码举例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7" name="表格 57346"/>
          <p:cNvGraphicFramePr/>
          <p:nvPr>
            <p:custDataLst>
              <p:tags r:id="rId1"/>
            </p:custDataLst>
          </p:nvPr>
        </p:nvGraphicFramePr>
        <p:xfrm>
          <a:off x="381000" y="1227455"/>
          <a:ext cx="8382317" cy="3908108"/>
        </p:xfrm>
        <a:graphic>
          <a:graphicData uri="http://schemas.openxmlformats.org/drawingml/2006/table">
            <a:tbl>
              <a:tblPr/>
              <a:tblGrid>
                <a:gridCol w="802005"/>
                <a:gridCol w="365125"/>
                <a:gridCol w="3935412"/>
                <a:gridCol w="3279775"/>
              </a:tblGrid>
              <a:tr h="57594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step 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i="1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x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L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H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92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1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0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0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2/5 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51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2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1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0 +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（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2/5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）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×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（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2/5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）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= 4/25 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（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2/5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）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×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（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1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）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= 2/5 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16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3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0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4/25 + 0 × 6/25 = 4/25 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4/25+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（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6/25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）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×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（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2/5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）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= 32/125 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16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4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1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4/25 +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（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2/5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）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×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（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12/125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）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= 124/625 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  <a:sym typeface="+mn-ea"/>
                        </a:rPr>
                        <a:t>4/25+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（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12/125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）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×(1)= 32/125 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43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5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1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124/625 +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（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2/5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）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×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（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36/625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）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= 692/3125 =0.22144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  <a:sym typeface="+mn-ea"/>
                        </a:rPr>
                        <a:t>124/625+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（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36/625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）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×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（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1</a:t>
                      </a: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）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= 160/625 =0.256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682625" y="5405120"/>
            <a:ext cx="50419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信息流算术编码值 ？</a:t>
            </a:r>
            <a:endParaRPr lang="zh-CN" altLang="en-US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算术编码举例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算术编码举例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0230" y="1512570"/>
            <a:ext cx="8229600" cy="133159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Arial" panose="020B0604020202020204" pitchFamily="34" charset="0"/>
                <a:ea typeface="楷体_GB2312" panose="02010609030101010101" pitchFamily="49" charset="-122"/>
                <a:sym typeface="+mn-ea"/>
              </a:rPr>
              <a:t>0.22144 </a:t>
            </a:r>
            <a:r>
              <a:rPr lang="zh-CN" altLang="en-US" dirty="0">
                <a:latin typeface="Arial" panose="020B0604020202020204" pitchFamily="34" charset="0"/>
                <a:ea typeface="楷体_GB2312" panose="02010609030101010101" pitchFamily="49" charset="-122"/>
                <a:sym typeface="+mn-ea"/>
              </a:rPr>
              <a:t>转化成二进制：</a:t>
            </a:r>
            <a:r>
              <a:rPr lang="en-US" altLang="zh-CN" dirty="0">
                <a:latin typeface="Arial" panose="020B0604020202020204" pitchFamily="34" charset="0"/>
                <a:ea typeface="楷体_GB2312" panose="02010609030101010101" pitchFamily="49" charset="-122"/>
                <a:sym typeface="+mn-ea"/>
              </a:rPr>
              <a:t>0.00111</a:t>
            </a:r>
            <a:endParaRPr lang="en-US" altLang="zh-CN" dirty="0">
              <a:latin typeface="Arial" panose="020B0604020202020204" pitchFamily="34" charset="0"/>
              <a:ea typeface="楷体_GB2312" panose="02010609030101010101" pitchFamily="49" charset="-122"/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latin typeface="Arial" panose="020B0604020202020204" pitchFamily="34" charset="0"/>
                <a:ea typeface="楷体_GB2312" panose="02010609030101010101" pitchFamily="49" charset="-122"/>
                <a:sym typeface="+mn-ea"/>
              </a:rPr>
              <a:t>0.256</a:t>
            </a:r>
            <a:r>
              <a:rPr lang="zh-CN" altLang="en-US" dirty="0">
                <a:latin typeface="Arial" panose="020B0604020202020204" pitchFamily="34" charset="0"/>
                <a:ea typeface="楷体_GB2312" panose="02010609030101010101" pitchFamily="49" charset="-122"/>
                <a:sym typeface="+mn-ea"/>
              </a:rPr>
              <a:t>转化为二进制：     </a:t>
            </a:r>
            <a:r>
              <a:rPr lang="en-US" altLang="zh-CN" dirty="0">
                <a:latin typeface="Arial" panose="020B0604020202020204" pitchFamily="34" charset="0"/>
                <a:ea typeface="楷体_GB2312" panose="02010609030101010101" pitchFamily="49" charset="-122"/>
                <a:sym typeface="+mn-ea"/>
              </a:rPr>
              <a:t>0.0100001</a:t>
            </a:r>
            <a:endParaRPr lang="en-US" altLang="zh-CN" dirty="0">
              <a:latin typeface="Arial" panose="020B0604020202020204" pitchFamily="34" charset="0"/>
              <a:ea typeface="楷体_GB2312" panose="02010609030101010101" pitchFamily="49" charset="-122"/>
            </a:endParaRPr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7315" y="2844165"/>
            <a:ext cx="813435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   </a:t>
            </a:r>
            <a:r>
              <a:rPr lang="zh-CN" altLang="en-US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信息流算术编码值为：</a:t>
            </a:r>
            <a:r>
              <a:rPr lang="en-US" altLang="zh-CN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01</a:t>
            </a:r>
            <a:endParaRPr lang="en-US" altLang="zh-CN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4" grpId="0"/>
      <p:bldP spid="4" grpId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练习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188" y="1269048"/>
            <a:ext cx="8229600" cy="4525962"/>
          </a:xfrm>
        </p:spPr>
        <p:txBody>
          <a:bodyPr/>
          <a:lstStyle/>
          <a:p>
            <a:pPr marL="0" indent="0">
              <a:buNone/>
            </a:pPr>
            <a:r>
              <a:rPr lang="zh-CN" altLang="en-US"/>
              <a:t>已知下列信源符号的概率分布如下：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求序列CADACDB的算术编码。</a:t>
            </a:r>
            <a:endParaRPr lang="zh-CN" altLang="en-US"/>
          </a:p>
          <a:p>
            <a:endParaRPr lang="zh-CN" altLang="en-US"/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755650" y="2060575"/>
          <a:ext cx="7375525" cy="1764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105"/>
                <a:gridCol w="1475105"/>
                <a:gridCol w="1475105"/>
                <a:gridCol w="1475105"/>
                <a:gridCol w="1475105"/>
              </a:tblGrid>
              <a:tr h="4641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</a:rPr>
                        <a:t>信源符号</a:t>
                      </a:r>
                      <a:endParaRPr lang="zh-CN" altLang="en-US" sz="2000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641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/>
                        <a:t>概率</a:t>
                      </a:r>
                      <a:endParaRPr lang="zh-CN" altLang="en-US" sz="20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0.1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0.4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0.2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0.3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8356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/>
                        <a:t>初始区间</a:t>
                      </a:r>
                      <a:endParaRPr lang="zh-CN" altLang="en-US" sz="20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[0,0.1)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[0.1, 0.5)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[0.5,0.7)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[0.7,1)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extBox 1"/>
          <p:cNvSpPr txBox="1"/>
          <p:nvPr/>
        </p:nvSpPr>
        <p:spPr>
          <a:xfrm>
            <a:off x="179705" y="332740"/>
            <a:ext cx="4487545" cy="44323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anchor="t" anchorCtr="0">
            <a:spAutoFit/>
          </a:bodyPr>
          <a:lstStyle/>
          <a:p>
            <a:pPr defTabSz="914400">
              <a:lnSpc>
                <a:spcPts val="3100"/>
              </a:lnSpc>
              <a:tabLst>
                <a:tab pos="1993900" algn="l"/>
              </a:tabLst>
            </a:pPr>
            <a:r>
              <a:rPr lang="en-US" altLang="zh-CN" sz="32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算术编码：</a:t>
            </a:r>
            <a:endParaRPr lang="en-US" altLang="zh-CN" sz="3200" b="1" dirty="0">
              <a:solidFill>
                <a:srgbClr val="CC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1340485"/>
            <a:ext cx="8229600" cy="33147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1940" y="4853940"/>
            <a:ext cx="832231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如何进行解码？</a:t>
            </a:r>
            <a:endParaRPr lang="zh-CN" altLang="en-US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extBox 1"/>
          <p:cNvSpPr txBox="1"/>
          <p:nvPr/>
        </p:nvSpPr>
        <p:spPr>
          <a:xfrm>
            <a:off x="179705" y="332740"/>
            <a:ext cx="5741670" cy="44323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anchor="t" anchorCtr="0">
            <a:spAutoFit/>
          </a:bodyPr>
          <a:lstStyle/>
          <a:p>
            <a:pPr defTabSz="914400">
              <a:lnSpc>
                <a:spcPts val="3100"/>
              </a:lnSpc>
              <a:tabLst>
                <a:tab pos="1993900" algn="l"/>
              </a:tabLst>
            </a:pPr>
            <a:r>
              <a:rPr lang="en-US" altLang="zh-CN" sz="32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算术编码</a:t>
            </a:r>
            <a:r>
              <a:rPr lang="zh-CN" altLang="en-US" sz="32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的解码步骤如下</a:t>
            </a:r>
            <a:r>
              <a:rPr lang="en-US" altLang="zh-CN" sz="32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3200" b="1" dirty="0">
              <a:solidFill>
                <a:srgbClr val="CC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9394" name="TextBox 1"/>
          <p:cNvSpPr txBox="1"/>
          <p:nvPr/>
        </p:nvSpPr>
        <p:spPr>
          <a:xfrm>
            <a:off x="107633" y="1414463"/>
            <a:ext cx="8991600" cy="302069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anchor="t" anchorCtr="0">
            <a:spAutoFit/>
          </a:bodyPr>
          <a:lstStyle/>
          <a:p>
            <a:pPr algn="l" defTabSz="914400">
              <a:lnSpc>
                <a:spcPts val="3100"/>
              </a:lnSpc>
              <a:tabLst>
                <a:tab pos="304800" algn="l"/>
                <a:tab pos="762000" algn="l"/>
                <a:tab pos="1219200" algn="l"/>
              </a:tabLst>
            </a:pP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（1）</a:t>
            </a: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根据待解码的数据</a:t>
            </a: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判断该数据所在的区间，输出该区间对应</a:t>
            </a:r>
            <a:endParaRPr lang="zh-CN" altLang="en-US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l" defTabSz="914400">
              <a:lnSpc>
                <a:spcPts val="3100"/>
              </a:lnSpc>
              <a:tabLst>
                <a:tab pos="304800" algn="l"/>
                <a:tab pos="762000" algn="l"/>
                <a:tab pos="1219200" algn="l"/>
              </a:tabLst>
            </a:pP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的信号源</a:t>
            </a: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；</a:t>
            </a:r>
            <a:endParaRPr lang="en-US" altLang="zh-CN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l" defTabSz="914400">
              <a:lnSpc>
                <a:spcPts val="3100"/>
              </a:lnSpc>
              <a:tabLst>
                <a:tab pos="304800" algn="l"/>
                <a:tab pos="762000" algn="l"/>
                <a:tab pos="1219200" algn="l"/>
              </a:tabLst>
            </a:pPr>
            <a:endParaRPr lang="en-US" altLang="zh-CN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l" defTabSz="914400">
              <a:lnSpc>
                <a:spcPts val="3100"/>
              </a:lnSpc>
              <a:tabLst>
                <a:tab pos="304800" algn="l"/>
                <a:tab pos="762000" algn="l"/>
                <a:tab pos="1219200" algn="l"/>
              </a:tabLst>
            </a:pP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（2）</a:t>
            </a: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重复步骤</a:t>
            </a: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1；为了正确的进行解码，需要事先知道解码后的</a:t>
            </a:r>
            <a:endParaRPr lang="en-US" altLang="zh-CN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l" defTabSz="914400">
              <a:lnSpc>
                <a:spcPts val="3100"/>
              </a:lnSpc>
              <a:tabLst>
                <a:tab pos="304800" algn="l"/>
                <a:tab pos="762000" algn="l"/>
                <a:tab pos="1219200" algn="l"/>
              </a:tabLst>
            </a:pP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信源的长度。</a:t>
            </a:r>
            <a:endParaRPr lang="en-US" altLang="zh-CN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l" defTabSz="914400">
              <a:lnSpc>
                <a:spcPts val="3100"/>
              </a:lnSpc>
              <a:tabLst>
                <a:tab pos="304800" algn="l"/>
                <a:tab pos="762000" algn="l"/>
                <a:tab pos="1219200" algn="l"/>
              </a:tabLst>
            </a:pP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endParaRPr lang="zh-CN" altLang="en-US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l" defTabSz="914400">
              <a:lnSpc>
                <a:spcPts val="1000"/>
              </a:lnSpc>
              <a:tabLst>
                <a:tab pos="304800" algn="l"/>
                <a:tab pos="762000" algn="l"/>
                <a:tab pos="1219200" algn="l"/>
              </a:tabLst>
            </a:pPr>
            <a:endParaRPr lang="en-US" altLang="zh-CN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l" defTabSz="914400">
              <a:lnSpc>
                <a:spcPts val="1000"/>
              </a:lnSpc>
              <a:tabLst>
                <a:tab pos="304800" algn="l"/>
                <a:tab pos="762000" algn="l"/>
                <a:tab pos="1219200" algn="l"/>
              </a:tabLst>
            </a:pPr>
            <a:endParaRPr lang="en-US" altLang="zh-CN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l" defTabSz="914400">
              <a:lnSpc>
                <a:spcPts val="2600"/>
              </a:lnSpc>
              <a:tabLst>
                <a:tab pos="304800" algn="l"/>
                <a:tab pos="762000" algn="l"/>
                <a:tab pos="1219200" algn="l"/>
              </a:tabLst>
            </a:pP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	</a:t>
            </a: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下面结合一个实例来说明算术</a:t>
            </a: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解码</a:t>
            </a: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的具体步骤。</a:t>
            </a:r>
            <a:endParaRPr lang="en-US" altLang="zh-CN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7" name="表格 57346"/>
          <p:cNvGraphicFramePr/>
          <p:nvPr>
            <p:custDataLst>
              <p:tags r:id="rId1"/>
            </p:custDataLst>
          </p:nvPr>
        </p:nvGraphicFramePr>
        <p:xfrm>
          <a:off x="596265" y="1700530"/>
          <a:ext cx="7435850" cy="4154939"/>
        </p:xfrm>
        <a:graphic>
          <a:graphicData uri="http://schemas.openxmlformats.org/drawingml/2006/table">
            <a:tbl>
              <a:tblPr/>
              <a:tblGrid>
                <a:gridCol w="718820"/>
                <a:gridCol w="1888490"/>
                <a:gridCol w="3994785"/>
                <a:gridCol w="833755"/>
              </a:tblGrid>
              <a:tr h="57594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step 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编码区间</a:t>
                      </a:r>
                      <a:endParaRPr lang="zh-CN" altLang="en-US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判决</a:t>
                      </a:r>
                      <a:endParaRPr lang="zh-CN" altLang="en-US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解码</a:t>
                      </a:r>
                      <a:endParaRPr lang="zh-CN" altLang="en-US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8469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1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51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2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16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3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16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4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20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dirty="0">
                          <a:latin typeface="Arial" panose="020B0604020202020204" pitchFamily="34" charset="0"/>
                          <a:ea typeface="楷体_GB2312" panose="02010609030101010101" pitchFamily="49" charset="-122"/>
                        </a:rPr>
                        <a:t>5</a:t>
                      </a: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行楷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en-US" altLang="zh-CN" sz="2000" dirty="0">
                        <a:latin typeface="Arial" panose="020B0604020202020204" pitchFamily="34" charset="0"/>
                        <a:ea typeface="楷体_GB2312" panose="02010609030101010101" pitchFamily="49" charset="-122"/>
                      </a:endParaRPr>
                    </a:p>
                  </a:txBody>
                  <a:tcPr anchor="ctr" anchorCtr="1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22898" y="44133"/>
            <a:ext cx="8229600" cy="1143000"/>
          </a:xfrm>
        </p:spPr>
        <p:txBody>
          <a:bodyPr/>
          <a:lstStyle/>
          <a:p>
            <a:pPr algn="l"/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算术编码举例</a:t>
            </a:r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621451" y="2338418"/>
            <a:ext cx="120388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 smtClean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[0 1)</a:t>
            </a:r>
            <a:endParaRPr lang="zh-CN" altLang="en-US" sz="18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79912" y="2346121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spcBef>
                <a:spcPct val="20000"/>
              </a:spcBef>
            </a:pPr>
            <a:r>
              <a:rPr lang="en-US" altLang="zh-CN" sz="1800" dirty="0">
                <a:latin typeface="Arial" panose="020B0604020202020204" pitchFamily="34" charset="0"/>
                <a:ea typeface="楷体_GB2312" panose="02010609030101010101" pitchFamily="49" charset="-122"/>
              </a:rPr>
              <a:t>0.25 </a:t>
            </a:r>
            <a:r>
              <a:rPr lang="zh-CN" altLang="en-US" sz="1800" dirty="0">
                <a:latin typeface="Arial" panose="020B0604020202020204" pitchFamily="34" charset="0"/>
                <a:ea typeface="楷体_GB2312" panose="02010609030101010101" pitchFamily="49" charset="-122"/>
              </a:rPr>
              <a:t>在</a:t>
            </a:r>
            <a:r>
              <a:rPr lang="en-US" altLang="zh-CN" sz="1800" dirty="0">
                <a:latin typeface="Arial" panose="020B0604020202020204" pitchFamily="34" charset="0"/>
                <a:ea typeface="楷体_GB2312" panose="02010609030101010101" pitchFamily="49" charset="-122"/>
              </a:rPr>
              <a:t>[0 1)</a:t>
            </a:r>
            <a:r>
              <a:rPr lang="zh-CN" altLang="en-US" sz="1800" dirty="0">
                <a:latin typeface="Arial" panose="020B0604020202020204" pitchFamily="34" charset="0"/>
                <a:ea typeface="楷体_GB2312" panose="02010609030101010101" pitchFamily="49" charset="-122"/>
              </a:rPr>
              <a:t>区间的前</a:t>
            </a:r>
            <a:r>
              <a:rPr lang="en-US" altLang="zh-CN" sz="1800" dirty="0">
                <a:latin typeface="Arial" panose="020B0604020202020204" pitchFamily="34" charset="0"/>
                <a:ea typeface="楷体_GB2312" panose="02010609030101010101" pitchFamily="49" charset="-122"/>
              </a:rPr>
              <a:t>40%</a:t>
            </a:r>
            <a:endParaRPr lang="en-US" altLang="zh-CN" sz="1800" dirty="0"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21451" y="2846249"/>
            <a:ext cx="120388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 smtClean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[0 0.4)</a:t>
            </a:r>
            <a:endParaRPr lang="zh-CN" altLang="en-US" sz="18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65012" y="2922185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spcBef>
                <a:spcPct val="20000"/>
              </a:spcBef>
            </a:pPr>
            <a:r>
              <a:rPr lang="en-US" altLang="zh-CN" sz="1800" dirty="0">
                <a:latin typeface="Arial" panose="020B0604020202020204" pitchFamily="34" charset="0"/>
                <a:ea typeface="楷体_GB2312" panose="02010609030101010101" pitchFamily="49" charset="-122"/>
              </a:rPr>
              <a:t>0.25</a:t>
            </a:r>
            <a:r>
              <a:rPr lang="zh-CN" altLang="en-US" sz="1800" dirty="0">
                <a:latin typeface="Arial" panose="020B0604020202020204" pitchFamily="34" charset="0"/>
                <a:ea typeface="楷体_GB2312" panose="02010609030101010101" pitchFamily="49" charset="-122"/>
              </a:rPr>
              <a:t>在</a:t>
            </a:r>
            <a:r>
              <a:rPr lang="en-US" altLang="zh-CN" sz="1800" dirty="0">
                <a:latin typeface="Arial" panose="020B0604020202020204" pitchFamily="34" charset="0"/>
                <a:ea typeface="楷体_GB2312" panose="02010609030101010101" pitchFamily="49" charset="-122"/>
              </a:rPr>
              <a:t>[0 0.4) </a:t>
            </a:r>
            <a:r>
              <a:rPr lang="zh-CN" altLang="en-US" sz="1800" dirty="0">
                <a:latin typeface="Arial" panose="020B0604020202020204" pitchFamily="34" charset="0"/>
                <a:ea typeface="楷体_GB2312" panose="02010609030101010101" pitchFamily="49" charset="-122"/>
              </a:rPr>
              <a:t>区间的后</a:t>
            </a:r>
            <a:r>
              <a:rPr lang="en-US" altLang="zh-CN" sz="1800" dirty="0">
                <a:latin typeface="Arial" panose="020B0604020202020204" pitchFamily="34" charset="0"/>
                <a:ea typeface="楷体_GB2312" panose="02010609030101010101" pitchFamily="49" charset="-122"/>
              </a:rPr>
              <a:t>60%</a:t>
            </a:r>
            <a:endParaRPr lang="en-US" altLang="zh-CN" sz="1800" dirty="0"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21451" y="3573016"/>
            <a:ext cx="1512168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800" b="1" dirty="0" smtClean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[</a:t>
            </a:r>
            <a:r>
              <a:rPr lang="en-US" altLang="zh-CN" sz="18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0.16 0.4</a:t>
            </a:r>
            <a:r>
              <a:rPr lang="en-US" altLang="zh-CN" sz="1800" b="1" dirty="0" smtClean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)</a:t>
            </a:r>
            <a:endParaRPr lang="zh-CN" altLang="en-US" sz="18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63888" y="3646562"/>
            <a:ext cx="3262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spcBef>
                <a:spcPct val="20000"/>
              </a:spcBef>
            </a:pPr>
            <a:r>
              <a:rPr lang="en-US" altLang="zh-CN" sz="1800" dirty="0">
                <a:latin typeface="Arial" panose="020B0604020202020204" pitchFamily="34" charset="0"/>
                <a:ea typeface="楷体_GB2312" panose="02010609030101010101" pitchFamily="49" charset="-122"/>
                <a:sym typeface="+mn-ea"/>
              </a:rPr>
              <a:t>0.25</a:t>
            </a:r>
            <a:r>
              <a:rPr lang="zh-CN" altLang="en-US" sz="1800" dirty="0">
                <a:latin typeface="Arial" panose="020B0604020202020204" pitchFamily="34" charset="0"/>
                <a:ea typeface="楷体_GB2312" panose="02010609030101010101" pitchFamily="49" charset="-122"/>
                <a:sym typeface="+mn-ea"/>
              </a:rPr>
              <a:t>在</a:t>
            </a:r>
            <a:r>
              <a:rPr lang="en-US" altLang="zh-CN" sz="1800" dirty="0">
                <a:latin typeface="Arial" panose="020B0604020202020204" pitchFamily="34" charset="0"/>
                <a:ea typeface="楷体_GB2312" panose="02010609030101010101" pitchFamily="49" charset="-122"/>
                <a:sym typeface="+mn-ea"/>
              </a:rPr>
              <a:t>[0.16 0.4) </a:t>
            </a:r>
            <a:r>
              <a:rPr lang="zh-CN" altLang="en-US" sz="1800" dirty="0">
                <a:latin typeface="Arial" panose="020B0604020202020204" pitchFamily="34" charset="0"/>
                <a:ea typeface="楷体_GB2312" panose="02010609030101010101" pitchFamily="49" charset="-122"/>
                <a:sym typeface="+mn-ea"/>
              </a:rPr>
              <a:t>区间的前</a:t>
            </a:r>
            <a:r>
              <a:rPr lang="en-US" altLang="zh-CN" sz="1800" dirty="0">
                <a:latin typeface="Arial" panose="020B0604020202020204" pitchFamily="34" charset="0"/>
                <a:ea typeface="楷体_GB2312" panose="02010609030101010101" pitchFamily="49" charset="-122"/>
                <a:sym typeface="+mn-ea"/>
              </a:rPr>
              <a:t>40%</a:t>
            </a:r>
            <a:endParaRPr lang="en-US" altLang="zh-CN" sz="1800" dirty="0"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75875" y="4293096"/>
            <a:ext cx="1512168" cy="45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[</a:t>
            </a:r>
            <a:r>
              <a:rPr lang="en-US" altLang="zh-CN" sz="18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0.16 0.256</a:t>
            </a:r>
            <a:r>
              <a:rPr lang="en-US" altLang="zh-CN" sz="18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)</a:t>
            </a:r>
            <a:endParaRPr lang="zh-CN" altLang="en-US" sz="18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47864" y="4362718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spcBef>
                <a:spcPct val="20000"/>
              </a:spcBef>
            </a:pPr>
            <a:r>
              <a:rPr lang="en-US" altLang="zh-CN" sz="1800" dirty="0">
                <a:latin typeface="Arial" panose="020B0604020202020204" pitchFamily="34" charset="0"/>
                <a:ea typeface="楷体_GB2312" panose="02010609030101010101" pitchFamily="49" charset="-122"/>
                <a:sym typeface="+mn-ea"/>
              </a:rPr>
              <a:t>0.25</a:t>
            </a:r>
            <a:r>
              <a:rPr lang="zh-CN" altLang="en-US" sz="1800" dirty="0">
                <a:latin typeface="Arial" panose="020B0604020202020204" pitchFamily="34" charset="0"/>
                <a:ea typeface="楷体_GB2312" panose="02010609030101010101" pitchFamily="49" charset="-122"/>
                <a:sym typeface="+mn-ea"/>
              </a:rPr>
              <a:t>在</a:t>
            </a:r>
            <a:r>
              <a:rPr lang="en-US" altLang="zh-CN" sz="1800" dirty="0">
                <a:latin typeface="Arial" panose="020B0604020202020204" pitchFamily="34" charset="0"/>
                <a:ea typeface="楷体_GB2312" panose="02010609030101010101" pitchFamily="49" charset="-122"/>
                <a:sym typeface="+mn-ea"/>
              </a:rPr>
              <a:t>[0.16 </a:t>
            </a:r>
            <a:r>
              <a:rPr lang="en-US" altLang="zh-CN" sz="1800" dirty="0" smtClean="0">
                <a:latin typeface="Arial" panose="020B0604020202020204" pitchFamily="34" charset="0"/>
                <a:ea typeface="楷体_GB2312" panose="02010609030101010101" pitchFamily="49" charset="-122"/>
                <a:sym typeface="+mn-ea"/>
              </a:rPr>
              <a:t>0.256) </a:t>
            </a:r>
            <a:r>
              <a:rPr lang="zh-CN" altLang="en-US" sz="1800" dirty="0">
                <a:latin typeface="Arial" panose="020B0604020202020204" pitchFamily="34" charset="0"/>
                <a:ea typeface="楷体_GB2312" panose="02010609030101010101" pitchFamily="49" charset="-122"/>
                <a:sym typeface="+mn-ea"/>
              </a:rPr>
              <a:t>区间的后</a:t>
            </a:r>
            <a:r>
              <a:rPr lang="en-US" altLang="zh-CN" sz="1800" dirty="0">
                <a:latin typeface="Arial" panose="020B0604020202020204" pitchFamily="34" charset="0"/>
                <a:ea typeface="楷体_GB2312" panose="02010609030101010101" pitchFamily="49" charset="-122"/>
                <a:sym typeface="+mn-ea"/>
              </a:rPr>
              <a:t>60%</a:t>
            </a:r>
            <a:endParaRPr lang="en-US" altLang="zh-CN" sz="1800" dirty="0"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95045" y="5013176"/>
            <a:ext cx="1952819" cy="45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[</a:t>
            </a:r>
            <a:r>
              <a:rPr lang="en-US" altLang="zh-CN" sz="18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0.1984 0.256</a:t>
            </a:r>
            <a:r>
              <a:rPr lang="en-US" altLang="zh-CN" sz="18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)</a:t>
            </a:r>
            <a:endParaRPr lang="zh-CN" altLang="en-US" sz="18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54987" y="5097879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spcBef>
                <a:spcPct val="20000"/>
              </a:spcBef>
            </a:pPr>
            <a:r>
              <a:rPr lang="en-US" altLang="zh-CN" sz="1800" dirty="0">
                <a:latin typeface="Arial" panose="020B0604020202020204" pitchFamily="34" charset="0"/>
                <a:ea typeface="楷体_GB2312" panose="02010609030101010101" pitchFamily="49" charset="-122"/>
                <a:sym typeface="+mn-ea"/>
              </a:rPr>
              <a:t>0.25</a:t>
            </a:r>
            <a:r>
              <a:rPr lang="zh-CN" altLang="en-US" sz="1800" dirty="0">
                <a:latin typeface="Arial" panose="020B0604020202020204" pitchFamily="34" charset="0"/>
                <a:ea typeface="楷体_GB2312" panose="02010609030101010101" pitchFamily="49" charset="-122"/>
                <a:sym typeface="+mn-ea"/>
              </a:rPr>
              <a:t>在</a:t>
            </a:r>
            <a:r>
              <a:rPr lang="en-US" altLang="zh-CN" sz="1800" dirty="0">
                <a:latin typeface="Arial" panose="020B0604020202020204" pitchFamily="34" charset="0"/>
                <a:ea typeface="楷体_GB2312" panose="02010609030101010101" pitchFamily="49" charset="-122"/>
                <a:sym typeface="+mn-ea"/>
              </a:rPr>
              <a:t>[</a:t>
            </a:r>
            <a:r>
              <a:rPr lang="en-US" altLang="zh-CN" sz="1800" dirty="0" smtClean="0">
                <a:latin typeface="Arial" panose="020B0604020202020204" pitchFamily="34" charset="0"/>
                <a:ea typeface="楷体_GB2312" panose="02010609030101010101" pitchFamily="49" charset="-122"/>
                <a:sym typeface="+mn-ea"/>
              </a:rPr>
              <a:t>0.1986 0.256) </a:t>
            </a:r>
            <a:r>
              <a:rPr lang="zh-CN" altLang="en-US" sz="1800" dirty="0">
                <a:latin typeface="Arial" panose="020B0604020202020204" pitchFamily="34" charset="0"/>
                <a:ea typeface="楷体_GB2312" panose="02010609030101010101" pitchFamily="49" charset="-122"/>
                <a:sym typeface="+mn-ea"/>
              </a:rPr>
              <a:t>区间的后</a:t>
            </a:r>
            <a:r>
              <a:rPr lang="en-US" altLang="zh-CN" sz="1800" dirty="0">
                <a:latin typeface="Arial" panose="020B0604020202020204" pitchFamily="34" charset="0"/>
                <a:ea typeface="楷体_GB2312" panose="02010609030101010101" pitchFamily="49" charset="-122"/>
                <a:sym typeface="+mn-ea"/>
              </a:rPr>
              <a:t>60%</a:t>
            </a:r>
            <a:endParaRPr lang="en-US" altLang="zh-CN" sz="1800" dirty="0"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52556" y="2233590"/>
            <a:ext cx="288032" cy="481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0</a:t>
            </a:r>
            <a:endParaRPr lang="zh-CN" altLang="en-US" sz="20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52556" y="2888886"/>
            <a:ext cx="288032" cy="481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1</a:t>
            </a:r>
            <a:endParaRPr lang="zh-CN" altLang="en-US" sz="20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60940" y="3553523"/>
            <a:ext cx="288032" cy="481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0</a:t>
            </a:r>
            <a:endParaRPr lang="zh-CN" altLang="en-US" sz="20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52556" y="4250187"/>
            <a:ext cx="288032" cy="481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1</a:t>
            </a:r>
            <a:endParaRPr lang="zh-CN" altLang="en-US" sz="20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52556" y="4968879"/>
            <a:ext cx="288032" cy="481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1</a:t>
            </a:r>
            <a:endParaRPr lang="zh-CN" altLang="en-US" sz="20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3" grpId="0"/>
      <p:bldP spid="16" grpId="0"/>
      <p:bldP spid="17" grpId="0"/>
      <p:bldP spid="18" grpId="0"/>
      <p:bldP spid="1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3" name="对象 2"/>
          <p:cNvGraphicFramePr/>
          <p:nvPr>
            <p:custDataLst>
              <p:tags r:id="rId1"/>
            </p:custDataLst>
          </p:nvPr>
        </p:nvGraphicFramePr>
        <p:xfrm>
          <a:off x="810895" y="1917700"/>
          <a:ext cx="7521575" cy="302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" r:id="rId2" imgW="7515225" imgH="3019425" progId="Paint.Picture">
                  <p:embed/>
                </p:oleObj>
              </mc:Choice>
              <mc:Fallback>
                <p:oleObj name="" r:id="rId2" imgW="7515225" imgH="301942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10895" y="1917700"/>
                        <a:ext cx="7521575" cy="302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222210"/>
          <p:cNvSpPr txBox="1">
            <a:spLocks noChangeArrowheads="1"/>
          </p:cNvSpPr>
          <p:nvPr/>
        </p:nvSpPr>
        <p:spPr bwMode="auto">
          <a:xfrm>
            <a:off x="914400" y="1440498"/>
            <a:ext cx="8229600" cy="714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>
              <a:lnSpc>
                <a:spcPct val="135000"/>
              </a:lnSpc>
              <a:spcBef>
                <a:spcPct val="50000"/>
              </a:spcBef>
              <a:buClrTx/>
              <a:buSzTx/>
              <a:defRPr/>
            </a:pPr>
            <a:r>
              <a:rPr kumimoji="0" lang="zh-CN" altLang="en-US" sz="2400" kern="1200" cap="none" spc="0" normalizeH="0" baseline="0" noProof="0" dirty="0"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  <a:sym typeface="+mn-ea"/>
              </a:rPr>
              <a:t>如下列举了一个信源的统计特性。</a:t>
            </a:r>
            <a:endParaRPr kumimoji="0" lang="en-US" altLang="zh-CN" sz="2400" kern="1200" cap="none" spc="0" normalizeH="0" baseline="0" noProof="0" dirty="0">
              <a:latin typeface="楷体_GB2312" panose="02010609030101010101" pitchFamily="49" charset="-122"/>
              <a:ea typeface="楷体_GB2312" panose="02010609030101010101" pitchFamily="49" charset="-122"/>
              <a:cs typeface="+mn-cs"/>
              <a:sym typeface="+mn-ea"/>
            </a:endParaRPr>
          </a:p>
          <a:p>
            <a:pPr marL="342900" marR="0" indent="-342900" defTabSz="914400">
              <a:lnSpc>
                <a:spcPct val="135000"/>
              </a:lnSpc>
              <a:spcBef>
                <a:spcPct val="50000"/>
              </a:spcBef>
              <a:buClrTx/>
              <a:buSzTx/>
              <a:buChar char="•"/>
              <a:defRPr/>
            </a:pPr>
            <a:endParaRPr kumimoji="0" lang="en-US" altLang="zh-CN" sz="2400" kern="1200" cap="none" spc="0" normalizeH="0" baseline="0" noProof="0" dirty="0">
              <a:latin typeface="楷体_GB2312" panose="02010609030101010101" pitchFamily="49" charset="-122"/>
              <a:ea typeface="楷体_GB2312" panose="02010609030101010101" pitchFamily="49" charset="-122"/>
              <a:cs typeface="+mn-cs"/>
              <a:sym typeface="+mn-ea"/>
            </a:endParaRPr>
          </a:p>
          <a:p>
            <a:pPr marL="342900" marR="0" indent="-342900" defTabSz="914400">
              <a:lnSpc>
                <a:spcPct val="135000"/>
              </a:lnSpc>
              <a:spcBef>
                <a:spcPct val="50000"/>
              </a:spcBef>
              <a:buClrTx/>
              <a:buSzTx/>
              <a:buChar char="•"/>
              <a:defRPr/>
            </a:pPr>
            <a:endParaRPr kumimoji="0" lang="en-US" altLang="zh-CN" sz="2400" kern="1200" cap="none" spc="0" normalizeH="0" baseline="0" noProof="0" dirty="0">
              <a:latin typeface="楷体_GB2312" panose="02010609030101010101" pitchFamily="49" charset="-122"/>
              <a:ea typeface="楷体_GB2312" panose="02010609030101010101" pitchFamily="49" charset="-122"/>
              <a:cs typeface="+mn-cs"/>
              <a:sym typeface="+mn-ea"/>
            </a:endParaRPr>
          </a:p>
          <a:p>
            <a:pPr marL="342900" marR="0" indent="-342900" defTabSz="914400">
              <a:lnSpc>
                <a:spcPct val="135000"/>
              </a:lnSpc>
              <a:spcBef>
                <a:spcPct val="50000"/>
              </a:spcBef>
              <a:buClrTx/>
              <a:buSzTx/>
              <a:buChar char="•"/>
              <a:defRPr/>
            </a:pPr>
            <a:endParaRPr kumimoji="0" lang="en-US" altLang="zh-CN" sz="2400" kern="1200" cap="none" spc="0" normalizeH="0" baseline="0" noProof="0" dirty="0">
              <a:latin typeface="楷体_GB2312" panose="02010609030101010101" pitchFamily="49" charset="-122"/>
              <a:ea typeface="楷体_GB2312" panose="02010609030101010101" pitchFamily="49" charset="-122"/>
              <a:cs typeface="+mn-cs"/>
              <a:sym typeface="+mn-ea"/>
            </a:endParaRPr>
          </a:p>
          <a:p>
            <a:pPr marL="457200" marR="0" indent="-457200" defTabSz="914400">
              <a:lnSpc>
                <a:spcPct val="135000"/>
              </a:lnSpc>
              <a:spcBef>
                <a:spcPct val="50000"/>
              </a:spcBef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2400" kern="1200" cap="none" spc="0" normalizeH="0" baseline="0" noProof="0" dirty="0"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  <a:sym typeface="+mn-ea"/>
              </a:rPr>
              <a:t>请写出霍夫曼编码过程（信符缩减过程和二叉树码字分配过程）。</a:t>
            </a: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计算平均码长，编码效率，压缩比。</a:t>
            </a:r>
            <a:endParaRPr kumimoji="0" lang="en-US" altLang="zh-CN" sz="2400" kern="1200" cap="none" spc="0" normalizeH="0" baseline="0" noProof="0" dirty="0">
              <a:latin typeface="楷体_GB2312" panose="02010609030101010101" pitchFamily="49" charset="-122"/>
              <a:ea typeface="楷体_GB2312" panose="02010609030101010101" pitchFamily="49" charset="-122"/>
              <a:cs typeface="+mn-cs"/>
              <a:sym typeface="+mn-ea"/>
            </a:endParaRPr>
          </a:p>
          <a:p>
            <a:pPr marL="457200" marR="0" indent="-457200" defTabSz="914400">
              <a:lnSpc>
                <a:spcPct val="135000"/>
              </a:lnSpc>
              <a:spcBef>
                <a:spcPct val="50000"/>
              </a:spcBef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2400" kern="1200" cap="none" spc="0" normalizeH="0" baseline="0" noProof="0" dirty="0"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  <a:sym typeface="+mn-ea"/>
              </a:rPr>
              <a:t>请写出香农</a:t>
            </a:r>
            <a:r>
              <a:rPr kumimoji="0" lang="en-US" altLang="zh-CN" sz="2400" kern="1200" cap="none" spc="0" normalizeH="0" baseline="0" noProof="0" dirty="0"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  <a:sym typeface="+mn-ea"/>
              </a:rPr>
              <a:t>-</a:t>
            </a:r>
            <a:r>
              <a:rPr kumimoji="0" lang="zh-CN" altLang="en-US" sz="2400" kern="1200" cap="none" spc="0" normalizeH="0" baseline="0" noProof="0" dirty="0"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  <a:sym typeface="+mn-ea"/>
              </a:rPr>
              <a:t>费诺编码过程。</a:t>
            </a:r>
            <a:endParaRPr kumimoji="0" lang="en-US" altLang="zh-CN" sz="2400" kern="1200" cap="none" spc="0" normalizeH="0" baseline="0" noProof="0" dirty="0">
              <a:latin typeface="楷体_GB2312" panose="02010609030101010101" pitchFamily="49" charset="-122"/>
              <a:ea typeface="楷体_GB2312" panose="02010609030101010101" pitchFamily="49" charset="-122"/>
              <a:cs typeface="+mn-cs"/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092200" y="2198370"/>
          <a:ext cx="6959600" cy="1901666"/>
        </p:xfrm>
        <a:graphic>
          <a:graphicData uri="http://schemas.openxmlformats.org/drawingml/2006/table">
            <a:tbl>
              <a:tblPr/>
              <a:tblGrid>
                <a:gridCol w="1747836"/>
                <a:gridCol w="736466"/>
                <a:gridCol w="839317"/>
                <a:gridCol w="839317"/>
                <a:gridCol w="838682"/>
                <a:gridCol w="978991"/>
                <a:gridCol w="978991"/>
              </a:tblGrid>
              <a:tr h="476091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符号集</a:t>
                      </a:r>
                      <a:r>
                        <a:rPr lang="en-US" altLang="zh-CN" sz="20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{a</a:t>
                      </a:r>
                      <a:r>
                        <a:rPr lang="en-US" altLang="zh-CN" sz="2000" b="1" i="1" baseline="-30000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i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} </a:t>
                      </a:r>
                      <a:endParaRPr lang="en-US" altLang="zh-CN" sz="20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i="1" baseline="0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r>
                        <a:rPr lang="en-US" altLang="zh-CN" sz="2000" b="1" baseline="-30000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1</a:t>
                      </a:r>
                      <a:r>
                        <a:rPr lang="en-US" altLang="zh-CN" sz="20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000" b="1" dirty="0" smtClean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i="1" baseline="0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r>
                        <a:rPr lang="en-US" altLang="zh-CN" sz="2000" b="1" baseline="-30000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2</a:t>
                      </a:r>
                      <a:r>
                        <a:rPr lang="en-US" altLang="zh-CN" sz="20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000" b="1" dirty="0" smtClean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i="1" baseline="0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r>
                        <a:rPr lang="en-US" altLang="zh-CN" sz="2000" b="1" baseline="-30000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3</a:t>
                      </a:r>
                      <a:r>
                        <a:rPr lang="en-US" altLang="zh-CN" sz="20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000" b="1" dirty="0" smtClean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i="1" baseline="0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r>
                        <a:rPr lang="en-US" altLang="zh-CN" sz="2000" b="1" baseline="-30000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4</a:t>
                      </a:r>
                      <a:r>
                        <a:rPr lang="en-US" altLang="zh-CN" sz="20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000" b="1" dirty="0" smtClean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i="1" baseline="0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r>
                        <a:rPr lang="en-US" altLang="zh-CN" sz="2000" b="1" baseline="-30000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5</a:t>
                      </a:r>
                      <a:r>
                        <a:rPr lang="en-US" altLang="zh-CN" sz="20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 </a:t>
                      </a:r>
                      <a:endParaRPr lang="en-US" altLang="zh-CN" sz="2000" b="1" dirty="0" smtClean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  <a:sym typeface="+mn-ea"/>
                        </a:rPr>
                        <a:t>a</a:t>
                      </a:r>
                      <a:r>
                        <a:rPr lang="en-US" altLang="zh-CN" sz="1000" b="1" i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  <a:sym typeface="+mn-ea"/>
                        </a:rPr>
                        <a:t>6</a:t>
                      </a:r>
                      <a:r>
                        <a:rPr lang="en-US" altLang="zh-CN" sz="20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  <a:sym typeface="+mn-ea"/>
                        </a:rPr>
                        <a:t> </a:t>
                      </a:r>
                      <a:endParaRPr lang="en-US" altLang="zh-CN" sz="20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371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概率分布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{</a:t>
                      </a:r>
                      <a:r>
                        <a:rPr lang="en-US" altLang="zh-CN" sz="2000" b="1" i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p</a:t>
                      </a:r>
                      <a:r>
                        <a:rPr lang="en-US" altLang="zh-CN" sz="2000" b="1" i="1" baseline="-30000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i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} </a:t>
                      </a:r>
                      <a:endParaRPr lang="en-US" altLang="zh-CN" sz="20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0.25</a:t>
                      </a:r>
                      <a:endParaRPr lang="en-US" altLang="zh-CN" sz="2000" b="1" dirty="0" smtClean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0.3</a:t>
                      </a:r>
                      <a:endParaRPr lang="en-US" altLang="zh-CN" sz="2000" b="1" dirty="0" smtClean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0.2</a:t>
                      </a:r>
                      <a:endParaRPr lang="en-US" altLang="zh-CN" sz="2000" b="1" dirty="0" smtClean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0.05</a:t>
                      </a:r>
                      <a:endParaRPr lang="en-US" altLang="zh-CN" sz="2000" b="1" dirty="0" smtClean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0.12</a:t>
                      </a:r>
                      <a:endParaRPr lang="en-US" altLang="zh-CN" sz="2000" b="1" dirty="0" smtClean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0.08</a:t>
                      </a:r>
                      <a:endParaRPr lang="en-US" altLang="zh-CN" sz="20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zh-CN" altLang="en-US" sz="20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霍夫曼编码</a:t>
                      </a:r>
                      <a:endParaRPr lang="zh-CN" altLang="en-US" sz="2000" b="1" dirty="0" smtClean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altLang="zh-CN" sz="20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altLang="zh-CN" sz="20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altLang="zh-CN" sz="20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altLang="zh-CN" sz="20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altLang="zh-CN" sz="20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altLang="zh-CN" sz="20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zh-CN" altLang="en-US" sz="2000" b="1" dirty="0" smtClean="0"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香农编码</a:t>
                      </a:r>
                      <a:endParaRPr lang="zh-CN" altLang="en-US" sz="2000" b="1" dirty="0" smtClean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altLang="zh-CN" sz="20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altLang="zh-CN" sz="20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altLang="zh-CN" sz="20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altLang="zh-CN" sz="20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altLang="zh-CN" sz="20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endParaRPr lang="en-US" altLang="zh-CN" sz="2000" b="1" dirty="0"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L="91423" marR="91423" marT="45705" marB="4570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5713" name="标题 150529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10668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练习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标题 150529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10668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练习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15714" name="文本占位符 150530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267200"/>
          </a:xfrm>
        </p:spPr>
        <p:txBody>
          <a:bodyPr vert="horz" wrap="square" lIns="91440" tIns="45720" rIns="91440" bIns="45720" anchor="t" anchorCtr="0"/>
          <a:lstStyle/>
          <a:p>
            <a:pPr marL="0" indent="0" algn="just" eaLnBrk="1" hangingPunct="1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根据信源的概率分布进行算术编码。已知信源的概率分布为</a:t>
            </a:r>
            <a:endParaRPr lang="zh-CN" altLang="en-US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just" eaLnBrk="1" hangingPunct="1">
              <a:lnSpc>
                <a:spcPct val="120000"/>
              </a:lnSpc>
            </a:pPr>
            <a:endParaRPr lang="zh-CN" altLang="en-US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just" eaLnBrk="1" hangingPunct="1">
              <a:lnSpc>
                <a:spcPct val="120000"/>
              </a:lnSpc>
            </a:pPr>
            <a:endParaRPr lang="zh-CN" altLang="en-US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just" eaLnBrk="1" hangingPunct="1">
              <a:lnSpc>
                <a:spcPct val="120000"/>
              </a:lnSpc>
            </a:pPr>
            <a:endParaRPr lang="zh-CN" altLang="en-US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indent="0" algn="just" eaLnBrk="1" hangingPunct="1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求二进制序列</a:t>
            </a: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01011</a:t>
            </a:r>
            <a:r>
              <a:rPr lang="zh-CN" altLang="en-US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的编码及解码过程。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115715" name="Object 1" descr="image57"/>
          <p:cNvGraphicFramePr/>
          <p:nvPr/>
        </p:nvGraphicFramePr>
        <p:xfrm>
          <a:off x="3064510" y="2060258"/>
          <a:ext cx="1907540" cy="1324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3" name="" r:id="rId1" imgW="736600" imgH="508000" progId="Equation.3">
                  <p:embed/>
                </p:oleObj>
              </mc:Choice>
              <mc:Fallback>
                <p:oleObj name="" r:id="rId1" imgW="736600" imgH="5080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64510" y="2060258"/>
                        <a:ext cx="1907540" cy="13246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标题 10752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9144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6.3 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预测编码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586" name="内容占位符 107522"/>
          <p:cNvSpPr>
            <a:spLocks noGrp="1"/>
          </p:cNvSpPr>
          <p:nvPr>
            <p:ph idx="1"/>
          </p:nvPr>
        </p:nvSpPr>
        <p:spPr>
          <a:xfrm>
            <a:off x="457200" y="1524000"/>
            <a:ext cx="7772400" cy="358394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0000"/>
              </a:lnSpc>
              <a:buNone/>
            </a:pPr>
            <a:r>
              <a:rPr lang="zh-CN" altLang="en-US" dirty="0">
                <a:ea typeface="楷体_GB2312" panose="02010609030101010101" pitchFamily="49" charset="-122"/>
              </a:rPr>
              <a:t>预测编码的基本思想：</a:t>
            </a:r>
            <a:endParaRPr lang="zh-CN" altLang="en-US" dirty="0">
              <a:ea typeface="楷体_GB2312" panose="02010609030101010101" pitchFamily="49" charset="-122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ea typeface="楷体_GB2312" panose="02010609030101010101" pitchFamily="49" charset="-122"/>
              </a:rPr>
              <a:t>在某种模型的指导下，</a:t>
            </a:r>
            <a:r>
              <a:rPr lang="zh-CN" altLang="en-US" sz="2400" b="1" dirty="0">
                <a:solidFill>
                  <a:srgbClr val="7030A0"/>
                </a:solidFill>
                <a:ea typeface="楷体_GB2312" panose="02010609030101010101" pitchFamily="49" charset="-122"/>
              </a:rPr>
              <a:t>根据过去的样本序列推测当前的信号样本值</a:t>
            </a:r>
            <a:r>
              <a:rPr lang="zh-CN" altLang="en-US" sz="2400" dirty="0">
                <a:ea typeface="楷体_GB2312" panose="02010609030101010101" pitchFamily="49" charset="-122"/>
              </a:rPr>
              <a:t>，然后用实际值与预测值之间的</a:t>
            </a:r>
            <a:r>
              <a:rPr lang="zh-CN" altLang="en-US" sz="2400" dirty="0">
                <a:solidFill>
                  <a:srgbClr val="FF3300"/>
                </a:solidFill>
                <a:ea typeface="楷体_GB2312" panose="02010609030101010101" pitchFamily="49" charset="-122"/>
              </a:rPr>
              <a:t>误差值</a:t>
            </a:r>
            <a:r>
              <a:rPr lang="zh-CN" altLang="en-US" sz="2400" dirty="0">
                <a:ea typeface="楷体_GB2312" panose="02010609030101010101" pitchFamily="49" charset="-122"/>
              </a:rPr>
              <a:t>进行编码。</a:t>
            </a:r>
            <a:endParaRPr lang="zh-CN" altLang="en-US" sz="2400" dirty="0">
              <a:ea typeface="楷体_GB2312" panose="02010609030101010101" pitchFamily="49" charset="-122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ea typeface="楷体_GB2312" panose="02010609030101010101" pitchFamily="49" charset="-122"/>
              </a:rPr>
              <a:t>如果模型与实际情况符合得比较好且信号序列的相关性较强，则</a:t>
            </a:r>
            <a:r>
              <a:rPr lang="zh-CN" altLang="en-US" sz="2400" b="1" dirty="0">
                <a:ea typeface="楷体_GB2312" panose="02010609030101010101" pitchFamily="49" charset="-122"/>
              </a:rPr>
              <a:t>误差信号的幅度将远远小于样本信号</a:t>
            </a:r>
            <a:r>
              <a:rPr lang="zh-CN" altLang="en-US" sz="2400" dirty="0">
                <a:ea typeface="楷体_GB2312" panose="02010609030101010101" pitchFamily="49" charset="-122"/>
              </a:rPr>
              <a:t>。</a:t>
            </a:r>
            <a:endParaRPr lang="zh-CN" altLang="en-US" sz="2400" dirty="0"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标题 110593"/>
          <p:cNvSpPr>
            <a:spLocks noGrp="1"/>
          </p:cNvSpPr>
          <p:nvPr>
            <p:ph type="title"/>
          </p:nvPr>
        </p:nvSpPr>
        <p:spPr>
          <a:xfrm>
            <a:off x="457200" y="115888"/>
            <a:ext cx="8167688" cy="1027112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dirty="0">
                <a:ea typeface="楷体_GB2312" panose="02010609030101010101" pitchFamily="49" charset="-122"/>
              </a:rPr>
              <a:t>6.3.1  </a:t>
            </a:r>
            <a:r>
              <a:rPr lang="zh-CN" altLang="en-US" dirty="0">
                <a:ea typeface="楷体_GB2312" panose="02010609030101010101" pitchFamily="49" charset="-122"/>
              </a:rPr>
              <a:t>预测编码基本原理</a:t>
            </a:r>
            <a:endParaRPr lang="zh-CN" altLang="en-US" dirty="0">
              <a:ea typeface="楷体_GB2312" panose="02010609030101010101" pitchFamily="49" charset="-122"/>
            </a:endParaRPr>
          </a:p>
        </p:txBody>
      </p:sp>
      <p:sp>
        <p:nvSpPr>
          <p:cNvPr id="63490" name="文本占位符 110594"/>
          <p:cNvSpPr>
            <a:spLocks noGrp="1"/>
          </p:cNvSpPr>
          <p:nvPr>
            <p:ph idx="1"/>
          </p:nvPr>
        </p:nvSpPr>
        <p:spPr>
          <a:xfrm>
            <a:off x="609600" y="1371600"/>
            <a:ext cx="7924800" cy="2627313"/>
          </a:xfrm>
        </p:spPr>
        <p:txBody>
          <a:bodyPr vert="horz" wrap="square" lIns="91440" tIns="45720" rIns="91440" bIns="45720" anchor="t"/>
          <a:lstStyle/>
          <a:p>
            <a:pPr marL="0" marR="0" indent="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对实际值与预测值之间的误差值进行编码</a:t>
            </a:r>
            <a:endParaRPr kumimoji="0" lang="zh-CN" altLang="en-US" sz="2800" i="0" u="none" strike="noStrike" kern="1200" cap="none" spc="0" normalizeH="0" baseline="0" noProof="1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  <a:p>
            <a:pPr marL="342900" marR="0" indent="-34290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280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差分脉冲编码调制</a:t>
            </a:r>
            <a:endParaRPr kumimoji="0" lang="zh-CN" altLang="en-US" sz="2800" i="0" u="none" strike="noStrike" kern="1200" cap="none" spc="0" normalizeH="0" baseline="0" noProof="1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</a:pPr>
            <a:r>
              <a:rPr kumimoji="0" lang="en-US" altLang="zh-CN" sz="2400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Differential Pulse Code Modulation</a:t>
            </a:r>
            <a:endParaRPr kumimoji="0" lang="en-US" altLang="zh-CN" sz="2400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</a:pPr>
            <a:r>
              <a:rPr kumimoji="0" lang="en-US" altLang="zh-CN" sz="2400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DPCM</a:t>
            </a:r>
            <a:endParaRPr kumimoji="0" lang="en-US" altLang="zh-CN" sz="2400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3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34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34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标题 111617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dirty="0">
                <a:latin typeface="Times New Roman" panose="02020603050405020304" pitchFamily="18" charset="0"/>
                <a:ea typeface="楷体_GB2312" panose="02010609030101010101" pitchFamily="49" charset="-122"/>
              </a:rPr>
              <a:t>DPCM</a:t>
            </a:r>
            <a:r>
              <a:rPr lang="zh-CN" altLang="en-US" dirty="0">
                <a:latin typeface="宋体" panose="02010600030101010101" pitchFamily="2" charset="-122"/>
                <a:ea typeface="楷体_GB2312" panose="02010609030101010101" pitchFamily="49" charset="-122"/>
              </a:rPr>
              <a:t>系统的组成</a:t>
            </a:r>
            <a:r>
              <a:rPr lang="zh-CN" altLang="en-US" sz="3200" b="1" dirty="0">
                <a:solidFill>
                  <a:schemeClr val="hlink"/>
                </a:solidFill>
                <a:ea typeface="楷体_GB2312" panose="02010609030101010101" pitchFamily="49" charset="-122"/>
              </a:rPr>
              <a:t> </a:t>
            </a:r>
            <a:endParaRPr lang="zh-CN" altLang="en-US" sz="3200" b="1" dirty="0">
              <a:solidFill>
                <a:schemeClr val="hlink"/>
              </a:solidFill>
              <a:ea typeface="楷体_GB2312" panose="02010609030101010101" pitchFamily="49" charset="-122"/>
            </a:endParaRPr>
          </a:p>
        </p:txBody>
      </p:sp>
      <p:graphicFrame>
        <p:nvGraphicFramePr>
          <p:cNvPr id="70658" name="Object 1" descr="image59"/>
          <p:cNvGraphicFramePr/>
          <p:nvPr/>
        </p:nvGraphicFramePr>
        <p:xfrm>
          <a:off x="1219200" y="1320800"/>
          <a:ext cx="6350000" cy="366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7" name="" r:id="rId1" imgW="2945130" imgH="1996440" progId="">
                  <p:embed/>
                </p:oleObj>
              </mc:Choice>
              <mc:Fallback>
                <p:oleObj name="" r:id="rId1" imgW="2945130" imgH="1996440" progId="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19200" y="1320800"/>
                        <a:ext cx="6350000" cy="3660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59" name="文本框 3"/>
          <p:cNvSpPr txBox="1"/>
          <p:nvPr/>
        </p:nvSpPr>
        <p:spPr>
          <a:xfrm>
            <a:off x="921385" y="5396865"/>
            <a:ext cx="7300913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预测编码可分为：线性预测编码、非线性预测编码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标题 113665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9144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dirty="0">
                <a:ea typeface="楷体_GB2312" panose="02010609030101010101" pitchFamily="49" charset="-122"/>
              </a:rPr>
              <a:t>6.3.2  </a:t>
            </a:r>
            <a:r>
              <a:rPr lang="zh-CN" altLang="en-US" dirty="0">
                <a:ea typeface="楷体_GB2312" panose="02010609030101010101" pitchFamily="49" charset="-122"/>
              </a:rPr>
              <a:t>线性预测编码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5538" name="文本占位符 113666"/>
          <p:cNvSpPr>
            <a:spLocks noGrp="1"/>
          </p:cNvSpPr>
          <p:nvPr>
            <p:ph idx="1"/>
          </p:nvPr>
        </p:nvSpPr>
        <p:spPr>
          <a:xfrm>
            <a:off x="304800" y="1371600"/>
            <a:ext cx="8229600" cy="4525963"/>
          </a:xfrm>
        </p:spPr>
        <p:txBody>
          <a:bodyPr vert="horz" wrap="square" lIns="91440" tIns="45720" rIns="91440" bIns="45720" anchor="t"/>
          <a:lstStyle/>
          <a:p>
            <a:pPr marL="342900" marR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假设经扫描后的图像信号</a:t>
            </a:r>
            <a:r>
              <a:rPr kumimoji="0" lang="en-US" altLang="zh-CN" sz="2400" b="0" i="1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x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(</a:t>
            </a:r>
            <a:r>
              <a:rPr kumimoji="0" lang="en-US" altLang="zh-CN" sz="2400" b="0" i="1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t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)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是一个均值为零、方差为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的平稳随机过程。线性预测就是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根据前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N-1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个像素的线性组合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，即选择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系数</a:t>
            </a:r>
            <a:r>
              <a:rPr kumimoji="0" lang="en-US" altLang="zh-CN" sz="2400" b="1" i="1" u="none" strike="noStrike" kern="1200" cap="none" spc="0" normalizeH="0" baseline="0" noProof="1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a</a:t>
            </a:r>
            <a:r>
              <a:rPr kumimoji="0" lang="en-US" altLang="zh-CN" sz="2400" b="1" i="0" u="none" strike="noStrike" kern="1200" cap="none" spc="0" normalizeH="0" baseline="-25000" noProof="1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i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（</a:t>
            </a:r>
            <a:r>
              <a:rPr kumimoji="0" lang="en-US" altLang="zh-CN" sz="2400" b="0" i="1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i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  <a:sym typeface="Symbol" panose="05050102010706020507" pitchFamily="18" charset="2"/>
              </a:rPr>
              <a:t>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 1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，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，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…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，</a:t>
            </a:r>
            <a:r>
              <a:rPr kumimoji="0" lang="en-US" altLang="zh-CN" sz="2400" b="0" i="1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N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  <a:sym typeface="Symbol" panose="05050102010706020507" pitchFamily="18" charset="2"/>
              </a:rPr>
              <a:t>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）使预测值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                   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N-1</a:t>
            </a:r>
            <a:r>
              <a:rPr kumimoji="0" lang="zh-CN" altLang="zh-CN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是线性预测的阶数；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round 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表示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四舍五入或者取最接近的整数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的运算的函数；</a:t>
            </a:r>
            <a:r>
              <a:rPr kumimoji="0" lang="en-US" altLang="zh-CN" sz="2400" b="1" i="1" u="none" strike="noStrike" kern="1200" cap="none" spc="0" normalizeH="0" baseline="0" noProof="1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a</a:t>
            </a:r>
            <a:r>
              <a:rPr kumimoji="0" lang="en-US" altLang="zh-CN" sz="2400" b="1" i="0" u="none" strike="noStrike" kern="1200" cap="none" spc="0" normalizeH="0" baseline="-25000" noProof="1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i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是预测系数。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并且使差值</a:t>
            </a:r>
            <a:r>
              <a:rPr kumimoji="0" lang="en-US" altLang="zh-CN" sz="2400" b="0" i="1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e</a:t>
            </a:r>
            <a:r>
              <a:rPr kumimoji="0" lang="en-US" altLang="zh-CN" sz="2400" b="0" i="0" u="none" strike="noStrike" kern="1200" cap="none" spc="0" normalizeH="0" baseline="-2500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n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的均方值为最小。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2400" b="1" i="0" u="none" strike="noStrike" kern="1200" cap="none" spc="0" normalizeH="0" baseline="0" noProof="1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预测信号的均方误差（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MSE</a:t>
            </a:r>
            <a:r>
              <a:rPr kumimoji="0" lang="zh-CN" altLang="en-US" sz="2400" b="1" i="0" u="none" strike="noStrike" kern="1200" cap="none" spc="0" normalizeH="0" baseline="0" noProof="1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）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定义为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  <a:p>
            <a:pPr marL="342900" marR="0" indent="-34290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                         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E{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+mn-ea"/>
              </a:rPr>
              <a:t>(e</a:t>
            </a:r>
            <a:r>
              <a:rPr kumimoji="0" lang="en-US" altLang="zh-CN" sz="2400" b="1" i="1" u="none" strike="noStrike" kern="1200" cap="none" spc="0" normalizeH="0" baseline="-2500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+mn-ea"/>
              </a:rPr>
              <a:t>n</a:t>
            </a:r>
            <a:r>
              <a:rPr kumimoji="0" lang="en-US" altLang="zh-CN" sz="2400" b="1" i="1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+mn-ea"/>
              </a:rPr>
              <a:t>)</a:t>
            </a:r>
            <a:r>
              <a:rPr kumimoji="0" lang="en-US" altLang="zh-CN" sz="2400" b="1" i="0" u="none" strike="noStrike" kern="1200" cap="none" spc="0" normalizeH="0" baseline="3000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+mn-ea"/>
              </a:rPr>
              <a:t> 2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} = E{(</a:t>
            </a:r>
            <a:r>
              <a:rPr kumimoji="0" lang="en-US" altLang="zh-CN" sz="2400" b="1" i="1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kumimoji="0" lang="en-US" altLang="zh-CN" sz="2400" b="1" i="1" u="none" strike="noStrike" kern="1200" cap="none" spc="0" normalizeH="0" baseline="-2500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kumimoji="0" lang="en-US" altLang="zh-CN" sz="2400" b="1" i="0" u="none" strike="noStrike" kern="1200" cap="none" spc="0" normalizeH="0" baseline="-3000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- x</a:t>
            </a:r>
            <a:r>
              <a:rPr kumimoji="0" lang="en-US" altLang="zh-CN" sz="2400" b="1" i="1" u="none" strike="noStrike" kern="1200" cap="none" spc="0" normalizeH="0" baseline="3000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′</a:t>
            </a:r>
            <a:r>
              <a:rPr kumimoji="0" lang="en-US" altLang="zh-CN" sz="2400" b="1" i="1" u="none" strike="noStrike" kern="1200" cap="none" spc="0" normalizeH="0" baseline="-2500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kumimoji="0" lang="en-US" altLang="zh-CN" sz="2400" b="1" i="1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en-US" altLang="zh-CN" sz="2400" b="1" i="0" u="none" strike="noStrike" kern="1200" cap="none" spc="0" normalizeH="0" baseline="3000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 2</a:t>
            </a:r>
            <a:r>
              <a:rPr kumimoji="0" lang="en-US" altLang="zh-CN" sz="2400" b="1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}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		</a:t>
            </a:r>
            <a:endParaRPr kumimoji="0" lang="en-US" altLang="zh-CN" sz="2400" b="0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72707" name="Object 2" descr="image60"/>
          <p:cNvGraphicFramePr/>
          <p:nvPr/>
        </p:nvGraphicFramePr>
        <p:xfrm>
          <a:off x="2557463" y="2759075"/>
          <a:ext cx="341947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1" name="" r:id="rId1" imgW="1422400" imgH="431800" progId="Equation.3">
                  <p:embed/>
                </p:oleObj>
              </mc:Choice>
              <mc:Fallback>
                <p:oleObj name="" r:id="rId1" imgW="1422400" imgH="4318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57463" y="2759075"/>
                        <a:ext cx="3419475" cy="1044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8" name="Object 1"/>
          <p:cNvGraphicFramePr/>
          <p:nvPr/>
        </p:nvGraphicFramePr>
        <p:xfrm>
          <a:off x="8001000" y="1357313"/>
          <a:ext cx="63023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2" name="" r:id="rId3" imgW="346075" imgH="302895" progId="Equation.DSMT4">
                  <p:embed/>
                </p:oleObj>
              </mc:Choice>
              <mc:Fallback>
                <p:oleObj name="" r:id="rId3" imgW="346075" imgH="302895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01000" y="1357313"/>
                        <a:ext cx="630238" cy="450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2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5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5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55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55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标题 114689"/>
          <p:cNvSpPr>
            <a:spLocks noGrp="1"/>
          </p:cNvSpPr>
          <p:nvPr>
            <p:ph type="title"/>
          </p:nvPr>
        </p:nvSpPr>
        <p:spPr>
          <a:xfrm>
            <a:off x="390525" y="-38100"/>
            <a:ext cx="8229600" cy="1143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zh-CN" altLang="en-US" sz="3600" dirty="0">
                <a:ea typeface="楷体_GB2312" panose="02010609030101010101" pitchFamily="49" charset="-122"/>
              </a:rPr>
              <a:t>设计最佳预测的系数</a:t>
            </a:r>
            <a:r>
              <a:rPr lang="en-US" altLang="zh-CN" sz="3600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a</a:t>
            </a:r>
            <a:r>
              <a:rPr lang="en-US" altLang="zh-CN" sz="3600" i="1" baseline="-25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i</a:t>
            </a:r>
            <a:r>
              <a:rPr lang="zh-CN" altLang="en-US" sz="3600" dirty="0">
                <a:ea typeface="楷体_GB2312" panose="02010609030101010101" pitchFamily="49" charset="-122"/>
              </a:rPr>
              <a:t>，采用</a:t>
            </a:r>
            <a:r>
              <a:rPr lang="en-US" altLang="zh-CN" sz="3600" dirty="0">
                <a:ea typeface="楷体_GB2312" panose="02010609030101010101" pitchFamily="49" charset="-122"/>
              </a:rPr>
              <a:t>MMSE</a:t>
            </a:r>
            <a:endParaRPr lang="en-US" altLang="zh-CN" sz="3600" dirty="0">
              <a:ea typeface="楷体_GB2312" panose="02010609030101010101" pitchFamily="49" charset="-122"/>
            </a:endParaRPr>
          </a:p>
        </p:txBody>
      </p:sp>
      <p:sp>
        <p:nvSpPr>
          <p:cNvPr id="66562" name="文本占位符 114690"/>
          <p:cNvSpPr>
            <a:spLocks noGrp="1"/>
          </p:cNvSpPr>
          <p:nvPr>
            <p:ph idx="1"/>
          </p:nvPr>
        </p:nvSpPr>
        <p:spPr>
          <a:xfrm>
            <a:off x="533400" y="1295400"/>
            <a:ext cx="8229600" cy="4525963"/>
          </a:xfrm>
        </p:spPr>
        <p:txBody>
          <a:bodyPr vert="horz" wrap="square" lIns="91440" tIns="45720" rIns="91440" bIns="45720" anchor="t"/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最小均方误差准则。可以令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定义</a:t>
            </a:r>
            <a:r>
              <a:rPr kumimoji="0" lang="en-US" altLang="zh-CN" sz="2400" b="0" i="1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kumimoji="0" lang="en-US" altLang="zh-CN" sz="2400" b="0" i="1" u="none" strike="noStrike" kern="1200" cap="none" spc="0" normalizeH="0" baseline="-2500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和</a:t>
            </a:r>
            <a:r>
              <a:rPr kumimoji="0" lang="en-US" altLang="zh-CN" sz="2400" b="0" i="1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kumimoji="0" lang="en-US" altLang="zh-CN" sz="2400" b="0" i="0" u="none" strike="noStrike" kern="1200" cap="none" spc="0" normalizeH="0" baseline="-2500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j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的自相关函数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1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                           </a:t>
            </a:r>
            <a:r>
              <a:rPr kumimoji="0" lang="en-US" altLang="zh-CN" sz="2400" b="0" i="1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R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+mn-ea"/>
              </a:rPr>
              <a:t>(i,j)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= </a:t>
            </a:r>
            <a:r>
              <a:rPr kumimoji="0" lang="en-US" altLang="zh-CN" sz="2400" b="0" i="1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E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{</a:t>
            </a:r>
            <a:r>
              <a:rPr kumimoji="0" lang="en-US" altLang="zh-CN" sz="2400" b="0" i="1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kumimoji="0" lang="en-US" altLang="zh-CN" sz="2400" b="0" i="1" u="none" strike="noStrike" kern="1200" cap="none" spc="0" normalizeH="0" baseline="-3000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，</a:t>
            </a:r>
            <a:r>
              <a:rPr kumimoji="0" lang="en-US" altLang="zh-CN" sz="2400" b="0" i="1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x</a:t>
            </a:r>
            <a:r>
              <a:rPr kumimoji="0" lang="en-US" altLang="zh-CN" sz="2400" b="0" i="1" u="none" strike="noStrike" kern="1200" cap="none" spc="0" normalizeH="0" baseline="-3000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j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}</a:t>
            </a:r>
            <a:endParaRPr kumimoji="0" lang="en-US" altLang="zh-CN" sz="2400" b="0" i="0" u="none" strike="noStrike" kern="1200" cap="none" spc="0" normalizeH="0" baseline="0" noProof="1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                           R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+mn-ea"/>
              </a:rPr>
              <a:t>(i,j)=R(i-j)</a:t>
            </a:r>
            <a:endParaRPr kumimoji="0" lang="en-US" altLang="zh-CN" sz="2400" b="0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写成矩阵形式为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Yule-Walker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方程组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                                                       </a:t>
            </a:r>
            <a:endParaRPr kumimoji="0" lang="zh-CN" altLang="en-US" sz="2400" b="1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400" b="1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rPr>
              <a:t>                                                                                               </a:t>
            </a:r>
            <a:endParaRPr kumimoji="0" lang="zh-CN" altLang="en-US" sz="2400" b="1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en-US" sz="2400" b="1" i="0" u="none" strike="noStrike" kern="1200" cap="none" spc="0" normalizeH="0" baseline="0" noProof="1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3731" name="矩形 114691"/>
          <p:cNvSpPr/>
          <p:nvPr/>
        </p:nvSpPr>
        <p:spPr>
          <a:xfrm>
            <a:off x="-323850" y="-747712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endParaRPr lang="zh-CN" altLang="en-US" dirty="0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graphicFrame>
        <p:nvGraphicFramePr>
          <p:cNvPr id="73732" name="Object 3" descr="image61"/>
          <p:cNvGraphicFramePr/>
          <p:nvPr/>
        </p:nvGraphicFramePr>
        <p:xfrm>
          <a:off x="4829175" y="1181100"/>
          <a:ext cx="118745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5" name="" r:id="rId1" imgW="749300" imgH="457200" progId="Equation.3">
                  <p:embed/>
                </p:oleObj>
              </mc:Choice>
              <mc:Fallback>
                <p:oleObj name="" r:id="rId1" imgW="749300" imgH="4572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29175" y="1181100"/>
                        <a:ext cx="1187450" cy="727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3" name="Object 2" descr="image62"/>
          <p:cNvGraphicFramePr/>
          <p:nvPr/>
        </p:nvGraphicFramePr>
        <p:xfrm>
          <a:off x="990600" y="3657600"/>
          <a:ext cx="63246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6" name="" r:id="rId3" imgW="3162300" imgH="800100" progId="Equation.3">
                  <p:embed/>
                </p:oleObj>
              </mc:Choice>
              <mc:Fallback>
                <p:oleObj name="" r:id="rId3" imgW="3162300" imgH="8001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0600" y="3657600"/>
                        <a:ext cx="6324600" cy="160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4" name="Object 1" descr="image63"/>
          <p:cNvGraphicFramePr/>
          <p:nvPr/>
        </p:nvGraphicFramePr>
        <p:xfrm>
          <a:off x="5703888" y="2874963"/>
          <a:ext cx="1981200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7" name="" r:id="rId5" imgW="1129665" imgH="444500" progId="Equation.3">
                  <p:embed/>
                </p:oleObj>
              </mc:Choice>
              <mc:Fallback>
                <p:oleObj name="" r:id="rId5" imgW="1129665" imgH="4445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03888" y="2874963"/>
                        <a:ext cx="1981200" cy="782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5" name="矩形 114697"/>
          <p:cNvSpPr/>
          <p:nvPr/>
        </p:nvSpPr>
        <p:spPr>
          <a:xfrm>
            <a:off x="812800" y="5486400"/>
            <a:ext cx="79502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）已知，该方程组可以用递推算法来求解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标题 115713"/>
          <p:cNvSpPr>
            <a:spLocks noGrp="1"/>
          </p:cNvSpPr>
          <p:nvPr>
            <p:ph type="title"/>
          </p:nvPr>
        </p:nvSpPr>
        <p:spPr>
          <a:xfrm>
            <a:off x="395288" y="115888"/>
            <a:ext cx="8229600" cy="1027112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zh-CN" altLang="en-US" sz="4000" dirty="0">
                <a:ea typeface="楷体_GB2312" panose="02010609030101010101" pitchFamily="49" charset="-122"/>
              </a:rPr>
              <a:t>通过分析可以得出以下结论：</a:t>
            </a:r>
            <a:endParaRPr lang="en-US" altLang="zh-CN" sz="4000" dirty="0">
              <a:ea typeface="楷体_GB2312" panose="02010609030101010101" pitchFamily="49" charset="-122"/>
            </a:endParaRPr>
          </a:p>
        </p:txBody>
      </p:sp>
      <p:sp>
        <p:nvSpPr>
          <p:cNvPr id="61442" name="文本占位符 115714"/>
          <p:cNvSpPr>
            <a:spLocks noGrp="1"/>
          </p:cNvSpPr>
          <p:nvPr>
            <p:ph idx="1"/>
          </p:nvPr>
        </p:nvSpPr>
        <p:spPr>
          <a:xfrm>
            <a:off x="395288" y="2041525"/>
            <a:ext cx="8731250" cy="22209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图像的相关性越强，压缩效果越好。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  <a:p>
            <a:pPr marL="342900" marR="0" lvl="0" indent="-3429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预测阶数并非越大越好。当某个阶数已使</a:t>
            </a:r>
            <a:r>
              <a:rPr kumimoji="0" lang="en-US" altLang="zh-CN" sz="24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E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{</a:t>
            </a:r>
            <a:r>
              <a:rPr kumimoji="0" lang="en-US" altLang="zh-CN" sz="24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e</a:t>
            </a:r>
            <a:r>
              <a:rPr kumimoji="0" lang="en-US" altLang="zh-CN" sz="2400" b="0" i="1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N </a:t>
            </a:r>
            <a:r>
              <a:rPr kumimoji="0" lang="en-US" altLang="zh-CN" sz="2400" b="0" i="1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e</a:t>
            </a:r>
            <a:r>
              <a:rPr kumimoji="0" lang="en-US" altLang="zh-CN" sz="2400" b="0" i="1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N </a:t>
            </a:r>
            <a:r>
              <a:rPr kumimoji="0" lang="en-US" altLang="zh-CN" sz="2400" b="0" i="1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  <a:sym typeface="Symbol" panose="05050102010706020507" pitchFamily="18" charset="2"/>
              </a:rPr>
              <a:t></a:t>
            </a:r>
            <a:r>
              <a:rPr kumimoji="0" lang="en-US" altLang="zh-CN" sz="2400" b="0" i="1" u="none" strike="noStrike" kern="120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1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} 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  <a:sym typeface="Symbol" panose="05050102010706020507" pitchFamily="18" charset="2"/>
              </a:rPr>
              <a:t></a:t>
            </a: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 0</a:t>
            </a: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时，即使再增加预测点数，压缩效果也不可能继续提高。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标题 11776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zh-CN" altLang="en-US" sz="4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常用预测器方案</a:t>
            </a:r>
            <a:endParaRPr lang="zh-CN" altLang="en-US" sz="40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7826" name="文本占位符 117762"/>
          <p:cNvSpPr>
            <a:spLocks noGrp="1"/>
          </p:cNvSpPr>
          <p:nvPr>
            <p:ph idx="1"/>
          </p:nvPr>
        </p:nvSpPr>
        <p:spPr>
          <a:xfrm>
            <a:off x="533400" y="1371600"/>
            <a:ext cx="8305800" cy="4525963"/>
          </a:xfrm>
        </p:spPr>
        <p:txBody>
          <a:bodyPr vert="horz" wrap="square" lIns="91440" tIns="45720" rIns="91440" bIns="45720" anchor="t" anchorCtr="0"/>
          <a:lstStyle/>
          <a:p>
            <a:pPr marL="0" indent="0" eaLnBrk="1" latinLnBrk="0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前值预测：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用</a:t>
            </a:r>
            <a:r>
              <a:rPr lang="en-US" altLang="zh-CN" sz="2400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同一行的最近邻近像素来预测，如</a:t>
            </a:r>
            <a:r>
              <a:rPr lang="en-US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                                </a:t>
            </a:r>
            <a:endParaRPr lang="en-US" altLang="zh-CN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一维预测：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用</a:t>
            </a:r>
            <a:r>
              <a:rPr lang="en-US" altLang="zh-CN" sz="2400" i="1" dirty="0">
                <a:latin typeface="Times New Roman" panose="02020603050405020304" pitchFamily="18" charset="0"/>
                <a:ea typeface="楷体_GB2312" panose="02010609030101010101" pitchFamily="49" charset="-122"/>
                <a:sym typeface="+mn-ea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ea typeface="楷体_GB2312" panose="02010609030101010101" pitchFamily="49" charset="-122"/>
                <a:sym typeface="+mn-ea"/>
              </a:rPr>
              <a:t>0  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同一行的前若干邻近像素来预测，如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下图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中的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、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5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二维预测：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用</a:t>
            </a:r>
            <a:r>
              <a:rPr lang="en-US" altLang="zh-CN" sz="2400" i="1" dirty="0">
                <a:latin typeface="Times New Roman" panose="02020603050405020304" pitchFamily="18" charset="0"/>
                <a:ea typeface="楷体_GB2312" panose="02010609030101010101" pitchFamily="49" charset="-122"/>
                <a:sym typeface="+mn-ea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ea typeface="楷体_GB2312" panose="02010609030101010101" pitchFamily="49" charset="-122"/>
                <a:sym typeface="+mn-ea"/>
              </a:rPr>
              <a:t>0  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同一行的前面所有邻近像素和前几行的取样值来预测，如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  <a:sym typeface="+mn-ea"/>
              </a:rPr>
              <a:t>下图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中的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、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、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、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、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5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、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6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、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7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等。</a:t>
            </a:r>
            <a:endParaRPr lang="zh-CN" altLang="en-US" sz="2400" b="1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楷体_GB2312" panose="02010609030101010101" pitchFamily="49" charset="-122"/>
              </a:rPr>
              <a:t>三维预测：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在二维预测的基础上，利用上帧或前几帧的邻近取样值作为</a:t>
            </a:r>
            <a:r>
              <a:rPr lang="en-US" altLang="zh-CN" sz="2400" i="1" dirty="0">
                <a:latin typeface="Times New Roman" panose="02020603050405020304" pitchFamily="18" charset="0"/>
                <a:ea typeface="楷体_GB2312" panose="02010609030101010101" pitchFamily="49" charset="-122"/>
                <a:sym typeface="+mn-ea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ea typeface="楷体_GB2312" panose="02010609030101010101" pitchFamily="49" charset="-122"/>
                <a:sym typeface="+mn-ea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 的取样值，主要应用在视频图像的压缩。</a:t>
            </a:r>
            <a:endParaRPr lang="zh-CN" altLang="en-US" sz="24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7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7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7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78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78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标题 11776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zh-CN" altLang="en-US" sz="4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常用预测器方案</a:t>
            </a:r>
            <a:endParaRPr lang="zh-CN" altLang="en-US" sz="40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graphicFrame>
        <p:nvGraphicFramePr>
          <p:cNvPr id="697346" name="Object 1" descr="image64"/>
          <p:cNvGraphicFramePr/>
          <p:nvPr/>
        </p:nvGraphicFramePr>
        <p:xfrm>
          <a:off x="531168" y="2456696"/>
          <a:ext cx="7793360" cy="1944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9" name="" r:id="rId1" imgW="2377440" imgH="647700" progId="">
                  <p:embed/>
                </p:oleObj>
              </mc:Choice>
              <mc:Fallback>
                <p:oleObj name="" r:id="rId1" imgW="2377440" imgH="647700" progId="">
                  <p:embed/>
                  <p:pic>
                    <p:nvPicPr>
                      <p:cNvPr id="0" name="Object 1" descr="image6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1168" y="2456696"/>
                        <a:ext cx="7793360" cy="1944216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6220" y="309880"/>
            <a:ext cx="4545965" cy="504190"/>
          </a:xfrm>
        </p:spPr>
        <p:txBody>
          <a:bodyPr vert="horz" wrap="square" lIns="0" tIns="12065" rIns="0" bIns="0" rtlCol="0">
            <a:spAutoFit/>
          </a:bodyPr>
          <a:lstStyle/>
          <a:p>
            <a:pPr marL="12700" marR="0" indent="0" algn="l" defTabSz="914400" rtl="0" eaLnBrk="0" fontAlgn="base" latinLnBrk="0" hangingPunct="0">
              <a:lnSpc>
                <a:spcPct val="100000"/>
              </a:lnSpc>
              <a:spcBef>
                <a:spcPts val="95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sz="3200" b="0" i="0" u="none" strike="noStrike" kern="1200" cap="none" spc="-15" normalizeH="0" baseline="0" noProof="1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华文行楷" panose="02010800040101010101" pitchFamily="2" charset="-122"/>
              </a:rPr>
              <a:t>例：预测</a:t>
            </a:r>
            <a:r>
              <a:rPr kumimoji="0" lang="zh-CN" sz="3200" b="0" i="0" u="none" strike="noStrike" kern="1200" cap="none" spc="-15" normalizeH="0" baseline="0" noProof="1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华文行楷" panose="02010800040101010101" pitchFamily="2" charset="-122"/>
              </a:rPr>
              <a:t>编码</a:t>
            </a:r>
            <a:r>
              <a:rPr kumimoji="0" sz="3200" b="0" i="0" u="none" strike="noStrike" kern="1200" cap="none" spc="-15" normalizeH="0" baseline="0" noProof="1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华文行楷" panose="02010800040101010101" pitchFamily="2" charset="-122"/>
              </a:rPr>
              <a:t>的对比</a:t>
            </a:r>
            <a:endParaRPr kumimoji="0" sz="3200" b="0" i="0" u="none" strike="noStrike" kern="1200" cap="none" spc="-15" normalizeH="0" baseline="0" noProof="1">
              <a:solidFill>
                <a:schemeClr val="accent2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华文行楷" panose="02010800040101010101" pitchFamily="2" charset="-122"/>
            </a:endParaRPr>
          </a:p>
        </p:txBody>
      </p:sp>
      <p:sp>
        <p:nvSpPr>
          <p:cNvPr id="79873" name="object 5"/>
          <p:cNvSpPr/>
          <p:nvPr/>
        </p:nvSpPr>
        <p:spPr>
          <a:xfrm>
            <a:off x="2518728" y="1166813"/>
            <a:ext cx="6302375" cy="5037137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 anchor="t" anchorCtr="0"/>
          <a:lstStyle/>
          <a:p>
            <a:endParaRPr lang="zh-CN" altLang="zh-CN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19" name="object 10"/>
          <p:cNvSpPr txBox="1"/>
          <p:nvPr/>
        </p:nvSpPr>
        <p:spPr>
          <a:xfrm>
            <a:off x="402015" y="5126454"/>
            <a:ext cx="3024336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EE2B0A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新宋体" panose="02010609030101010101" charset="-122"/>
              </a:rPr>
              <a:t>结论：随着预测器阶数的增加误差减少了</a:t>
            </a:r>
            <a:endParaRPr sz="2400" dirty="0">
              <a:latin typeface="楷体_GB2312" panose="02010609030101010101" pitchFamily="49" charset="-122"/>
              <a:ea typeface="楷体_GB2312" panose="02010609030101010101" pitchFamily="49" charset="-122"/>
              <a:cs typeface="新宋体" panose="02010609030101010101" charset="-122"/>
            </a:endParaRPr>
          </a:p>
        </p:txBody>
      </p:sp>
      <p:pic>
        <p:nvPicPr>
          <p:cNvPr id="702466" name="Picture 2"/>
          <p:cNvPicPr>
            <a:picLocks noChangeAspect="1" noChangeArrowheads="1"/>
          </p:cNvPicPr>
          <p:nvPr/>
        </p:nvPicPr>
        <p:blipFill>
          <a:blip r:embed="rId2" cstate="print"/>
          <a:srcRect r="50468"/>
          <a:stretch>
            <a:fillRect/>
          </a:stretch>
        </p:blipFill>
        <p:spPr bwMode="auto">
          <a:xfrm>
            <a:off x="1203643" y="1167195"/>
            <a:ext cx="2376264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9877" name="object 7"/>
          <p:cNvSpPr txBox="1"/>
          <p:nvPr/>
        </p:nvSpPr>
        <p:spPr>
          <a:xfrm>
            <a:off x="8255318" y="1167130"/>
            <a:ext cx="482600" cy="38163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12700" rIns="0" bIns="0" anchor="t" anchorCtr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zh-CN" sz="2400" dirty="0">
                <a:latin typeface="新宋体" panose="02010609030101010101" charset="-122"/>
                <a:ea typeface="华文行楷" panose="02010800040101010101" pitchFamily="2" charset="-122"/>
              </a:rPr>
              <a:t>2阶</a:t>
            </a:r>
            <a:endParaRPr lang="zh-CN" altLang="zh-CN" sz="2400" dirty="0">
              <a:latin typeface="新宋体" panose="02010609030101010101" charset="-122"/>
              <a:ea typeface="华文行楷" panose="02010800040101010101" pitchFamily="2" charset="-122"/>
            </a:endParaRPr>
          </a:p>
        </p:txBody>
      </p:sp>
      <p:sp>
        <p:nvSpPr>
          <p:cNvPr id="79878" name="object 8"/>
          <p:cNvSpPr txBox="1"/>
          <p:nvPr/>
        </p:nvSpPr>
        <p:spPr>
          <a:xfrm>
            <a:off x="5806440" y="5822315"/>
            <a:ext cx="482600" cy="38163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12700" rIns="0" bIns="0" anchor="t" anchorCtr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zh-CN" sz="2400" dirty="0">
                <a:latin typeface="新宋体" panose="02010609030101010101" charset="-122"/>
                <a:ea typeface="华文行楷" panose="02010800040101010101" pitchFamily="2" charset="-122"/>
              </a:rPr>
              <a:t>3阶</a:t>
            </a:r>
            <a:endParaRPr lang="zh-CN" altLang="zh-CN" sz="2400" dirty="0">
              <a:latin typeface="新宋体" panose="02010609030101010101" charset="-122"/>
              <a:ea typeface="华文行楷" panose="02010800040101010101" pitchFamily="2" charset="-122"/>
            </a:endParaRPr>
          </a:p>
        </p:txBody>
      </p:sp>
      <p:sp>
        <p:nvSpPr>
          <p:cNvPr id="79879" name="object 9"/>
          <p:cNvSpPr txBox="1"/>
          <p:nvPr/>
        </p:nvSpPr>
        <p:spPr>
          <a:xfrm>
            <a:off x="8338503" y="5822315"/>
            <a:ext cx="482600" cy="38163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12700" rIns="0" bIns="0" anchor="t" anchorCtr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zh-CN" sz="2400" dirty="0">
                <a:latin typeface="新宋体" panose="02010609030101010101" charset="-122"/>
                <a:ea typeface="华文行楷" panose="02010800040101010101" pitchFamily="2" charset="-122"/>
              </a:rPr>
              <a:t>4阶</a:t>
            </a:r>
            <a:endParaRPr lang="zh-CN" altLang="zh-CN" sz="2400" dirty="0">
              <a:latin typeface="新宋体" panose="02010609030101010101" charset="-122"/>
              <a:ea typeface="华文行楷" panose="02010800040101010101" pitchFamily="2" charset="-122"/>
            </a:endParaRPr>
          </a:p>
        </p:txBody>
      </p:sp>
      <p:sp>
        <p:nvSpPr>
          <p:cNvPr id="79876" name="object 6"/>
          <p:cNvSpPr txBox="1"/>
          <p:nvPr/>
        </p:nvSpPr>
        <p:spPr>
          <a:xfrm>
            <a:off x="5806123" y="1167130"/>
            <a:ext cx="482600" cy="38163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12700" rIns="0" bIns="0" anchor="t" anchorCtr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zh-CN" sz="2400" dirty="0">
                <a:latin typeface="新宋体" panose="02010609030101010101" charset="-122"/>
                <a:ea typeface="华文行楷" panose="02010800040101010101" pitchFamily="2" charset="-122"/>
              </a:rPr>
              <a:t>1阶</a:t>
            </a:r>
            <a:endParaRPr lang="zh-CN" altLang="zh-CN" sz="2400" dirty="0">
              <a:latin typeface="新宋体" panose="02010609030101010101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标题 120833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6858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6.4 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变换编码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922" name="内容占位符 120834"/>
          <p:cNvSpPr>
            <a:spLocks noGrp="1"/>
          </p:cNvSpPr>
          <p:nvPr>
            <p:ph idx="1"/>
          </p:nvPr>
        </p:nvSpPr>
        <p:spPr>
          <a:xfrm>
            <a:off x="304800" y="1295400"/>
            <a:ext cx="8566150" cy="25273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sz="28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6.4.1  </a:t>
            </a:r>
            <a:r>
              <a:rPr lang="zh-CN" altLang="en-US" sz="2800" b="1" dirty="0">
                <a:solidFill>
                  <a:schemeClr val="accent2"/>
                </a:solidFill>
                <a:ea typeface="楷体_GB2312" panose="02010609030101010101" pitchFamily="49" charset="-122"/>
              </a:rPr>
              <a:t>变换编码的基本原理</a:t>
            </a:r>
            <a:endParaRPr lang="en-US" altLang="zh-CN" sz="28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  <a:p>
            <a:pPr eaLnBrk="1" hangingPunct="1">
              <a:buNone/>
            </a:pPr>
            <a:endParaRPr lang="zh-CN" altLang="en-US" sz="900" b="1" dirty="0">
              <a:solidFill>
                <a:schemeClr val="accent2"/>
              </a:solidFill>
              <a:ea typeface="楷体_GB2312" panose="02010609030101010101" pitchFamily="49" charset="-122"/>
            </a:endParaRPr>
          </a:p>
          <a:p>
            <a:pPr eaLnBrk="1" hangingPunct="1">
              <a:lnSpc>
                <a:spcPts val="3675"/>
              </a:lnSpc>
              <a:spcBef>
                <a:spcPct val="0"/>
              </a:spcBef>
              <a:buNone/>
            </a:pPr>
            <a:r>
              <a:rPr lang="zh-CN" altLang="en-US" b="1" dirty="0">
                <a:ea typeface="楷体_GB2312" panose="02010609030101010101" pitchFamily="49" charset="-122"/>
              </a:rPr>
              <a:t>         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8463" y="1920875"/>
            <a:ext cx="8472487" cy="15049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ts val="3675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采用正交变换对图像进行处理 ，可将空域高度相关的像素灰度值，变为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弱相关或不相关的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频谱系数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，经正交变换后，并没有丢失图像的信息，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anose="02010609030101010101" pitchFamily="49" charset="-122"/>
              </a:rPr>
              <a:t>总的能量保持不变</a:t>
            </a:r>
            <a:r>
              <a:rPr lang="zh-CN" altLang="en-US" sz="24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，但重新分配。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7850" y="4313238"/>
            <a:ext cx="8137525" cy="15049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ts val="3675"/>
              </a:lnSpc>
            </a:pP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   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图像经过正交变换后，实现了能量集中，使得大部分系数为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0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或很小的值，这些值可以进行不很精确的量化（或完全丢弃），几乎不会产生多少图像失真。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7850" y="3648075"/>
            <a:ext cx="505968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正交变换能够获得高压缩比的原因：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/>
          <p:cNvPicPr>
            <a:picLocks noChangeAspect="1" noChangeArrowheads="1"/>
          </p:cNvPicPr>
          <p:nvPr/>
        </p:nvPicPr>
        <p:blipFill>
          <a:blip r:embed="rId1" cstate="print"/>
          <a:srcRect r="63086"/>
          <a:stretch>
            <a:fillRect/>
          </a:stretch>
        </p:blipFill>
        <p:spPr bwMode="auto">
          <a:xfrm>
            <a:off x="1475656" y="2420888"/>
            <a:ext cx="2210120" cy="1941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2" cstate="print"/>
          <a:srcRect l="11631"/>
          <a:stretch>
            <a:fillRect/>
          </a:stretch>
        </p:blipFill>
        <p:spPr bwMode="auto">
          <a:xfrm>
            <a:off x="5148064" y="2420888"/>
            <a:ext cx="1944216" cy="208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右箭头 16"/>
          <p:cNvSpPr/>
          <p:nvPr/>
        </p:nvSpPr>
        <p:spPr>
          <a:xfrm>
            <a:off x="4211960" y="3140968"/>
            <a:ext cx="576064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921" name="标题 120833"/>
          <p:cNvSpPr>
            <a:spLocks noGrp="1"/>
          </p:cNvSpPr>
          <p:nvPr/>
        </p:nvSpPr>
        <p:spPr>
          <a:xfrm>
            <a:off x="381000" y="152400"/>
            <a:ext cx="8229600" cy="685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accent2"/>
                </a:solidFill>
                <a:latin typeface="+mj-lt"/>
                <a:ea typeface="+mj-ea"/>
                <a:cs typeface="华文行楷" panose="02010800040101010101" pitchFamily="2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cs typeface="华文行楷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cs typeface="华文行楷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cs typeface="华文行楷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cs typeface="华文行楷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cs typeface="华文行楷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cs typeface="华文行楷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cs typeface="华文行楷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cs typeface="华文行楷" panose="0201080004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6.4 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变换编码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标题 124929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9144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dirty="0">
                <a:ea typeface="楷体_GB2312" panose="02010609030101010101" pitchFamily="49" charset="-122"/>
              </a:rPr>
              <a:t>6.4.2  </a:t>
            </a:r>
            <a:r>
              <a:rPr lang="zh-CN" altLang="en-US" dirty="0">
                <a:ea typeface="楷体_GB2312" panose="02010609030101010101" pitchFamily="49" charset="-122"/>
              </a:rPr>
              <a:t>变换编码的系统结构</a:t>
            </a:r>
            <a:endParaRPr lang="zh-CN" altLang="en-US" dirty="0"/>
          </a:p>
        </p:txBody>
      </p:sp>
      <p:sp>
        <p:nvSpPr>
          <p:cNvPr id="82946" name="文本框 3"/>
          <p:cNvSpPr txBox="1"/>
          <p:nvPr/>
        </p:nvSpPr>
        <p:spPr>
          <a:xfrm>
            <a:off x="3131820" y="3933190"/>
            <a:ext cx="253047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变换编码系统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3732" name="文本框 5"/>
          <p:cNvSpPr txBox="1"/>
          <p:nvPr/>
        </p:nvSpPr>
        <p:spPr>
          <a:xfrm>
            <a:off x="332423" y="4779645"/>
            <a:ext cx="8478837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编码过程：</a:t>
            </a:r>
            <a:r>
              <a:rPr lang="zh-CN" altLang="en-US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子图像分解；变换；量化；编码。</a:t>
            </a:r>
            <a:endParaRPr lang="zh-CN" altLang="en-US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>
            <a:off x="953770" y="2135505"/>
            <a:ext cx="738505" cy="8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692910" y="1743075"/>
            <a:ext cx="1024890" cy="7924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/>
              <a:t>子图像分解</a:t>
            </a:r>
            <a:endParaRPr lang="zh-CN" altLang="en-US" sz="2000"/>
          </a:p>
        </p:txBody>
      </p:sp>
      <p:cxnSp>
        <p:nvCxnSpPr>
          <p:cNvPr id="4" name="直接箭头连接符 3"/>
          <p:cNvCxnSpPr/>
          <p:nvPr/>
        </p:nvCxnSpPr>
        <p:spPr>
          <a:xfrm>
            <a:off x="2731135" y="2118995"/>
            <a:ext cx="738505" cy="8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3470275" y="1726565"/>
            <a:ext cx="818515" cy="7924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正交变换</a:t>
            </a:r>
            <a:endParaRPr lang="zh-CN" altLang="en-US" sz="2000" dirty="0"/>
          </a:p>
        </p:txBody>
      </p:sp>
      <p:cxnSp>
        <p:nvCxnSpPr>
          <p:cNvPr id="6" name="直接箭头连接符 5"/>
          <p:cNvCxnSpPr/>
          <p:nvPr/>
        </p:nvCxnSpPr>
        <p:spPr>
          <a:xfrm>
            <a:off x="4293235" y="2102485"/>
            <a:ext cx="738505" cy="8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032375" y="1710055"/>
            <a:ext cx="793115" cy="7924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/>
              <a:t>量化</a:t>
            </a:r>
            <a:endParaRPr lang="zh-CN" altLang="en-US" sz="2000"/>
          </a:p>
        </p:txBody>
      </p:sp>
      <p:sp>
        <p:nvSpPr>
          <p:cNvPr id="8" name="矩形 7"/>
          <p:cNvSpPr/>
          <p:nvPr/>
        </p:nvSpPr>
        <p:spPr>
          <a:xfrm>
            <a:off x="6594475" y="1693545"/>
            <a:ext cx="807085" cy="7924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/>
              <a:t>编码</a:t>
            </a:r>
            <a:endParaRPr lang="zh-CN" altLang="en-US" sz="2000"/>
          </a:p>
        </p:txBody>
      </p:sp>
      <p:cxnSp>
        <p:nvCxnSpPr>
          <p:cNvPr id="9" name="直接箭头连接符 8"/>
          <p:cNvCxnSpPr/>
          <p:nvPr/>
        </p:nvCxnSpPr>
        <p:spPr>
          <a:xfrm>
            <a:off x="5855335" y="2085975"/>
            <a:ext cx="738505" cy="8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84150" y="1632585"/>
            <a:ext cx="7410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输入</a:t>
            </a:r>
            <a:endParaRPr lang="zh-CN" altLang="en-US" sz="20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图像</a:t>
            </a:r>
            <a:endParaRPr lang="zh-CN" altLang="en-US" sz="20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275955" y="1544320"/>
            <a:ext cx="7410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压缩</a:t>
            </a:r>
            <a:endParaRPr lang="zh-CN" altLang="en-US" sz="20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图像</a:t>
            </a:r>
            <a:endParaRPr lang="zh-CN" altLang="en-US" sz="20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7417435" y="2069465"/>
            <a:ext cx="738505" cy="8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1726565" y="3267075"/>
            <a:ext cx="738505" cy="8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465705" y="2874645"/>
            <a:ext cx="1024890" cy="7924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/>
              <a:t>解码</a:t>
            </a:r>
            <a:endParaRPr lang="zh-CN" altLang="en-US" sz="2000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3503930" y="3250565"/>
            <a:ext cx="738505" cy="8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243070" y="2858135"/>
            <a:ext cx="1031240" cy="7924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/>
              <a:t>逆变换</a:t>
            </a:r>
            <a:endParaRPr lang="zh-CN" altLang="en-US" sz="2000"/>
          </a:p>
        </p:txBody>
      </p:sp>
      <p:cxnSp>
        <p:nvCxnSpPr>
          <p:cNvPr id="17" name="直接箭头连接符 16"/>
          <p:cNvCxnSpPr>
            <a:stCxn id="16" idx="3"/>
          </p:cNvCxnSpPr>
          <p:nvPr/>
        </p:nvCxnSpPr>
        <p:spPr>
          <a:xfrm flipV="1">
            <a:off x="5274310" y="3242310"/>
            <a:ext cx="530225" cy="120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5805170" y="2841625"/>
            <a:ext cx="793115" cy="7924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/>
              <a:t>图像融合</a:t>
            </a:r>
            <a:endParaRPr lang="zh-CN" altLang="en-US" sz="2000"/>
          </a:p>
        </p:txBody>
      </p:sp>
      <p:cxnSp>
        <p:nvCxnSpPr>
          <p:cNvPr id="20" name="直接箭头连接符 19"/>
          <p:cNvCxnSpPr/>
          <p:nvPr/>
        </p:nvCxnSpPr>
        <p:spPr>
          <a:xfrm>
            <a:off x="6628130" y="3217545"/>
            <a:ext cx="738505" cy="8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899795" y="2764155"/>
            <a:ext cx="7410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压缩</a:t>
            </a:r>
            <a:endParaRPr lang="zh-CN" altLang="en-US" sz="20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图像</a:t>
            </a:r>
            <a:endParaRPr lang="zh-CN" altLang="en-US" sz="20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446645" y="2652395"/>
            <a:ext cx="7410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解压</a:t>
            </a:r>
            <a:endParaRPr lang="zh-CN" altLang="en-US" sz="20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图像</a:t>
            </a:r>
            <a:endParaRPr lang="zh-CN" altLang="en-US" sz="20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6" grpId="0"/>
      <p:bldP spid="82946" grpId="1"/>
      <p:bldP spid="73732" grpId="0"/>
      <p:bldP spid="73732" grpId="1"/>
      <p:bldP spid="3" grpId="0" animBg="1"/>
      <p:bldP spid="3" grpId="1" animBg="1"/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10" grpId="0"/>
      <p:bldP spid="10" grpId="1"/>
      <p:bldP spid="11" grpId="0"/>
      <p:bldP spid="11" grpId="1"/>
      <p:bldP spid="14" grpId="0" animBg="1"/>
      <p:bldP spid="14" grpId="1" animBg="1"/>
      <p:bldP spid="16" grpId="0" bldLvl="0" animBg="1"/>
      <p:bldP spid="16" grpId="1" animBg="1"/>
      <p:bldP spid="18" grpId="0" animBg="1"/>
      <p:bldP spid="18" grpId="1" animBg="1"/>
      <p:bldP spid="21" grpId="0"/>
      <p:bldP spid="21" grpId="1"/>
      <p:bldP spid="22" grpId="0"/>
      <p:bldP spid="22" grpId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内容占位符 2"/>
          <p:cNvSpPr>
            <a:spLocks noGrp="1"/>
          </p:cNvSpPr>
          <p:nvPr>
            <p:ph idx="1"/>
          </p:nvPr>
        </p:nvSpPr>
        <p:spPr>
          <a:xfrm>
            <a:off x="133350" y="1806575"/>
            <a:ext cx="8778875" cy="1733550"/>
          </a:xfrm>
        </p:spPr>
        <p:txBody>
          <a:bodyPr vert="horz" wrap="square" lIns="91440" tIns="45720" rIns="91440" bIns="45720" anchor="t" anchorCtr="0"/>
          <a:lstStyle/>
          <a:p>
            <a:pPr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/>
              <a:t>           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利用正交变换压缩编码时，若对全尺寸图像直接计算，计算量比较大，硬件难以承受，需要划分子图像后进行计算。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</a:t>
            </a:r>
            <a:endParaRPr lang="en-US" altLang="zh-CN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buNone/>
            </a:pP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  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18160" y="3164840"/>
            <a:ext cx="8394065" cy="1753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图像分块大小的选择应该使得</a:t>
            </a: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相邻子图像之间的相关性</a:t>
            </a:r>
            <a:endParaRPr lang="zh-CN" altLang="en-US" sz="2400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保持在某个可接受的程度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。一般图像在相邻的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20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个像素之间存在相关性，因此一般选择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n=8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或者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n=16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4" name="标题 126977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dirty="0">
                <a:ea typeface="楷体_GB2312" panose="02010609030101010101" pitchFamily="49" charset="-122"/>
              </a:rPr>
              <a:t>6.4.3  </a:t>
            </a:r>
            <a:r>
              <a:rPr lang="zh-CN" altLang="en-US" dirty="0">
                <a:ea typeface="楷体_GB2312" panose="02010609030101010101" pitchFamily="49" charset="-122"/>
              </a:rPr>
              <a:t>变换编码的实现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80035" y="1326515"/>
            <a:ext cx="45796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zh-CN" altLang="en-US" b="1">
                <a:latin typeface="楷体_GB2312" panose="02010609030101010101" pitchFamily="49" charset="-122"/>
                <a:ea typeface="楷体_GB2312" panose="02010609030101010101" pitchFamily="49" charset="-122"/>
              </a:rPr>
              <a:t>子图像分解：</a:t>
            </a:r>
            <a:endParaRPr lang="zh-CN" altLang="en-US" b="1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7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57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7" grpId="0" build="p"/>
      <p:bldP spid="75777" grpId="1" build="p"/>
      <p:bldP spid="2" grpId="0"/>
      <p:bldP spid="2" grpId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内容占位符 2"/>
          <p:cNvSpPr>
            <a:spLocks noGrp="1"/>
          </p:cNvSpPr>
          <p:nvPr>
            <p:ph idx="1"/>
          </p:nvPr>
        </p:nvSpPr>
        <p:spPr>
          <a:xfrm>
            <a:off x="428625" y="1571625"/>
            <a:ext cx="8229600" cy="19050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ts val="3675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  </a:t>
            </a:r>
            <a:endParaRPr lang="en-US" altLang="zh-CN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eaLnBrk="1" hangingPunct="1">
              <a:lnSpc>
                <a:spcPts val="3675"/>
              </a:lnSpc>
              <a:spcBef>
                <a:spcPct val="0"/>
              </a:spcBef>
              <a:buNone/>
            </a:pPr>
            <a:endParaRPr lang="en-US" altLang="zh-CN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eaLnBrk="1" hangingPunct="1">
              <a:lnSpc>
                <a:spcPts val="3675"/>
              </a:lnSpc>
              <a:spcBef>
                <a:spcPct val="0"/>
              </a:spcBef>
              <a:buNone/>
            </a:pPr>
            <a:endParaRPr lang="en-US" altLang="zh-CN" sz="18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eaLnBrk="1" hangingPunct="1">
              <a:lnSpc>
                <a:spcPts val="3675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</a:t>
            </a:r>
            <a:endParaRPr lang="en-US" altLang="zh-CN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4195" y="2089785"/>
            <a:ext cx="8080375" cy="23069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常用的正交变换包括：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DFT</a:t>
            </a:r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变换，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DCT</a:t>
            </a:r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变换，沃尔什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哈达码变换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，他们的去相关性低于</a:t>
            </a:r>
            <a:r>
              <a:rPr lang="en-US" altLang="zh-CN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K-L</a:t>
            </a:r>
            <a:r>
              <a:rPr lang="zh-CN" altLang="en-US" sz="24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变换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，但存在快速算法，并且具有固定的变换矩阵，因而比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K-L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应用更加广泛。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80035" y="1326515"/>
            <a:ext cx="45796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楷体_GB2312" panose="02010609030101010101" pitchFamily="49" charset="-122"/>
                <a:ea typeface="楷体_GB2312" panose="02010609030101010101" pitchFamily="49" charset="-122"/>
              </a:rPr>
              <a:t>2. </a:t>
            </a:r>
            <a:r>
              <a:rPr lang="zh-CN" altLang="en-US" b="1">
                <a:latin typeface="楷体_GB2312" panose="02010609030101010101" pitchFamily="49" charset="-122"/>
                <a:ea typeface="楷体_GB2312" panose="02010609030101010101" pitchFamily="49" charset="-122"/>
              </a:rPr>
              <a:t>变换方法选择：</a:t>
            </a:r>
            <a:endParaRPr lang="zh-CN" altLang="en-US" b="1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4" name="标题 126977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dirty="0">
                <a:ea typeface="楷体_GB2312" panose="02010609030101010101" pitchFamily="49" charset="-122"/>
              </a:rPr>
              <a:t>6.4.3  </a:t>
            </a:r>
            <a:r>
              <a:rPr lang="zh-CN" altLang="en-US" dirty="0">
                <a:ea typeface="楷体_GB2312" panose="02010609030101010101" pitchFamily="49" charset="-122"/>
              </a:rPr>
              <a:t>变换编码的实现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68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68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1" grpId="0" uiExpand="1" build="p"/>
      <p:bldP spid="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168525"/>
            <a:ext cx="8229600" cy="312991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 系数的选择相当于滤波，即选择的系数保留，未选择的令系数为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4" name="标题 126977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dirty="0">
                <a:ea typeface="楷体_GB2312" panose="02010609030101010101" pitchFamily="49" charset="-122"/>
              </a:rPr>
              <a:t>6.4.3  </a:t>
            </a:r>
            <a:r>
              <a:rPr lang="zh-CN" altLang="en-US" dirty="0">
                <a:ea typeface="楷体_GB2312" panose="02010609030101010101" pitchFamily="49" charset="-122"/>
              </a:rPr>
              <a:t>变换编码的实现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80035" y="1326515"/>
            <a:ext cx="45796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楷体_GB2312" panose="02010609030101010101" pitchFamily="49" charset="-122"/>
                <a:ea typeface="楷体_GB2312" panose="02010609030101010101" pitchFamily="49" charset="-122"/>
              </a:rPr>
              <a:t>3. </a:t>
            </a:r>
            <a:r>
              <a:rPr lang="zh-CN" altLang="en-US" b="1">
                <a:latin typeface="楷体_GB2312" panose="02010609030101010101" pitchFamily="49" charset="-122"/>
                <a:ea typeface="楷体_GB2312" panose="02010609030101010101" pitchFamily="49" charset="-122"/>
              </a:rPr>
              <a:t>变换系数的选择：</a:t>
            </a:r>
            <a:endParaRPr lang="zh-CN" altLang="en-US" b="1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28265" y="3500755"/>
            <a:ext cx="3120390" cy="69532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r" defTabSz="266700" eaLnBrk="0" fontAlgn="base">
              <a:spcBef>
                <a:spcPts val="1100"/>
              </a:spcBef>
              <a:spcAft>
                <a:spcPct val="0"/>
              </a:spcAft>
            </a:pPr>
            <a:r>
              <a:rPr lang="en-US" altLang="zh-CN" sz="2400" i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G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(u,v)=F  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(u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,v)P(u, 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v)</a:t>
            </a:r>
            <a:endParaRPr lang="en-US" altLang="zh-CN" sz="2400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2" grpId="0"/>
      <p:bldP spid="2" grpId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0350" y="2322195"/>
            <a:ext cx="86410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3.1 </a:t>
            </a:r>
            <a:r>
              <a:rPr lang="zh-CN" altLang="en-US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区域法：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  <a:p>
            <a:pPr marL="0" marR="0" lv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+mj-lt"/>
              <a:buNone/>
              <a:defRPr/>
            </a:pPr>
            <a:r>
              <a:rPr lang="zh-CN" altLang="en-US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     </a:t>
            </a:r>
            <a:r>
              <a:rPr lang="zh-CN" altLang="en-US" noProof="0" dirty="0" smtClean="0">
                <a:ln>
                  <a:noFill/>
                </a:ln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区域法是选取特定区域的变换系数进行量化编码，区域外的系数被舍弃。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80035" y="1326515"/>
            <a:ext cx="45796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楷体_GB2312" panose="02010609030101010101" pitchFamily="49" charset="-122"/>
                <a:ea typeface="楷体_GB2312" panose="02010609030101010101" pitchFamily="49" charset="-122"/>
              </a:rPr>
              <a:t>3. </a:t>
            </a:r>
            <a:r>
              <a:rPr lang="zh-CN" altLang="en-US" b="1">
                <a:latin typeface="楷体_GB2312" panose="02010609030101010101" pitchFamily="49" charset="-122"/>
                <a:ea typeface="楷体_GB2312" panose="02010609030101010101" pitchFamily="49" charset="-122"/>
              </a:rPr>
              <a:t>变换系数的选择：</a:t>
            </a:r>
            <a:endParaRPr lang="zh-CN" altLang="en-US" b="1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7" name="标题 126977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dirty="0">
                <a:ea typeface="楷体_GB2312" panose="02010609030101010101" pitchFamily="49" charset="-122"/>
              </a:rPr>
              <a:t>6.4.3  </a:t>
            </a:r>
            <a:r>
              <a:rPr lang="zh-CN" altLang="en-US" dirty="0">
                <a:ea typeface="楷体_GB2312" panose="02010609030101010101" pitchFamily="49" charset="-122"/>
              </a:rPr>
              <a:t>变换编码的实现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2339340" y="4364990"/>
            <a:ext cx="1809750" cy="7893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627630" y="4364990"/>
            <a:ext cx="3389630" cy="787400"/>
          </a:xfrm>
          <a:prstGeom prst="rect">
            <a:avLst/>
          </a:prstGeom>
        </p:spPr>
        <p:txBody>
          <a:bodyPr wrap="square">
            <a:spAutoFit/>
          </a:bodyPr>
          <a:p>
            <a:pPr marL="1758315" indent="-126365" algn="l" defTabSz="266700" eaLnBrk="0" fontAlgn="base">
              <a:lnSpc>
                <a:spcPct val="118000"/>
              </a:lnSpc>
              <a:spcBef>
                <a:spcPts val="90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(u,v)</a:t>
            </a: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∈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选定区域</a:t>
            </a:r>
            <a:endParaRPr lang="zh-CN" altLang="en-US"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758315" indent="-126365" algn="l" defTabSz="266700" eaLnBrk="0" fontAlgn="base">
              <a:lnSpc>
                <a:spcPct val="118000"/>
              </a:lnSpc>
              <a:spcBef>
                <a:spcPts val="90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else</a:t>
            </a:r>
            <a:endParaRPr lang="en-US" altLang="zh-CN" sz="1600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3" grpId="0"/>
      <p:bldP spid="3" grpId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矩形 5"/>
          <p:cNvSpPr/>
          <p:nvPr/>
        </p:nvSpPr>
        <p:spPr>
          <a:xfrm>
            <a:off x="395288" y="1915478"/>
            <a:ext cx="8501062" cy="23996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区域选择越大，图像失真就越小，但压缩比会降低；反之区域越小，则失真越大，但压缩比会提高。区域大小的选择，应根据变换后频域能量的集中程度。能量越集中，区域越小；反之，能量越分散，区域越大。</a:t>
            </a:r>
            <a:endParaRPr lang="zh-CN" altLang="en-US" sz="2400" dirty="0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3405" y="1393825"/>
            <a:ext cx="23164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区域法特点：</a:t>
            </a:r>
            <a:endParaRPr lang="zh-CN" altLang="en-US"/>
          </a:p>
        </p:txBody>
      </p:sp>
      <p:sp>
        <p:nvSpPr>
          <p:cNvPr id="4" name="标题 126977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dirty="0">
                <a:ea typeface="楷体_GB2312" panose="02010609030101010101" pitchFamily="49" charset="-122"/>
              </a:rPr>
              <a:t>6.4.3  </a:t>
            </a:r>
            <a:r>
              <a:rPr lang="zh-CN" altLang="en-US" dirty="0">
                <a:ea typeface="楷体_GB2312" panose="02010609030101010101" pitchFamily="49" charset="-122"/>
              </a:rPr>
              <a:t>变换编码的实现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/>
      <p:bldP spid="80898" grpId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9" name="Picture 3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3600" b="2259"/>
          <a:stretch>
            <a:fillRect/>
          </a:stretch>
        </p:blipFill>
        <p:spPr>
          <a:xfrm>
            <a:off x="2458720" y="3959860"/>
            <a:ext cx="3409632" cy="83788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95288" y="1426845"/>
            <a:ext cx="7912100" cy="253301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28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</a:rPr>
              <a:t>3.2 </a:t>
            </a:r>
            <a:r>
              <a:rPr lang="zh-CN" altLang="en-US" sz="28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</a:rPr>
              <a:t>阈值法：</a:t>
            </a:r>
            <a:endParaRPr lang="en-US" altLang="zh-CN" sz="2400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  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阈值法采用最大幅值原则，根据实际情况设定适当幅度的阈值，若变换系数超过该阈值，则保留系数进行编码，否则补零。选择滤波器为：</a:t>
            </a:r>
            <a:endParaRPr lang="zh-CN" altLang="en-US" sz="2400" dirty="0">
              <a:latin typeface="Times New Roman" panose="02020603050405020304" pitchFamily="18" charset="0"/>
              <a:ea typeface="华文行楷" panose="02010800040101010101" pitchFamily="2" charset="-122"/>
            </a:endParaRPr>
          </a:p>
          <a:p>
            <a:endParaRPr lang="zh-CN" altLang="en-US" sz="2400" dirty="0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4" name="标题 126977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dirty="0">
                <a:ea typeface="楷体_GB2312" panose="02010609030101010101" pitchFamily="49" charset="-122"/>
              </a:rPr>
              <a:t>6.4.3  </a:t>
            </a:r>
            <a:r>
              <a:rPr lang="zh-CN" altLang="en-US" dirty="0">
                <a:ea typeface="楷体_GB2312" panose="02010609030101010101" pitchFamily="49" charset="-122"/>
              </a:rPr>
              <a:t>变换编码的实现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0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extBox 3"/>
          <p:cNvSpPr txBox="1"/>
          <p:nvPr/>
        </p:nvSpPr>
        <p:spPr>
          <a:xfrm>
            <a:off x="428625" y="2168843"/>
            <a:ext cx="828675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在选取的过程中，不仅大部分低频成分被保留下来了，某些超过阈值的高频成分也被保留下来，这样在一定程度上保留了</a:t>
            </a: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恢复图像的轮廓和细节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。缺点是需要对</a:t>
            </a: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选择系数的位置进行编码，编码占用比特数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比较多，这样会降低有效的压缩比。</a:t>
            </a:r>
            <a:endParaRPr lang="zh-CN" altLang="en-US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8625" y="1393825"/>
            <a:ext cx="23164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阈值法特点：</a:t>
            </a:r>
            <a:endParaRPr lang="zh-CN" altLang="en-US"/>
          </a:p>
        </p:txBody>
      </p:sp>
      <p:sp>
        <p:nvSpPr>
          <p:cNvPr id="4" name="标题 126977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dirty="0">
                <a:ea typeface="楷体_GB2312" panose="02010609030101010101" pitchFamily="49" charset="-122"/>
              </a:rPr>
              <a:t>6.4.3  </a:t>
            </a:r>
            <a:r>
              <a:rPr lang="zh-CN" altLang="en-US" dirty="0">
                <a:ea typeface="楷体_GB2312" panose="02010609030101010101" pitchFamily="49" charset="-122"/>
              </a:rPr>
              <a:t>变换编码的实现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8" grpId="0"/>
      <p:bldP spid="91138" grpId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algn="l"/>
            <a:r>
              <a:rPr lang="zh-CN" altLang="en-US" dirty="0"/>
              <a:t>算法说明</a:t>
            </a:r>
            <a:endParaRPr lang="zh-CN" altLang="en-US" dirty="0"/>
          </a:p>
        </p:txBody>
      </p:sp>
      <p:pic>
        <p:nvPicPr>
          <p:cNvPr id="9216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635" y="2414270"/>
            <a:ext cx="3100070" cy="26682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163" name="TextBox 4"/>
          <p:cNvSpPr txBox="1"/>
          <p:nvPr/>
        </p:nvSpPr>
        <p:spPr>
          <a:xfrm>
            <a:off x="1575435" y="5118735"/>
            <a:ext cx="248983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1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1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a</a:t>
            </a:r>
            <a:r>
              <a:rPr lang="zh-CN" altLang="en-US" sz="1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）区域选择滤波器</a:t>
            </a:r>
            <a:endParaRPr lang="zh-CN" altLang="en-US" sz="18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pic>
        <p:nvPicPr>
          <p:cNvPr id="9216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085" y="2414270"/>
            <a:ext cx="3140075" cy="27044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165" name="TextBox 6"/>
          <p:cNvSpPr txBox="1"/>
          <p:nvPr/>
        </p:nvSpPr>
        <p:spPr>
          <a:xfrm>
            <a:off x="5113020" y="5153660"/>
            <a:ext cx="24079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1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1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b</a:t>
            </a:r>
            <a:r>
              <a:rPr lang="zh-CN" altLang="en-US" sz="1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）阈值选择滤波器</a:t>
            </a:r>
            <a:endParaRPr lang="zh-CN" altLang="en-US" sz="18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1475" y="1395730"/>
            <a:ext cx="49707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charset="0"/>
              <a:buChar char="ü"/>
            </a:pP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系数选择滤波器设计举例：</a:t>
            </a:r>
            <a:endParaRPr lang="zh-CN" altLang="en-US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2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/>
      <p:bldP spid="92163" grpId="1"/>
      <p:bldP spid="92165" grpId="0"/>
      <p:bldP spid="92165" grpId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0078" y="5506085"/>
            <a:ext cx="847725" cy="323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457200" y="1931035"/>
            <a:ext cx="8068945" cy="443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  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将带小数的系数转化为整数，并使大数值转化为小数值，量化导致了</a:t>
            </a: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有损压缩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。量化后的数值可以分配码字，分配码字原则：</a:t>
            </a: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方差大的分配长码字，方差小的分配短码字。</a:t>
            </a:r>
            <a:endParaRPr lang="en-US" altLang="zh-CN" sz="2400" dirty="0">
              <a:latin typeface="楷体_GB2312" panose="02010609030101010101" pitchFamily="49" charset="-122"/>
              <a:ea typeface="楷体_GB2312" panose="02010609030101010101" pitchFamily="49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   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为了将所有变换系数按幅值从大到小的顺序排序，通常采用</a:t>
            </a: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从低频到高频的</a:t>
            </a: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Z</a:t>
            </a: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字形扫描（可以使连续的</a:t>
            </a: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0</a:t>
            </a: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值最多）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Wingdings" panose="05000000000000000000" pitchFamily="2" charset="2"/>
              </a:rPr>
              <a:t>，一般只保留       个系数，对保留的系数进行编码。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80035" y="1326515"/>
            <a:ext cx="45796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楷体_GB2312" panose="02010609030101010101" pitchFamily="49" charset="-122"/>
                <a:ea typeface="楷体_GB2312" panose="02010609030101010101" pitchFamily="49" charset="-122"/>
              </a:rPr>
              <a:t>4. </a:t>
            </a:r>
            <a:r>
              <a:rPr lang="zh-CN" altLang="en-US" b="1">
                <a:latin typeface="楷体_GB2312" panose="02010609030101010101" pitchFamily="49" charset="-122"/>
                <a:ea typeface="楷体_GB2312" panose="02010609030101010101" pitchFamily="49" charset="-122"/>
              </a:rPr>
              <a:t>系数的量化和编码：</a:t>
            </a:r>
            <a:endParaRPr lang="zh-CN" altLang="en-US" b="1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4" name="标题 126977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dirty="0">
                <a:ea typeface="楷体_GB2312" panose="02010609030101010101" pitchFamily="49" charset="-122"/>
              </a:rPr>
              <a:t>6.4.3  </a:t>
            </a:r>
            <a:r>
              <a:rPr lang="zh-CN" altLang="en-US" dirty="0">
                <a:ea typeface="楷体_GB2312" panose="02010609030101010101" pitchFamily="49" charset="-122"/>
              </a:rPr>
              <a:t>变换编码的实现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1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1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algn="l"/>
            <a:r>
              <a:rPr lang="zh-CN" altLang="en-US" dirty="0"/>
              <a:t>算法说明</a:t>
            </a:r>
            <a:endParaRPr lang="zh-CN" altLang="en-US" dirty="0"/>
          </a:p>
        </p:txBody>
      </p:sp>
      <p:graphicFrame>
        <p:nvGraphicFramePr>
          <p:cNvPr id="108546" name="Object 1" descr="image68"/>
          <p:cNvGraphicFramePr/>
          <p:nvPr/>
        </p:nvGraphicFramePr>
        <p:xfrm>
          <a:off x="2410460" y="2105660"/>
          <a:ext cx="3954145" cy="3547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3" name="" r:id="rId1" imgW="1962150" imgH="2137410" progId="">
                  <p:embed/>
                </p:oleObj>
              </mc:Choice>
              <mc:Fallback>
                <p:oleObj name="" r:id="rId1" imgW="1962150" imgH="2137410" progId="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10460" y="2105660"/>
                        <a:ext cx="3954145" cy="35471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2807335" y="5652770"/>
            <a:ext cx="2468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80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（</a:t>
            </a:r>
            <a:r>
              <a:rPr lang="en-US" altLang="zh-CN" sz="180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c</a:t>
            </a:r>
            <a:r>
              <a:rPr lang="zh-CN" altLang="en-US" sz="180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）</a:t>
            </a:r>
            <a:r>
              <a:rPr lang="en-US" altLang="zh-CN" sz="180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Z</a:t>
            </a:r>
            <a:r>
              <a:rPr lang="zh-CN" altLang="en-US" sz="180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形扫描编码顺序</a:t>
            </a:r>
            <a:endParaRPr lang="zh-CN" altLang="en-US" sz="1800"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1475" y="1395730"/>
            <a:ext cx="49707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charset="0"/>
              <a:buChar char="ü"/>
            </a:pPr>
            <a:r>
              <a:rPr lang="en-US" altLang="zh-CN">
                <a:latin typeface="楷体_GB2312" panose="02010609030101010101" pitchFamily="49" charset="-122"/>
                <a:ea typeface="楷体_GB2312" panose="02010609030101010101" pitchFamily="49" charset="-122"/>
              </a:rPr>
              <a:t>Z</a:t>
            </a: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型数据扫描举例：</a:t>
            </a:r>
            <a:endParaRPr lang="zh-CN" altLang="en-US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702560" y="3168015"/>
            <a:ext cx="3098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628265" y="2924810"/>
            <a:ext cx="4031615" cy="259334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3749675" y="5761355"/>
            <a:ext cx="15925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800" dirty="0">
                <a:ea typeface="楷体_GB2312" panose="02010609030101010101" pitchFamily="49" charset="-122"/>
                <a:sym typeface="+mn-ea"/>
              </a:rPr>
              <a:t>(d)</a:t>
            </a:r>
            <a:r>
              <a:rPr lang="zh-CN" altLang="en-US" sz="1800" dirty="0">
                <a:ea typeface="楷体_GB2312" panose="02010609030101010101" pitchFamily="49" charset="-122"/>
                <a:sym typeface="+mn-ea"/>
              </a:rPr>
              <a:t>亮度量化表</a:t>
            </a:r>
            <a:endParaRPr lang="zh-CN" altLang="en-US" sz="1800" dirty="0"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71475" y="1395730"/>
            <a:ext cx="49707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charset="0"/>
              <a:buChar char="ü"/>
            </a:pPr>
            <a:r>
              <a:rPr lang="zh-CN" altLang="en-US">
                <a:latin typeface="楷体_GB2312" panose="02010609030101010101" pitchFamily="49" charset="-122"/>
                <a:ea typeface="楷体_GB2312" panose="02010609030101010101" pitchFamily="49" charset="-122"/>
              </a:rPr>
              <a:t>量化步长设计举例：</a:t>
            </a:r>
            <a:endParaRPr lang="zh-CN" altLang="en-US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1475" y="2101215"/>
            <a:ext cx="802386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   </a:t>
            </a:r>
            <a:r>
              <a:rPr lang="zh-CN" altLang="en-US" sz="24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人眼对低频分量比对高频分量的图像更敏感，低频分量</a:t>
            </a:r>
            <a:endParaRPr lang="zh-CN" altLang="en-US" sz="2400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包含了图像的大部分信息。</a:t>
            </a:r>
            <a:endParaRPr lang="zh-CN" altLang="en-US" sz="2400" dirty="0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1" grpId="0"/>
      <p:bldP spid="11" grpId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标题 1"/>
          <p:cNvSpPr>
            <a:spLocks noGrp="1"/>
          </p:cNvSpPr>
          <p:nvPr>
            <p:ph type="title"/>
          </p:nvPr>
        </p:nvSpPr>
        <p:spPr>
          <a:xfrm>
            <a:off x="160338" y="-317"/>
            <a:ext cx="8229600" cy="1143000"/>
          </a:xfrm>
        </p:spPr>
        <p:txBody>
          <a:bodyPr vert="horz" wrap="square" lIns="91440" tIns="45720" rIns="91440" bIns="45720" anchor="ctr" anchorCtr="0"/>
          <a:lstStyle/>
          <a:p>
            <a:pPr algn="l"/>
            <a:r>
              <a:rPr lang="zh-CN" altLang="en-US" sz="36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总结：变换编码压缩步骤</a:t>
            </a:r>
            <a:endParaRPr lang="zh-CN" altLang="en-US" sz="36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2" name="内容占位符 2"/>
          <p:cNvSpPr>
            <a:spLocks noGrp="1" noChangeArrowheads="1"/>
          </p:cNvSpPr>
          <p:nvPr>
            <p:ph idx="1"/>
          </p:nvPr>
        </p:nvSpPr>
        <p:spPr>
          <a:xfrm>
            <a:off x="457200" y="1423988"/>
            <a:ext cx="8229600" cy="34448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zh-CN" altLang="en-US" sz="24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图像首先被细分为</a:t>
            </a:r>
            <a:r>
              <a:rPr kumimoji="0" lang="zh-CN" altLang="zh-CN" sz="24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8*8</a:t>
            </a:r>
            <a:r>
              <a:rPr kumimoji="0" lang="zh-CN" altLang="en-US" sz="24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的</a:t>
            </a:r>
            <a:r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图像块</a:t>
            </a:r>
            <a:r>
              <a:rPr kumimoji="0" lang="zh-CN" altLang="en-US" sz="24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，这些像素块进行从左 到右，从上到下的处理顺序。</a:t>
            </a:r>
            <a:endParaRPr kumimoji="0" lang="zh-CN" altLang="en-US" sz="2400" b="0" i="0" u="none" strike="noStrike" kern="1200" cap="none" spc="0" normalizeH="0" baseline="0" noProof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  <a:p>
            <a:pPr marL="0" marR="0" lvl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2.</a:t>
            </a:r>
            <a:r>
              <a:rPr kumimoji="0" lang="zh-CN" altLang="en-US" sz="24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计算块的正交</a:t>
            </a:r>
            <a:r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变换系数</a:t>
            </a:r>
            <a:r>
              <a:rPr kumimoji="0" lang="zh-CN" altLang="en-US" sz="24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。</a:t>
            </a:r>
            <a:endParaRPr kumimoji="0" lang="zh-CN" altLang="en-US" sz="2400" b="0" i="0" u="none" strike="noStrike" kern="1200" cap="none" spc="0" normalizeH="0" baseline="0" noProof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  <a:p>
            <a:pPr marL="0" marR="0" lvl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3.</a:t>
            </a:r>
            <a:r>
              <a:rPr kumimoji="0" lang="zh-CN" altLang="en-US" sz="24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对变换</a:t>
            </a:r>
            <a:r>
              <a:rPr kumimoji="0" lang="zh-CN" altLang="en-US" sz="2400" b="0" i="0" u="none" strike="noStrike" kern="1200" cap="none" spc="0" normalizeH="0" baseline="0" noProof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系数</a:t>
            </a:r>
            <a:r>
              <a:rPr kumimoji="0" lang="zh-CN" altLang="en-US" sz="24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进行</a:t>
            </a:r>
            <a:r>
              <a:rPr kumimoji="0" lang="zh-CN" altLang="en-US" sz="2400" b="0" i="0" u="none" strike="noStrike" kern="1200" cap="none" spc="0" normalizeH="0" baseline="0" noProof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选择</a:t>
            </a:r>
            <a:r>
              <a:rPr kumimoji="0" lang="zh-CN" altLang="en-US" sz="24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和</a:t>
            </a:r>
            <a:r>
              <a:rPr kumimoji="0" lang="zh-CN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线性</a:t>
            </a:r>
            <a:r>
              <a:rPr kumimoji="0" lang="zh-CN" altLang="en-US" sz="2400" b="1" i="0" u="none" strike="noStrike" kern="1200" cap="none" spc="0" normalizeH="0" baseline="0" noProof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均匀量化</a:t>
            </a:r>
            <a:r>
              <a:rPr kumimoji="0" lang="zh-CN" altLang="en-US" sz="24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。</a:t>
            </a:r>
            <a:endParaRPr kumimoji="0" lang="zh-CN" altLang="en-US" sz="2400" b="0" i="0" u="none" strike="noStrike" kern="1200" cap="none" spc="0" normalizeH="0" baseline="0" noProof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  <a:p>
            <a:pPr marL="0" marR="0" lvl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4.</a:t>
            </a:r>
            <a:r>
              <a:rPr kumimoji="0" lang="zh-CN" altLang="en-US" sz="24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使用</a:t>
            </a:r>
            <a:r>
              <a:rPr kumimoji="0" lang="en-US" altLang="zh-CN" sz="24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Z</a:t>
            </a:r>
            <a:r>
              <a:rPr kumimoji="0" lang="zh-CN" altLang="en-US" sz="24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型编排，形成一个量化系数的一维序列。</a:t>
            </a:r>
            <a:endParaRPr kumimoji="0" lang="zh-CN" altLang="en-US" sz="2400" b="0" i="0" u="none" strike="noStrike" kern="1200" cap="none" spc="0" normalizeH="0" baseline="0" noProof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  <a:p>
            <a:pPr marL="0" marR="0" lvl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5.</a:t>
            </a:r>
            <a:r>
              <a:rPr kumimoji="0" lang="zh-CN" altLang="en-US" sz="24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非零的</a:t>
            </a:r>
            <a:r>
              <a:rPr kumimoji="0" lang="en-US" altLang="zh-CN" sz="24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AC</a:t>
            </a:r>
            <a:r>
              <a:rPr kumimoji="0" lang="zh-CN" altLang="en-US" sz="24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系数采用变长编码原则进行编码；</a:t>
            </a:r>
            <a:r>
              <a:rPr kumimoji="0" lang="en-US" altLang="zh-CN" sz="24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DC</a:t>
            </a:r>
            <a:r>
              <a:rPr kumimoji="0" lang="zh-CN" altLang="en-US" sz="24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系数相对于前面子图像的</a:t>
            </a:r>
            <a:r>
              <a:rPr kumimoji="0" lang="en-US" altLang="zh-CN" sz="24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DC</a:t>
            </a:r>
            <a:r>
              <a:rPr kumimoji="0" lang="zh-CN" altLang="en-US" sz="24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系数进行编码（预测编码）。</a:t>
            </a:r>
            <a:endParaRPr kumimoji="0" lang="zh-CN" altLang="en-US" sz="2400" b="0" i="0" u="none" strike="noStrike" kern="1200" cap="none" spc="0" normalizeH="0" baseline="0" noProof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80720" y="2465388"/>
            <a:ext cx="7781925" cy="3223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4180" indent="-411480">
              <a:spcBef>
                <a:spcPts val="1980"/>
              </a:spcBef>
              <a:buClr>
                <a:srgbClr val="EE2B0A"/>
              </a:buClr>
              <a:buSzPct val="69000"/>
              <a:buFont typeface="Wingdings" panose="05000000000000000000"/>
              <a:buChar char=""/>
              <a:tabLst>
                <a:tab pos="423545" algn="l"/>
                <a:tab pos="424180" algn="l"/>
              </a:tabLst>
            </a:pPr>
            <a:r>
              <a:rPr sz="2400" spc="-5" noProof="1">
                <a:latin typeface="+mn-ea"/>
                <a:ea typeface="+mn-ea"/>
                <a:cs typeface="+mn-ea"/>
                <a:sym typeface="+mn-ea"/>
              </a:rPr>
              <a:t>说明：</a:t>
            </a:r>
            <a:endParaRPr sz="2400" noProof="1">
              <a:latin typeface="+mn-ea"/>
              <a:ea typeface="+mn-ea"/>
              <a:cs typeface="+mn-ea"/>
            </a:endParaRPr>
          </a:p>
          <a:p>
            <a:pPr marL="774065" lvl="1" indent="-304165" fontAlgn="base">
              <a:lnSpc>
                <a:spcPct val="100000"/>
              </a:lnSpc>
              <a:spcBef>
                <a:spcPts val="1410"/>
              </a:spcBef>
              <a:buClr>
                <a:srgbClr val="EE2B0A"/>
              </a:buClr>
              <a:buSzPct val="71000"/>
              <a:buFont typeface="Wingdings" panose="05000000000000000000"/>
              <a:buChar char=""/>
              <a:tabLst>
                <a:tab pos="792480" algn="l"/>
              </a:tabLst>
            </a:pPr>
            <a:r>
              <a:rPr sz="2400" strike="noStrike" noProof="1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512×512大小的</a:t>
            </a:r>
            <a:r>
              <a:rPr lang="zh-CN" sz="2400" strike="noStrike" noProof="1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灰度</a:t>
            </a:r>
            <a:r>
              <a:rPr sz="2400" strike="noStrike" noProof="1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图像</a:t>
            </a:r>
            <a:endParaRPr sz="2400" strike="noStrike" noProof="1"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  <a:p>
            <a:pPr marL="774065" marR="5080" lvl="1" indent="-304165" fontAlgn="base">
              <a:lnSpc>
                <a:spcPct val="150000"/>
              </a:lnSpc>
              <a:buClr>
                <a:srgbClr val="EE2B0A"/>
              </a:buClr>
              <a:buSzPct val="71000"/>
              <a:buFont typeface="Wingdings" panose="05000000000000000000"/>
              <a:buChar char=""/>
              <a:tabLst>
                <a:tab pos="792480" algn="l"/>
              </a:tabLst>
            </a:pPr>
            <a:r>
              <a:rPr sz="2400" strike="noStrike" noProof="1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先将原图分割为8×8大小的子图像，然后用DFT,WHT 和DCT的一种，表示每一个子图像</a:t>
            </a:r>
            <a:endParaRPr sz="2400" strike="noStrike" noProof="1"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  <a:p>
            <a:pPr marL="774065" lvl="1" indent="-304165" fontAlgn="base">
              <a:lnSpc>
                <a:spcPct val="100000"/>
              </a:lnSpc>
              <a:spcBef>
                <a:spcPts val="1425"/>
              </a:spcBef>
              <a:buClr>
                <a:srgbClr val="EE2B0A"/>
              </a:buClr>
              <a:buSzPct val="71000"/>
              <a:buFont typeface="Wingdings" panose="05000000000000000000"/>
              <a:buChar char=""/>
              <a:tabLst>
                <a:tab pos="792480" algn="l"/>
              </a:tabLst>
            </a:pPr>
            <a:r>
              <a:rPr sz="2400" strike="noStrike" noProof="1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将得到所有系数的50%去掉，即丢掉32个系数</a:t>
            </a:r>
            <a:endParaRPr sz="2400" strike="noStrike" noProof="1"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  <a:p>
            <a:pPr marL="774065" lvl="1" indent="-304165" fontAlgn="base">
              <a:lnSpc>
                <a:spcPct val="100000"/>
              </a:lnSpc>
              <a:spcBef>
                <a:spcPts val="1435"/>
              </a:spcBef>
              <a:buClr>
                <a:srgbClr val="EE2B0A"/>
              </a:buClr>
              <a:buSzPct val="71000"/>
              <a:buFont typeface="Wingdings" panose="05000000000000000000"/>
              <a:buChar char=""/>
              <a:tabLst>
                <a:tab pos="792480" algn="l"/>
              </a:tabLst>
            </a:pPr>
            <a:r>
              <a:rPr sz="2400" strike="noStrike" noProof="1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  <a:sym typeface="+mn-ea"/>
              </a:rPr>
              <a:t>对截取的系数阵列进行逆变换，保留32个系数</a:t>
            </a:r>
            <a:endParaRPr lang="zh-CN" altLang="en-US" sz="2400" strike="noStrike" noProof="1"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  <a:sym typeface="+mn-ea"/>
            </a:endParaRPr>
          </a:p>
        </p:txBody>
      </p:sp>
      <p:sp>
        <p:nvSpPr>
          <p:cNvPr id="6" name="object 4"/>
          <p:cNvSpPr txBox="1">
            <a:spLocks noGrp="1"/>
          </p:cNvSpPr>
          <p:nvPr>
            <p:ph type="title"/>
          </p:nvPr>
        </p:nvSpPr>
        <p:spPr>
          <a:xfrm>
            <a:off x="133350" y="288608"/>
            <a:ext cx="3373438" cy="565785"/>
          </a:xfrm>
        </p:spPr>
        <p:txBody>
          <a:bodyPr vert="horz" wrap="square" lIns="0" tIns="12065" rIns="0" bIns="0" rtlCol="0">
            <a:spAutoFit/>
          </a:bodyPr>
          <a:lstStyle/>
          <a:p>
            <a:pPr marL="12700" marR="0" indent="0" algn="l" defTabSz="914400" rtl="0" eaLnBrk="0" fontAlgn="base" latinLnBrk="0" hangingPunct="0">
              <a:lnSpc>
                <a:spcPct val="100000"/>
              </a:lnSpc>
              <a:spcBef>
                <a:spcPts val="95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3600" b="0" i="0" u="none" strike="noStrike" kern="1200" cap="none" spc="-15" normalizeH="0" baseline="0" noProof="1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华文行楷" panose="02010800040101010101" pitchFamily="2" charset="-122"/>
              </a:rPr>
              <a:t>变换编码</a:t>
            </a:r>
            <a:r>
              <a:rPr kumimoji="0" sz="3600" b="0" i="0" u="none" strike="noStrike" kern="1200" cap="none" spc="-15" normalizeH="0" baseline="0" noProof="1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华文行楷" panose="02010800040101010101" pitchFamily="2" charset="-122"/>
              </a:rPr>
              <a:t>举例</a:t>
            </a:r>
            <a:r>
              <a:rPr kumimoji="0" lang="zh-CN" sz="3600" b="0" i="0" u="none" strike="noStrike" kern="1200" cap="none" spc="-15" normalizeH="0" baseline="0" noProof="1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华文行楷" panose="02010800040101010101" pitchFamily="2" charset="-122"/>
              </a:rPr>
              <a:t>：</a:t>
            </a:r>
            <a:endParaRPr kumimoji="0" lang="zh-CN" sz="3600" b="0" i="0" u="none" strike="noStrike" kern="1200" cap="none" spc="-15" normalizeH="0" baseline="0" noProof="1">
              <a:solidFill>
                <a:schemeClr val="accent2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华文行楷" panose="02010800040101010101" pitchFamily="2" charset="-122"/>
            </a:endParaRPr>
          </a:p>
        </p:txBody>
      </p:sp>
      <p:sp>
        <p:nvSpPr>
          <p:cNvPr id="94211" name="object 5"/>
          <p:cNvSpPr/>
          <p:nvPr/>
        </p:nvSpPr>
        <p:spPr>
          <a:xfrm>
            <a:off x="5038725" y="1157288"/>
            <a:ext cx="4127500" cy="2022475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 anchor="t" anchorCtr="0"/>
          <a:lstStyle/>
          <a:p>
            <a:endParaRPr lang="zh-CN" altLang="zh-CN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object 3"/>
          <p:cNvSpPr/>
          <p:nvPr/>
        </p:nvSpPr>
        <p:spPr>
          <a:xfrm>
            <a:off x="3344863" y="1116013"/>
            <a:ext cx="3370262" cy="510540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 anchor="t" anchorCtr="0"/>
          <a:lstStyle/>
          <a:p>
            <a:endParaRPr lang="zh-CN" altLang="zh-CN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95235" name="object 4"/>
          <p:cNvSpPr txBox="1"/>
          <p:nvPr/>
        </p:nvSpPr>
        <p:spPr>
          <a:xfrm>
            <a:off x="1466850" y="1663700"/>
            <a:ext cx="1701800" cy="3905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12700" rIns="0" bIns="0" anchor="t" anchorCtr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zh-CN" sz="2400" dirty="0">
                <a:solidFill>
                  <a:srgbClr val="EE2B0A"/>
                </a:solidFill>
                <a:latin typeface="新宋体" panose="02010609030101010101" charset="-122"/>
                <a:ea typeface="华文行楷" panose="02010800040101010101" pitchFamily="2" charset="-122"/>
              </a:rPr>
              <a:t>DFT还原图像</a:t>
            </a:r>
            <a:endParaRPr lang="zh-CN" altLang="zh-CN" sz="2400">
              <a:latin typeface="新宋体" panose="02010609030101010101" charset="-122"/>
              <a:ea typeface="华文行楷" panose="02010800040101010101" pitchFamily="2" charset="-122"/>
            </a:endParaRPr>
          </a:p>
        </p:txBody>
      </p:sp>
      <p:sp>
        <p:nvSpPr>
          <p:cNvPr id="95236" name="object 5"/>
          <p:cNvSpPr txBox="1"/>
          <p:nvPr/>
        </p:nvSpPr>
        <p:spPr>
          <a:xfrm>
            <a:off x="1466850" y="3516313"/>
            <a:ext cx="1701800" cy="3921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12700" rIns="0" bIns="0" anchor="t" anchorCtr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zh-CN" sz="2400" dirty="0">
                <a:solidFill>
                  <a:srgbClr val="EE2B0A"/>
                </a:solidFill>
                <a:latin typeface="新宋体" panose="02010609030101010101" charset="-122"/>
                <a:ea typeface="华文行楷" panose="02010800040101010101" pitchFamily="2" charset="-122"/>
              </a:rPr>
              <a:t>WHT还原图像</a:t>
            </a:r>
            <a:endParaRPr lang="zh-CN" altLang="zh-CN" sz="2400">
              <a:latin typeface="新宋体" panose="02010609030101010101" charset="-122"/>
              <a:ea typeface="华文行楷" panose="02010800040101010101" pitchFamily="2" charset="-122"/>
            </a:endParaRPr>
          </a:p>
        </p:txBody>
      </p:sp>
      <p:sp>
        <p:nvSpPr>
          <p:cNvPr id="95237" name="object 6"/>
          <p:cNvSpPr txBox="1"/>
          <p:nvPr/>
        </p:nvSpPr>
        <p:spPr>
          <a:xfrm>
            <a:off x="1538288" y="5173663"/>
            <a:ext cx="1701800" cy="3921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12700" rIns="0" bIns="0" anchor="t" anchorCtr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zh-CN" sz="2400" dirty="0">
                <a:solidFill>
                  <a:srgbClr val="EE2B0A"/>
                </a:solidFill>
                <a:latin typeface="新宋体" panose="02010609030101010101" charset="-122"/>
                <a:ea typeface="华文行楷" panose="02010800040101010101" pitchFamily="2" charset="-122"/>
              </a:rPr>
              <a:t>DCT还原图像</a:t>
            </a:r>
            <a:endParaRPr lang="zh-CN" altLang="zh-CN" sz="2400">
              <a:latin typeface="新宋体" panose="02010609030101010101" charset="-122"/>
              <a:ea typeface="华文行楷" panose="02010800040101010101" pitchFamily="2" charset="-122"/>
            </a:endParaRPr>
          </a:p>
        </p:txBody>
      </p:sp>
      <p:sp>
        <p:nvSpPr>
          <p:cNvPr id="10" name="object 7"/>
          <p:cNvSpPr txBox="1"/>
          <p:nvPr/>
        </p:nvSpPr>
        <p:spPr>
          <a:xfrm>
            <a:off x="6886575" y="1682750"/>
            <a:ext cx="1550988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noProof="1">
                <a:solidFill>
                  <a:srgbClr val="EE2B0A"/>
                </a:solidFill>
                <a:latin typeface="新宋体" panose="02010609030101010101" charset="-122"/>
                <a:ea typeface="华文行楷" panose="02010800040101010101" pitchFamily="2" charset="-122"/>
                <a:cs typeface="新宋体" panose="02010609030101010101" charset="-122"/>
              </a:rPr>
              <a:t>rms</a:t>
            </a:r>
            <a:r>
              <a:rPr sz="2400" spc="-7" baseline="-21000" noProof="1">
                <a:solidFill>
                  <a:srgbClr val="EE2B0A"/>
                </a:solidFill>
                <a:latin typeface="新宋体" panose="02010609030101010101" charset="-122"/>
                <a:ea typeface="华文行楷" panose="02010800040101010101" pitchFamily="2" charset="-122"/>
                <a:cs typeface="新宋体" panose="02010609030101010101" charset="-122"/>
              </a:rPr>
              <a:t>DFT</a:t>
            </a:r>
            <a:r>
              <a:rPr sz="2400" spc="-5" noProof="1">
                <a:solidFill>
                  <a:srgbClr val="EE2B0A"/>
                </a:solidFill>
                <a:latin typeface="新宋体" panose="02010609030101010101" charset="-122"/>
                <a:ea typeface="华文行楷" panose="02010800040101010101" pitchFamily="2" charset="-122"/>
                <a:cs typeface="新宋体" panose="02010609030101010101" charset="-122"/>
              </a:rPr>
              <a:t>=1.28</a:t>
            </a:r>
            <a:endParaRPr sz="2400" noProof="1">
              <a:latin typeface="新宋体" panose="02010609030101010101" charset="-122"/>
              <a:cs typeface="新宋体" panose="02010609030101010101" charset="-122"/>
            </a:endParaRPr>
          </a:p>
        </p:txBody>
      </p:sp>
      <p:sp>
        <p:nvSpPr>
          <p:cNvPr id="11" name="object 8"/>
          <p:cNvSpPr txBox="1"/>
          <p:nvPr/>
        </p:nvSpPr>
        <p:spPr>
          <a:xfrm>
            <a:off x="6959600" y="3438525"/>
            <a:ext cx="154940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noProof="1">
                <a:solidFill>
                  <a:srgbClr val="EE2B0A"/>
                </a:solidFill>
                <a:latin typeface="新宋体" panose="02010609030101010101" charset="-122"/>
                <a:ea typeface="华文行楷" panose="02010800040101010101" pitchFamily="2" charset="-122"/>
                <a:cs typeface="新宋体" panose="02010609030101010101" charset="-122"/>
              </a:rPr>
              <a:t>rms</a:t>
            </a:r>
            <a:r>
              <a:rPr sz="2400" spc="-7" baseline="-21000" noProof="1">
                <a:solidFill>
                  <a:srgbClr val="EE2B0A"/>
                </a:solidFill>
                <a:latin typeface="新宋体" panose="02010609030101010101" charset="-122"/>
                <a:ea typeface="华文行楷" panose="02010800040101010101" pitchFamily="2" charset="-122"/>
                <a:cs typeface="新宋体" panose="02010609030101010101" charset="-122"/>
              </a:rPr>
              <a:t>WHT</a:t>
            </a:r>
            <a:r>
              <a:rPr sz="2400" spc="-5" noProof="1">
                <a:solidFill>
                  <a:srgbClr val="EE2B0A"/>
                </a:solidFill>
                <a:latin typeface="新宋体" panose="02010609030101010101" charset="-122"/>
                <a:ea typeface="华文行楷" panose="02010800040101010101" pitchFamily="2" charset="-122"/>
                <a:cs typeface="新宋体" panose="02010609030101010101" charset="-122"/>
              </a:rPr>
              <a:t>=0.86</a:t>
            </a:r>
            <a:endParaRPr sz="2400" noProof="1">
              <a:latin typeface="新宋体" panose="02010609030101010101" charset="-122"/>
              <a:cs typeface="新宋体" panose="02010609030101010101" charset="-122"/>
            </a:endParaRPr>
          </a:p>
        </p:txBody>
      </p:sp>
      <p:sp>
        <p:nvSpPr>
          <p:cNvPr id="12" name="object 9"/>
          <p:cNvSpPr txBox="1"/>
          <p:nvPr/>
        </p:nvSpPr>
        <p:spPr>
          <a:xfrm>
            <a:off x="7031038" y="5238750"/>
            <a:ext cx="154940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noProof="1">
                <a:solidFill>
                  <a:srgbClr val="EE2B0A"/>
                </a:solidFill>
                <a:latin typeface="新宋体" panose="02010609030101010101" charset="-122"/>
                <a:ea typeface="华文行楷" panose="02010800040101010101" pitchFamily="2" charset="-122"/>
                <a:cs typeface="新宋体" panose="02010609030101010101" charset="-122"/>
              </a:rPr>
              <a:t>rms</a:t>
            </a:r>
            <a:r>
              <a:rPr sz="2400" spc="-7" baseline="-21000" noProof="1">
                <a:solidFill>
                  <a:srgbClr val="EE2B0A"/>
                </a:solidFill>
                <a:latin typeface="新宋体" panose="02010609030101010101" charset="-122"/>
                <a:ea typeface="华文行楷" panose="02010800040101010101" pitchFamily="2" charset="-122"/>
                <a:cs typeface="新宋体" panose="02010609030101010101" charset="-122"/>
              </a:rPr>
              <a:t>DCT</a:t>
            </a:r>
            <a:r>
              <a:rPr sz="2400" spc="-5" noProof="1">
                <a:solidFill>
                  <a:srgbClr val="EE2B0A"/>
                </a:solidFill>
                <a:latin typeface="新宋体" panose="02010609030101010101" charset="-122"/>
                <a:ea typeface="华文行楷" panose="02010800040101010101" pitchFamily="2" charset="-122"/>
                <a:cs typeface="新宋体" panose="02010609030101010101" charset="-122"/>
              </a:rPr>
              <a:t>=0.68</a:t>
            </a:r>
            <a:endParaRPr sz="2400" noProof="1">
              <a:latin typeface="新宋体" panose="02010609030101010101" charset="-122"/>
              <a:cs typeface="新宋体" panose="0201060903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757363" y="6305550"/>
            <a:ext cx="6545262" cy="3984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marL="774700" lvl="1" indent="-304800" defTabSz="914400">
              <a:lnSpc>
                <a:spcPct val="100000"/>
              </a:lnSpc>
              <a:spcBef>
                <a:spcPts val="1440"/>
              </a:spcBef>
              <a:buClr>
                <a:srgbClr val="EE2B0A"/>
              </a:buClr>
              <a:buSzPct val="71000"/>
              <a:buFont typeface="Wingdings" panose="05000000000000000000"/>
              <a:buChar char=""/>
              <a:tabLst>
                <a:tab pos="792480" algn="l"/>
              </a:tabLst>
            </a:pPr>
            <a:r>
              <a:rPr lang="zh-CN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丢掉的32个系数，对复原图像质量的视觉影响很小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object 4"/>
          <p:cNvSpPr txBox="1">
            <a:spLocks noGrp="1"/>
          </p:cNvSpPr>
          <p:nvPr/>
        </p:nvSpPr>
        <p:spPr>
          <a:xfrm>
            <a:off x="133350" y="288608"/>
            <a:ext cx="3373438" cy="56578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2065" rIns="0" bIns="0" rtlCol="0" anchor="ctr" anchorCtr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accent2"/>
                </a:solidFill>
                <a:latin typeface="+mj-lt"/>
                <a:ea typeface="+mj-ea"/>
                <a:cs typeface="华文行楷" panose="02010800040101010101" pitchFamily="2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cs typeface="华文行楷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cs typeface="华文行楷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cs typeface="华文行楷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cs typeface="华文行楷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cs typeface="华文行楷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cs typeface="华文行楷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cs typeface="华文行楷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cs typeface="华文行楷" panose="02010800040101010101" pitchFamily="2" charset="-122"/>
              </a:defRPr>
            </a:lvl9pPr>
          </a:lstStyle>
          <a:p>
            <a:pPr marL="12700" marR="0" indent="0" algn="l" defTabSz="914400" rtl="0" eaLnBrk="0" fontAlgn="base" latinLnBrk="0" hangingPunct="0">
              <a:lnSpc>
                <a:spcPct val="100000"/>
              </a:lnSpc>
              <a:spcBef>
                <a:spcPts val="95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3600" b="0" i="0" u="none" strike="noStrike" kern="1200" cap="none" spc="-15" normalizeH="0" baseline="0" noProof="1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华文行楷" panose="02010800040101010101" pitchFamily="2" charset="-122"/>
              </a:rPr>
              <a:t>变换编码</a:t>
            </a:r>
            <a:r>
              <a:rPr kumimoji="0" sz="3600" b="0" i="0" u="none" strike="noStrike" kern="1200" cap="none" spc="-15" normalizeH="0" baseline="0" noProof="1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华文行楷" panose="02010800040101010101" pitchFamily="2" charset="-122"/>
              </a:rPr>
              <a:t>举例</a:t>
            </a:r>
            <a:r>
              <a:rPr kumimoji="0" lang="zh-CN" sz="3600" b="0" i="0" u="none" strike="noStrike" kern="1200" cap="none" spc="-15" normalizeH="0" baseline="0" noProof="1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华文行楷" panose="02010800040101010101" pitchFamily="2" charset="-122"/>
              </a:rPr>
              <a:t>：</a:t>
            </a:r>
            <a:endParaRPr kumimoji="0" lang="zh-CN" sz="3600" b="0" i="0" u="none" strike="noStrike" kern="1200" cap="none" spc="-15" normalizeH="0" baseline="0" noProof="1">
              <a:solidFill>
                <a:schemeClr val="accent2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华文行楷" panose="0201080004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5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5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4" grpId="0" animBg="1"/>
      <p:bldP spid="95234" grpId="1" animBg="1"/>
      <p:bldP spid="95235" grpId="0"/>
      <p:bldP spid="95235" grpId="1"/>
      <p:bldP spid="95236" grpId="0"/>
      <p:bldP spid="95236" grpId="1"/>
      <p:bldP spid="95237" grpId="0"/>
      <p:bldP spid="95237" grpId="1"/>
      <p:bldP spid="10" grpId="0"/>
      <p:bldP spid="10" grpId="1"/>
      <p:bldP spid="11" grpId="0"/>
      <p:bldP spid="11" grpId="1"/>
      <p:bldP spid="12" grpId="0"/>
      <p:bldP spid="12" grpId="1"/>
      <p:bldP spid="14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 txBox="1"/>
          <p:nvPr/>
        </p:nvSpPr>
        <p:spPr>
          <a:xfrm>
            <a:off x="395288" y="1536700"/>
            <a:ext cx="7967663" cy="2802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4180" indent="-411480">
              <a:spcBef>
                <a:spcPts val="95"/>
              </a:spcBef>
              <a:buClr>
                <a:srgbClr val="EE2B0A"/>
              </a:buClr>
              <a:buSzPct val="69000"/>
              <a:buFont typeface="Wingdings" panose="05000000000000000000"/>
              <a:buChar char=""/>
              <a:tabLst>
                <a:tab pos="423545" algn="l"/>
                <a:tab pos="424180" algn="l"/>
              </a:tabLst>
            </a:pPr>
            <a:r>
              <a:rPr sz="3200" spc="-5" noProof="1">
                <a:latin typeface="+mn-ea"/>
                <a:ea typeface="+mn-ea"/>
                <a:cs typeface="+mn-ea"/>
              </a:rPr>
              <a:t>结论</a:t>
            </a:r>
            <a:endParaRPr sz="3200" noProof="1">
              <a:latin typeface="+mn-ea"/>
              <a:ea typeface="+mn-ea"/>
              <a:cs typeface="+mn-ea"/>
            </a:endParaRPr>
          </a:p>
          <a:p>
            <a:pPr marL="774065" lvl="1" indent="-304165" fontAlgn="base">
              <a:lnSpc>
                <a:spcPct val="100000"/>
              </a:lnSpc>
              <a:spcBef>
                <a:spcPts val="2080"/>
              </a:spcBef>
              <a:buClr>
                <a:srgbClr val="EE2B0A"/>
              </a:buClr>
              <a:buSzPct val="83000"/>
              <a:buFont typeface="Wingdings" panose="05000000000000000000"/>
              <a:buChar char=""/>
              <a:tabLst>
                <a:tab pos="848360" algn="l"/>
                <a:tab pos="848360" algn="l"/>
              </a:tabLst>
            </a:pPr>
            <a:r>
              <a:rPr sz="2400" strike="noStrike" spc="-5" noProof="1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DCT的信息压缩能力比DFT和WHT的能力要强</a:t>
            </a:r>
            <a:endParaRPr sz="2400" strike="noStrike" noProof="1"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  <a:p>
            <a:pPr marL="774065" marR="309880" lvl="1" indent="-304165" algn="just" fontAlgn="base">
              <a:lnSpc>
                <a:spcPct val="150000"/>
              </a:lnSpc>
              <a:buClr>
                <a:srgbClr val="EE2B0A"/>
              </a:buClr>
              <a:buSzPct val="71000"/>
              <a:buFont typeface="Wingdings" panose="05000000000000000000"/>
              <a:buChar char=""/>
              <a:tabLst>
                <a:tab pos="792480" algn="l"/>
              </a:tabLst>
            </a:pPr>
            <a:r>
              <a:rPr sz="2400" strike="noStrike" noProof="1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DCT在信息压缩能力和计算复杂性之间提供了很好的平衡，因此，许多变换编码系统都是以DCT变换为基础的</a:t>
            </a:r>
            <a:r>
              <a:rPr lang="zh-CN" sz="2400" strike="noStrike" noProof="1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。如：</a:t>
            </a:r>
            <a:r>
              <a:rPr lang="zh-CN" sz="2400" strike="noStrike" noProof="1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静态图像的</a:t>
            </a:r>
            <a:r>
              <a:rPr lang="en-US" altLang="zh-CN" sz="2400" strike="noStrike" noProof="1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JPEG</a:t>
            </a:r>
            <a:r>
              <a:rPr lang="zh-CN" altLang="en-US" sz="2400" strike="noStrike" noProof="1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标准</a:t>
            </a:r>
            <a:r>
              <a:rPr lang="zh-CN" altLang="en-US" sz="2400" strike="noStrike" noProof="1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。</a:t>
            </a:r>
            <a:endParaRPr lang="zh-CN" altLang="en-US" sz="2400" strike="noStrike" noProof="1"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</p:txBody>
      </p:sp>
      <p:sp>
        <p:nvSpPr>
          <p:cNvPr id="6" name="object 4"/>
          <p:cNvSpPr txBox="1">
            <a:spLocks noGrp="1"/>
          </p:cNvSpPr>
          <p:nvPr/>
        </p:nvSpPr>
        <p:spPr>
          <a:xfrm>
            <a:off x="133350" y="288608"/>
            <a:ext cx="3373438" cy="56578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2065" rIns="0" bIns="0" rtlCol="0" anchor="ctr" anchorCtr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accent2"/>
                </a:solidFill>
                <a:latin typeface="+mj-lt"/>
                <a:ea typeface="+mj-ea"/>
                <a:cs typeface="华文行楷" panose="02010800040101010101" pitchFamily="2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cs typeface="华文行楷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cs typeface="华文行楷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cs typeface="华文行楷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cs typeface="华文行楷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cs typeface="华文行楷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cs typeface="华文行楷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cs typeface="华文行楷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  <a:cs typeface="华文行楷" panose="02010800040101010101" pitchFamily="2" charset="-122"/>
              </a:defRPr>
            </a:lvl9pPr>
          </a:lstStyle>
          <a:p>
            <a:pPr marL="12700" marR="0" indent="0" algn="l" defTabSz="914400" rtl="0" eaLnBrk="0" fontAlgn="base" latinLnBrk="0" hangingPunct="0">
              <a:lnSpc>
                <a:spcPct val="100000"/>
              </a:lnSpc>
              <a:spcBef>
                <a:spcPts val="95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3600" b="0" i="0" u="none" strike="noStrike" kern="1200" cap="none" spc="-15" normalizeH="0" baseline="0" noProof="1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华文行楷" panose="02010800040101010101" pitchFamily="2" charset="-122"/>
              </a:rPr>
              <a:t>变换编码</a:t>
            </a:r>
            <a:r>
              <a:rPr kumimoji="0" sz="3600" b="0" i="0" u="none" strike="noStrike" kern="1200" cap="none" spc="-15" normalizeH="0" baseline="0" noProof="1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华文行楷" panose="02010800040101010101" pitchFamily="2" charset="-122"/>
              </a:rPr>
              <a:t>举例</a:t>
            </a:r>
            <a:r>
              <a:rPr kumimoji="0" lang="zh-CN" sz="3600" b="0" i="0" u="none" strike="noStrike" kern="1200" cap="none" spc="-15" normalizeH="0" baseline="0" noProof="1">
                <a:solidFill>
                  <a:schemeClr val="accent2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华文行楷" panose="02010800040101010101" pitchFamily="2" charset="-122"/>
              </a:rPr>
              <a:t>：</a:t>
            </a:r>
            <a:endParaRPr kumimoji="0" lang="zh-CN" sz="3600" b="0" i="0" u="none" strike="noStrike" kern="1200" cap="none" spc="-15" normalizeH="0" baseline="0" noProof="1">
              <a:solidFill>
                <a:schemeClr val="accent2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华文行楷" panose="0201080004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标题 27955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4000" dirty="0">
                <a:latin typeface="黑体" panose="02010609060101010101" pitchFamily="49" charset="-122"/>
                <a:ea typeface="黑体" panose="02010609060101010101" pitchFamily="49" charset="-122"/>
              </a:rPr>
              <a:t>6.5 </a:t>
            </a:r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二值图像编码</a:t>
            </a:r>
            <a:endParaRPr lang="zh-CN" altLang="en-US" sz="4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4994" name="文本占位符 279554"/>
          <p:cNvSpPr>
            <a:spLocks noGrp="1"/>
          </p:cNvSpPr>
          <p:nvPr>
            <p:ph idx="1"/>
          </p:nvPr>
        </p:nvSpPr>
        <p:spPr>
          <a:xfrm>
            <a:off x="611505" y="1424305"/>
            <a:ext cx="8229600" cy="1054735"/>
          </a:xfrm>
        </p:spPr>
        <p:txBody>
          <a:bodyPr vert="horz" wrap="square" lIns="91440" tIns="45720" rIns="91440" bIns="45720" anchor="t"/>
          <a:lstStyle/>
          <a:p>
            <a:pPr marL="342900" marR="0" indent="-3429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只有“白”（用“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0”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表示）和“黑”（用“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1”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表示）两个灰度级称之为二值图像（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binary image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）。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0" i="0" u="none" strike="noStrike" kern="1200" cap="none" spc="0" normalizeH="0" baseline="0" noProof="1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0" i="0" u="none" strike="noStrike" kern="1200" cap="none" spc="0" normalizeH="0" baseline="0" noProof="1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2465" y="2957830"/>
            <a:ext cx="82200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如：由文字组成的文档文件、表格、工程图纸等</a:t>
            </a:r>
            <a:endParaRPr lang="zh-CN" altLang="en-US" sz="2400" b="1" dirty="0">
              <a:solidFill>
                <a:srgbClr val="7030A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标题 28057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跳跃空白编码 </a:t>
            </a:r>
            <a:r>
              <a:rPr lang="en-US" altLang="zh-CN" sz="3200" dirty="0">
                <a:latin typeface="Times New Roman" panose="02020603050405020304" pitchFamily="18" charset="0"/>
              </a:rPr>
              <a:t>(skip blank coding ) 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98306" name="文本占位符 280578"/>
          <p:cNvSpPr>
            <a:spLocks noGrp="1"/>
          </p:cNvSpPr>
          <p:nvPr>
            <p:ph idx="1"/>
          </p:nvPr>
        </p:nvSpPr>
        <p:spPr>
          <a:xfrm>
            <a:off x="611188" y="1423988"/>
            <a:ext cx="8229600" cy="1182687"/>
          </a:xfrm>
        </p:spPr>
        <p:txBody>
          <a:bodyPr vert="horz" wrap="square" lIns="91440" tIns="45720" rIns="91440" bIns="45720" anchor="t" anchorCtr="0"/>
          <a:lstStyle/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跳跃空白编码 ：将图像的每一条扫描线分成若干等长的段，每段有</a:t>
            </a:r>
            <a:r>
              <a:rPr lang="en-US" altLang="zh-CN" sz="2400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m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个像素，一般</a:t>
            </a:r>
            <a:r>
              <a:rPr lang="en-US" altLang="zh-CN" sz="2400" i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m=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8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～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12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这些扫描线段的组成可能出现二类情况：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zh-CN" altLang="en-US" sz="20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7990" y="3017520"/>
            <a:ext cx="8308975" cy="34150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）全是“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0”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像素。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lvl="1" indent="0">
              <a:lnSpc>
                <a:spcPct val="150000"/>
              </a:lnSpc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这种线段称为“空白块（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blank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）”，常表示二值图像的背景成分。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lvl="1" indent="0">
              <a:lnSpc>
                <a:spcPct val="150000"/>
              </a:lnSpc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编码时“空白块”用码字“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0”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表示。“空白块”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（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）全是“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1”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像素或由“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0”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、“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1”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像素混合而成。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lvl="1" indent="0">
              <a:lnSpc>
                <a:spcPct val="150000"/>
              </a:lnSpc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编码时，这种线段用“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1”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加直接编码表示。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752600" y="1708299"/>
            <a:ext cx="3995936" cy="3441878"/>
          </a:xfrm>
          <a:prstGeom prst="rect">
            <a:avLst/>
          </a:prstGeom>
          <a:noFill/>
          <a:ln w="9525">
            <a:solidFill>
              <a:srgbClr val="33CC33"/>
            </a:solidFill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标题 28057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行楷" panose="02010800040101010101" pitchFamily="2" charset="-122"/>
              </a:rPr>
              <a:t>游程长度编码（</a:t>
            </a:r>
            <a:r>
              <a:rPr kumimoji="0" sz="3200" b="1" i="0" u="none" strike="noStrike" kern="1200" cap="none" spc="-5" normalizeH="0" baseline="0" noProof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/>
                <a:ea typeface="+mj-ea"/>
                <a:cs typeface="Times New Roman" panose="02020603050405020304"/>
                <a:sym typeface="+mn-ea"/>
              </a:rPr>
              <a:t>RLC</a:t>
            </a:r>
            <a:r>
              <a:rPr kumimoji="0" lang="zh-CN" altLang="en-US" sz="32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行楷" panose="02010800040101010101" pitchFamily="2" charset="-122"/>
              </a:rPr>
              <a:t>）</a:t>
            </a: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华文行楷" panose="02010800040101010101" pitchFamily="2" charset="-122"/>
            </a:endParaRPr>
          </a:p>
        </p:txBody>
      </p:sp>
      <p:sp>
        <p:nvSpPr>
          <p:cNvPr id="99330" name="文本框 3"/>
          <p:cNvSpPr txBox="1"/>
          <p:nvPr/>
        </p:nvSpPr>
        <p:spPr>
          <a:xfrm>
            <a:off x="539750" y="1700530"/>
            <a:ext cx="7762875" cy="40646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31750" indent="609600" algn="just">
              <a:lnSpc>
                <a:spcPct val="150000"/>
              </a:lnSpc>
              <a:spcBef>
                <a:spcPts val="800"/>
              </a:spcBef>
            </a:pP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游程编码分为</a:t>
            </a: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定长游程编码和变长游程编码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两类。</a:t>
            </a:r>
            <a:endParaRPr lang="en-US" altLang="zh-CN" sz="2400" dirty="0"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  <a:p>
            <a:pPr marL="31750" indent="609600" algn="just">
              <a:lnSpc>
                <a:spcPct val="150000"/>
              </a:lnSpc>
              <a:spcBef>
                <a:spcPts val="825"/>
              </a:spcBef>
            </a:pP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定长游程编码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：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是指</a:t>
            </a: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编码的游程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所使用的</a:t>
            </a: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位数是固定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的，一旦灰度相同且连续的个数超过了固定位数所能表示的最大值，则转入下一轮游程编码。</a:t>
            </a:r>
            <a:endParaRPr lang="en-US" altLang="zh-CN" sz="2400" dirty="0"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  <a:p>
            <a:pPr marL="31750" indent="609600" algn="just">
              <a:lnSpc>
                <a:spcPct val="150000"/>
              </a:lnSpc>
              <a:spcBef>
                <a:spcPts val="825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变长游程编码则是指不同范围的游程使用不同位数来进行编码。</a:t>
            </a:r>
            <a:endParaRPr lang="en-US" altLang="zh-CN" sz="2400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31750" indent="609600">
              <a:lnSpc>
                <a:spcPts val="2715"/>
              </a:lnSpc>
              <a:spcBef>
                <a:spcPts val="700"/>
              </a:spcBef>
            </a:pPr>
            <a:endParaRPr lang="en-US" altLang="zh-CN" sz="2400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endParaRPr lang="zh-CN" altLang="en-US"/>
          </a:p>
        </p:txBody>
      </p:sp>
      <p:sp>
        <p:nvSpPr>
          <p:cNvPr id="100354" name="文本框 3"/>
          <p:cNvSpPr txBox="1"/>
          <p:nvPr/>
        </p:nvSpPr>
        <p:spPr>
          <a:xfrm>
            <a:off x="598488" y="1751013"/>
            <a:ext cx="7573962" cy="28613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31750" indent="609600">
              <a:lnSpc>
                <a:spcPct val="150000"/>
              </a:lnSpc>
              <a:spcBef>
                <a:spcPts val="7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游程编码适合于二值图像编码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，原因是由于二值图像的每一行 （列）都是由若干个黑白像素段交替出现的，对应着“0”和“1”两种符号，“1”符号对应“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白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”游程，“0”符号对应“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黑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”游程。这些符号连续出现，形成了“0”游程和“1”游程。</a:t>
            </a:r>
            <a:endParaRPr lang="en-US" altLang="en-US" sz="2400" dirty="0">
              <a:latin typeface="楷体_GB2312" panose="02010609030101010101" pitchFamily="49" charset="-122"/>
              <a:ea typeface="楷体_GB2312" panose="0201060903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endParaRPr lang="zh-CN" altLang="en-US" dirty="0"/>
          </a:p>
        </p:txBody>
      </p:sp>
      <p:sp>
        <p:nvSpPr>
          <p:cNvPr id="101378" name="文本框 3"/>
          <p:cNvSpPr txBox="1"/>
          <p:nvPr/>
        </p:nvSpPr>
        <p:spPr>
          <a:xfrm>
            <a:off x="649288" y="1430338"/>
            <a:ext cx="7299325" cy="1258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12700" defTabSz="914400">
              <a:spcBef>
                <a:spcPts val="500"/>
              </a:spcBef>
              <a:tabLst>
                <a:tab pos="3670300" algn="l"/>
              </a:tabLst>
            </a:pPr>
            <a:r>
              <a:rPr lang="zh-CN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例如，对于一个二元序列	0000001111100011001</a:t>
            </a:r>
            <a:endParaRPr lang="zh-CN" altLang="zh-CN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12700" algn="just" defTabSz="914400">
              <a:lnSpc>
                <a:spcPct val="102000"/>
              </a:lnSpc>
              <a:spcBef>
                <a:spcPts val="365"/>
              </a:spcBef>
              <a:tabLst>
                <a:tab pos="3670300" algn="l"/>
              </a:tabLst>
            </a:pPr>
            <a:r>
              <a:rPr lang="zh-CN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对应的游程序列为 653221，由于设定为从“0”开始，故可很容易的恢复出原始的二元序列。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pic>
        <p:nvPicPr>
          <p:cNvPr id="101379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2575" y="2689225"/>
            <a:ext cx="6038850" cy="2752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6" name="object 55"/>
          <p:cNvSpPr txBox="1"/>
          <p:nvPr/>
        </p:nvSpPr>
        <p:spPr>
          <a:xfrm>
            <a:off x="2233613" y="5518150"/>
            <a:ext cx="4343400" cy="319088"/>
          </a:xfrm>
          <a:prstGeom prst="rect">
            <a:avLst/>
          </a:prstGeom>
        </p:spPr>
        <p:txBody>
          <a:bodyPr lIns="0" tIns="12065" rIns="0" bIns="0">
            <a:spAutoFit/>
          </a:bodyPr>
          <a:lstStyle/>
          <a:p>
            <a:pPr marL="12700" marR="0" defTabSz="914400">
              <a:spcBef>
                <a:spcPts val="95"/>
              </a:spcBef>
              <a:buClrTx/>
              <a:buSzTx/>
              <a:defRPr/>
            </a:pPr>
            <a:r>
              <a:rPr kumimoji="0" sz="2000" kern="1200" cap="none" spc="-10" normalizeH="0" baseline="0" noProof="1">
                <a:latin typeface="楷体_GB2312" panose="02010609030101010101" pitchFamily="49" charset="-122"/>
                <a:ea typeface="楷体_GB2312" panose="02010609030101010101" pitchFamily="49" charset="-122"/>
                <a:cs typeface="黑体" panose="02010609060101010101" pitchFamily="49" charset="-122"/>
                <a:sym typeface="+mn-ea"/>
              </a:rPr>
              <a:t>一维游程编码用于图像数据的扫描模式</a:t>
            </a:r>
            <a:endParaRPr kumimoji="0" sz="2000" kern="1200" cap="none" spc="-10" normalizeH="0" baseline="0" noProof="1">
              <a:latin typeface="楷体_GB2312" panose="02010609030101010101" pitchFamily="49" charset="-122"/>
              <a:ea typeface="楷体_GB2312" panose="02010609030101010101" pitchFamily="49" charset="-122"/>
              <a:cs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标题 156673"/>
          <p:cNvSpPr>
            <a:spLocks noGrp="1"/>
          </p:cNvSpPr>
          <p:nvPr>
            <p:ph type="title"/>
          </p:nvPr>
        </p:nvSpPr>
        <p:spPr>
          <a:xfrm>
            <a:off x="304800" y="381000"/>
            <a:ext cx="8229600" cy="5334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6.6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图像压缩编码标准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2402" name="文本占位符 156674"/>
          <p:cNvSpPr>
            <a:spLocks noGrp="1"/>
          </p:cNvSpPr>
          <p:nvPr>
            <p:ph idx="1"/>
          </p:nvPr>
        </p:nvSpPr>
        <p:spPr>
          <a:xfrm>
            <a:off x="381000" y="1295400"/>
            <a:ext cx="8229600" cy="404114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在静态图像压缩编码标准中，比较著名的有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JPEG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、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JBIG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等标准。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视频可看成是一幅幅不同但相关的静态图像的时间序列。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lvl="1"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静态图像的压缩技术和标准可以直接应用于视频的单帧图像。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介绍：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lvl="1"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适用于</a:t>
            </a: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静态图像的</a:t>
            </a:r>
            <a:r>
              <a:rPr lang="en-US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JPEG</a:t>
            </a: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标准</a:t>
            </a:r>
            <a:endParaRPr lang="zh-CN" altLang="en-US" sz="2400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标题 159745"/>
          <p:cNvSpPr>
            <a:spLocks noGrp="1"/>
          </p:cNvSpPr>
          <p:nvPr>
            <p:ph type="title"/>
          </p:nvPr>
        </p:nvSpPr>
        <p:spPr>
          <a:xfrm>
            <a:off x="395288" y="115888"/>
            <a:ext cx="8229600" cy="874712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sz="4000" dirty="0">
                <a:ea typeface="楷体_GB2312" panose="02010609030101010101" pitchFamily="49" charset="-122"/>
              </a:rPr>
              <a:t>2</a:t>
            </a:r>
            <a:r>
              <a:rPr lang="zh-CN" altLang="en-US" sz="4000" dirty="0">
                <a:ea typeface="楷体_GB2312" panose="02010609030101010101" pitchFamily="49" charset="-122"/>
              </a:rPr>
              <a:t>．</a:t>
            </a:r>
            <a:r>
              <a:rPr lang="en-US" altLang="zh-CN" sz="4000" dirty="0">
                <a:ea typeface="楷体_GB2312" panose="02010609030101010101" pitchFamily="49" charset="-122"/>
              </a:rPr>
              <a:t>JPEG</a:t>
            </a:r>
            <a:r>
              <a:rPr lang="zh-CN" altLang="en-US" sz="4000" dirty="0">
                <a:ea typeface="楷体_GB2312" panose="02010609030101010101" pitchFamily="49" charset="-122"/>
              </a:rPr>
              <a:t>基本系统</a:t>
            </a:r>
            <a:endParaRPr lang="en-US" altLang="zh-CN" sz="4000" dirty="0">
              <a:ea typeface="楷体_GB2312" panose="02010609030101010101" pitchFamily="49" charset="-122"/>
            </a:endParaRPr>
          </a:p>
        </p:txBody>
      </p:sp>
      <p:sp>
        <p:nvSpPr>
          <p:cNvPr id="90114" name="内容占位符 159746"/>
          <p:cNvSpPr>
            <a:spLocks noGrp="1"/>
          </p:cNvSpPr>
          <p:nvPr>
            <p:ph idx="1"/>
          </p:nvPr>
        </p:nvSpPr>
        <p:spPr>
          <a:xfrm>
            <a:off x="381000" y="1219200"/>
            <a:ext cx="8229600" cy="512763"/>
          </a:xfrm>
        </p:spPr>
        <p:txBody>
          <a:bodyPr vert="horz" wrap="square" lIns="91440" tIns="45720" rIns="91440" bIns="45720" anchor="t"/>
          <a:lstStyle/>
          <a:p>
            <a:pPr marL="342900" marR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每个单独的彩色图像分量的编码算法：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  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4688" y="2701925"/>
            <a:ext cx="7953375" cy="9763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②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根据</a:t>
            </a: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最佳视觉特性构造量化表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，设计自适应量化器并对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DCT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的频率系数进行</a:t>
            </a:r>
            <a:r>
              <a:rPr lang="zh-CN" altLang="en-US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量化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。 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0700" y="3698875"/>
            <a:ext cx="8010525" cy="9763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  ③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为了增加连续的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0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系数的个数，对量化后的系数进行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Z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字形重排。 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163" y="4718050"/>
            <a:ext cx="8280400" cy="5334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  ④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对量化系数进行</a:t>
            </a:r>
            <a:r>
              <a:rPr lang="zh-CN" altLang="en-US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编码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，进一步压缩数据量。</a:t>
            </a:r>
            <a:endParaRPr lang="zh-CN" altLang="en-US" sz="2400" dirty="0"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9925" y="5251450"/>
            <a:ext cx="3230563" cy="5334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 ⑤ 形成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JPEG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宋体" panose="02010600030101010101" pitchFamily="2" charset="-122"/>
              </a:rPr>
              <a:t>数据流。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1000" y="1830388"/>
            <a:ext cx="8348663" cy="830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①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将量化精度为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8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位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(256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个灰度级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)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的待压缩图像分成若干个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8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8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样值</a:t>
            </a:r>
            <a:r>
              <a:rPr lang="zh-CN" altLang="en-US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子块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，做基于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8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8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子块的</a:t>
            </a:r>
            <a:r>
              <a:rPr lang="en-US" altLang="zh-CN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DCT</a:t>
            </a:r>
            <a:r>
              <a:rPr lang="zh-CN" altLang="en-US" sz="2400" b="1" dirty="0">
                <a:solidFill>
                  <a:srgbClr val="7030A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7" grpId="0"/>
      <p:bldP spid="8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标题 160769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62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sz="4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JPEG</a:t>
            </a:r>
            <a:r>
              <a:rPr lang="zh-CN" altLang="en-US" sz="4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编</a:t>
            </a:r>
            <a:r>
              <a:rPr lang="en-US" altLang="zh-CN" sz="4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/</a:t>
            </a:r>
            <a:r>
              <a:rPr lang="zh-CN" altLang="en-US" sz="4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解码器算法框图</a:t>
            </a:r>
            <a:endParaRPr lang="en-US" altLang="zh-CN" sz="40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4450" name="Object 1" descr="image67"/>
          <p:cNvGraphicFramePr/>
          <p:nvPr/>
        </p:nvGraphicFramePr>
        <p:xfrm>
          <a:off x="1676400" y="1447800"/>
          <a:ext cx="5715000" cy="460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7" name="" r:id="rId1" imgW="3188970" imgH="2567940" progId="">
                  <p:embed/>
                </p:oleObj>
              </mc:Choice>
              <mc:Fallback>
                <p:oleObj name="" r:id="rId1" imgW="3188970" imgH="2567940" progId="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76400" y="1447800"/>
                        <a:ext cx="5715000" cy="4605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标题 161793"/>
          <p:cNvSpPr>
            <a:spLocks noGrp="1"/>
          </p:cNvSpPr>
          <p:nvPr>
            <p:ph type="title"/>
          </p:nvPr>
        </p:nvSpPr>
        <p:spPr>
          <a:xfrm>
            <a:off x="395288" y="115888"/>
            <a:ext cx="8229600" cy="874712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zh-CN" altLang="en-US" sz="4000" dirty="0">
                <a:ea typeface="楷体_GB2312" panose="02010609030101010101" pitchFamily="49" charset="-122"/>
              </a:rPr>
              <a:t>上述算法的几点说明</a:t>
            </a:r>
            <a:endParaRPr lang="en-US" altLang="zh-CN" sz="4000" dirty="0">
              <a:ea typeface="楷体_GB2312" panose="02010609030101010101" pitchFamily="49" charset="-122"/>
            </a:endParaRPr>
          </a:p>
        </p:txBody>
      </p:sp>
      <p:sp>
        <p:nvSpPr>
          <p:cNvPr id="92162" name="文本占位符 161794"/>
          <p:cNvSpPr>
            <a:spLocks noGrp="1"/>
          </p:cNvSpPr>
          <p:nvPr>
            <p:ph idx="1"/>
          </p:nvPr>
        </p:nvSpPr>
        <p:spPr>
          <a:xfrm>
            <a:off x="609600" y="1371600"/>
            <a:ext cx="8229600" cy="3536950"/>
          </a:xfrm>
        </p:spPr>
        <p:txBody>
          <a:bodyPr vert="horz" wrap="square" lIns="91440" tIns="45720" rIns="91440" bIns="45720" anchor="t"/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（</a:t>
            </a:r>
            <a:r>
              <a:rPr kumimoji="0" lang="en-US" altLang="zh-CN" sz="28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1</a:t>
            </a:r>
            <a:r>
              <a:rPr kumimoji="0" lang="zh-CN" altLang="en-US" sz="28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）量化</a:t>
            </a:r>
            <a:endParaRPr kumimoji="0" lang="zh-CN" altLang="en-US" sz="2800" b="0" i="0" u="none" strike="noStrike" kern="1200" cap="none" spc="0" normalizeH="0" baseline="0" noProof="1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            </a:t>
            </a:r>
            <a:r>
              <a:rPr kumimoji="0" lang="en-US" altLang="zh-CN" sz="28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—</a:t>
            </a:r>
            <a:r>
              <a:rPr kumimoji="0" lang="zh-CN" altLang="en-US" sz="2800" b="0" i="0" u="none" strike="noStrike" kern="1200" cap="none" spc="0" normalizeH="0" baseline="0" noProof="1">
                <a:solidFill>
                  <a:schemeClr val="tx1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最佳的亮度量化表</a:t>
            </a:r>
            <a:endParaRPr kumimoji="0" lang="zh-CN" altLang="en-US" sz="2800" b="0" i="0" u="none" strike="noStrike" kern="1200" cap="none" spc="0" normalizeH="0" baseline="0" noProof="1">
              <a:solidFill>
                <a:schemeClr val="tx1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105475" name="文本框 2"/>
          <p:cNvSpPr txBox="1"/>
          <p:nvPr/>
        </p:nvSpPr>
        <p:spPr>
          <a:xfrm>
            <a:off x="1100455" y="2788285"/>
            <a:ext cx="7219950" cy="20612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endParaRPr lang="zh-CN" altLang="en-US" sz="20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 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由于</a:t>
            </a: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人眼对低频分量比对高频分量的图像更敏感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低频分量包含了图像的大部分信息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，因此左上角的量化步长比右下角的量化步长小。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标题 162817"/>
          <p:cNvSpPr>
            <a:spLocks noGrp="1"/>
          </p:cNvSpPr>
          <p:nvPr>
            <p:ph type="title"/>
          </p:nvPr>
        </p:nvSpPr>
        <p:spPr>
          <a:xfrm>
            <a:off x="457200" y="0"/>
            <a:ext cx="8153400" cy="1143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zh-CN" altLang="en-US" sz="4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亮度量化表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63128" name="表格 163127"/>
          <p:cNvGraphicFramePr/>
          <p:nvPr>
            <p:custDataLst>
              <p:tags r:id="rId1"/>
            </p:custDataLst>
          </p:nvPr>
        </p:nvGraphicFramePr>
        <p:xfrm>
          <a:off x="1524000" y="1397000"/>
          <a:ext cx="6096000" cy="4052886"/>
        </p:xfrm>
        <a:graphic>
          <a:graphicData uri="http://schemas.openxmlformats.org/drawingml/2006/table">
            <a:tbl>
              <a:tblPr/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497166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16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11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10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16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24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40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51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61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96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12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12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14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19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26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58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60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55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96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14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13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16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24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40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57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69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56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96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14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17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22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29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51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87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80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62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96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18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22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37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56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68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109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103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77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96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24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35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55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64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81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104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113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92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96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49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64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78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87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103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121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120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101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96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72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92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95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98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112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100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103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000">
                        <a:ea typeface="楷体_GB2312" panose="02010609030101010101" pitchFamily="49" charset="-122"/>
                      </a:endParaRPr>
                    </a:p>
                  </a:txBody>
                  <a:tcPr marT="45716" marB="45716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标题 162817"/>
          <p:cNvSpPr>
            <a:spLocks noGrp="1"/>
          </p:cNvSpPr>
          <p:nvPr>
            <p:ph type="title"/>
          </p:nvPr>
        </p:nvSpPr>
        <p:spPr>
          <a:xfrm>
            <a:off x="457200" y="0"/>
            <a:ext cx="8153400" cy="11430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zh-CN" altLang="en-US" sz="4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色度量化表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64152" name="表格 164151"/>
          <p:cNvGraphicFramePr/>
          <p:nvPr>
            <p:custDataLst>
              <p:tags r:id="rId1"/>
            </p:custDataLst>
          </p:nvPr>
        </p:nvGraphicFramePr>
        <p:xfrm>
          <a:off x="1524000" y="1447800"/>
          <a:ext cx="6096000" cy="4145232"/>
        </p:xfrm>
        <a:graphic>
          <a:graphicData uri="http://schemas.openxmlformats.org/drawingml/2006/table">
            <a:tbl>
              <a:tblPr/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5181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17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18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24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47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18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21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26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66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24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26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56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47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66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800">
                          <a:latin typeface="楷体_GB2312" panose="02010609030101010101" pitchFamily="49" charset="-122"/>
                          <a:ea typeface="楷体_GB2312" panose="02010609030101010101" pitchFamily="49" charset="-122"/>
                        </a:rPr>
                        <a:t>99</a:t>
                      </a:r>
                      <a:endParaRPr lang="en-US" altLang="zh-CN" sz="2800"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marT="45717" marB="45717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标题 166913"/>
          <p:cNvSpPr>
            <a:spLocks noGrp="1"/>
          </p:cNvSpPr>
          <p:nvPr>
            <p:ph type="title"/>
          </p:nvPr>
        </p:nvSpPr>
        <p:spPr>
          <a:xfrm>
            <a:off x="381000" y="313690"/>
            <a:ext cx="8229600" cy="533400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sz="4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DCT</a:t>
            </a:r>
            <a:r>
              <a:rPr lang="zh-CN" altLang="en-US" sz="4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系数的</a:t>
            </a:r>
            <a:r>
              <a:rPr lang="en-US" altLang="zh-CN" sz="4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Z</a:t>
            </a:r>
            <a:r>
              <a:rPr lang="zh-CN" altLang="en-US" sz="40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字形排列</a:t>
            </a:r>
            <a:endParaRPr lang="en-US" altLang="zh-CN" sz="40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8546" name="Object 1" descr="image68"/>
          <p:cNvGraphicFramePr/>
          <p:nvPr/>
        </p:nvGraphicFramePr>
        <p:xfrm>
          <a:off x="2409825" y="2816225"/>
          <a:ext cx="3511550" cy="322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1" name="" r:id="rId1" imgW="1962150" imgH="2137410" progId="">
                  <p:embed/>
                </p:oleObj>
              </mc:Choice>
              <mc:Fallback>
                <p:oleObj name="" r:id="rId1" imgW="1962150" imgH="2137410" progId="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09825" y="2816225"/>
                        <a:ext cx="3511550" cy="3228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47" name="文本框 1"/>
          <p:cNvSpPr txBox="1"/>
          <p:nvPr/>
        </p:nvSpPr>
        <p:spPr>
          <a:xfrm>
            <a:off x="788988" y="1593850"/>
            <a:ext cx="7413625" cy="101473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  <a:r>
              <a:rPr lang="zh-CN" altLang="en-US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量化后的系数要</a:t>
            </a:r>
            <a:r>
              <a:rPr lang="en-US" altLang="zh-CN" sz="20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Z</a:t>
            </a:r>
            <a:r>
              <a:rPr lang="zh-CN" altLang="en-US" sz="2000" dirty="0">
                <a:latin typeface="楷体_GB2312" panose="02010609030101010101" pitchFamily="49" charset="-122"/>
                <a:ea typeface="楷体_GB2312" panose="02010609030101010101" pitchFamily="49" charset="-122"/>
                <a:sym typeface="+mn-ea"/>
              </a:rPr>
              <a:t>字型</a:t>
            </a:r>
            <a:r>
              <a:rPr lang="zh-CN" altLang="en-US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重新编排，目的是为了增加连续</a:t>
            </a:r>
            <a:r>
              <a:rPr lang="en-US" altLang="zh-CN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“0”</a:t>
            </a:r>
            <a:r>
              <a:rPr lang="zh-CN" altLang="en-US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系数的个数。</a:t>
            </a:r>
            <a:endParaRPr lang="zh-CN" altLang="en-US" sz="20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文本框 99"/>
          <p:cNvSpPr txBox="1"/>
          <p:nvPr/>
        </p:nvSpPr>
        <p:spPr>
          <a:xfrm>
            <a:off x="768350" y="1933575"/>
            <a:ext cx="7326313" cy="286131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　　8×8图像块经过DCT变换之后得到的DC直流系数有两个特点，一是系数的数值比较大，</a:t>
            </a:r>
            <a:r>
              <a:rPr lang="zh-CN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二是相邻8×8图像块的DC系数值变化不大。</a:t>
            </a:r>
            <a:r>
              <a:rPr lang="zh-CN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根据这特点，JPEG算法使用了</a:t>
            </a:r>
            <a:r>
              <a:rPr lang="zh-CN" altLang="zh-CN" sz="24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差分脉冲调制编码（DPCM）技术</a:t>
            </a:r>
            <a:r>
              <a:rPr lang="zh-CN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，对相邻图像块之间量化DC系数的差值（Delta）进行编码。</a:t>
            </a:r>
            <a:endParaRPr lang="zh-CN" altLang="en-US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</p:txBody>
      </p:sp>
      <p:sp>
        <p:nvSpPr>
          <p:cNvPr id="87041" name="标题 166913"/>
          <p:cNvSpPr>
            <a:spLocks noGrp="1"/>
          </p:cNvSpPr>
          <p:nvPr>
            <p:ph type="title"/>
          </p:nvPr>
        </p:nvSpPr>
        <p:spPr>
          <a:xfrm>
            <a:off x="381000" y="313690"/>
            <a:ext cx="8229600" cy="533400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华文行楷" panose="02010800040101010101" pitchFamily="2" charset="-122"/>
                <a:sym typeface="+mn-ea"/>
              </a:rPr>
              <a:t>直流系数的编码</a:t>
            </a:r>
            <a:endParaRPr kumimoji="0" lang="en-US" altLang="zh-CN" sz="40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华文行楷" panose="02010800040101010101" pitchFamily="2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文本框 99"/>
          <p:cNvSpPr txBox="1"/>
          <p:nvPr/>
        </p:nvSpPr>
        <p:spPr>
          <a:xfrm>
            <a:off x="663575" y="1927225"/>
            <a:ext cx="7581900" cy="341503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 </a:t>
            </a:r>
            <a:r>
              <a:rPr lang="zh-CN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　   量化AC系数的特点是1×64矢量中包含有许多“0”系数，并且许多“0”是连续的，因此使用非常简单和直观的</a:t>
            </a:r>
            <a:r>
              <a:rPr lang="zh-CN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游程长度编码(RLE)</a:t>
            </a:r>
            <a:r>
              <a:rPr lang="zh-CN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对它们进行编码。　　   </a:t>
            </a:r>
            <a:endParaRPr lang="zh-CN" altLang="zh-CN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        JPEG使用了</a:t>
            </a:r>
            <a:r>
              <a:rPr lang="zh-CN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1个字节的高4位来表示连续“0”的个数，而使用它的低4位来表示编码下一个非“0”系数所需要的位数，跟在它后面的是量化AC系数的数值</a:t>
            </a:r>
            <a:r>
              <a:rPr lang="zh-CN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</p:txBody>
      </p:sp>
      <p:sp>
        <p:nvSpPr>
          <p:cNvPr id="87041" name="标题 166913"/>
          <p:cNvSpPr>
            <a:spLocks noGrp="1"/>
          </p:cNvSpPr>
          <p:nvPr>
            <p:ph type="title"/>
          </p:nvPr>
        </p:nvSpPr>
        <p:spPr>
          <a:xfrm>
            <a:off x="381000" y="313690"/>
            <a:ext cx="8229600" cy="533400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华文行楷" panose="02010800040101010101" pitchFamily="2" charset="-122"/>
                <a:sym typeface="+mn-ea"/>
              </a:rPr>
              <a:t>交流</a:t>
            </a:r>
            <a:r>
              <a:rPr kumimoji="0" lang="en-US" altLang="zh-CN" sz="40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华文行楷" panose="02010800040101010101" pitchFamily="2" charset="-122"/>
                <a:sym typeface="+mn-ea"/>
              </a:rPr>
              <a:t>系数的编码</a:t>
            </a:r>
            <a:endParaRPr kumimoji="0" lang="en-US" altLang="zh-CN" sz="40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华文行楷" panose="02010800040101010101" pitchFamily="2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文本框 99"/>
          <p:cNvSpPr txBox="1"/>
          <p:nvPr/>
        </p:nvSpPr>
        <p:spPr>
          <a:xfrm>
            <a:off x="673100" y="1151255"/>
            <a:ext cx="7816850" cy="3784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endParaRPr lang="zh-CN" altLang="zh-CN" sz="2400" dirty="0">
              <a:solidFill>
                <a:srgbClr val="000000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    在JPEG有损压缩算法中，</a:t>
            </a:r>
            <a:r>
              <a:rPr lang="zh-CN" altLang="zh-CN" sz="2400" b="1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使用霍夫曼编码器</a:t>
            </a:r>
            <a:r>
              <a:rPr lang="zh-CN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来减少平均码字长度。使用霍夫曼编码器的理由是可以使用很简单的查表（Lookup Table）方法进行编码。压缩数据符号时，</a:t>
            </a:r>
            <a:r>
              <a:rPr lang="zh-CN" altLang="zh-CN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霍夫曼编码器对出现频度比较高的符号分配比较短的代码，而对出现频度较低的符号分配比较长的代码。</a:t>
            </a:r>
            <a:r>
              <a:rPr lang="zh-CN" altLang="zh-CN" sz="2400" dirty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这种可变长度的霍夫曼码表可以事先进行定义。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</p:txBody>
      </p:sp>
      <p:sp>
        <p:nvSpPr>
          <p:cNvPr id="87041" name="标题 166913"/>
          <p:cNvSpPr>
            <a:spLocks noGrp="1"/>
          </p:cNvSpPr>
          <p:nvPr>
            <p:ph type="title"/>
          </p:nvPr>
        </p:nvSpPr>
        <p:spPr>
          <a:xfrm>
            <a:off x="381000" y="313690"/>
            <a:ext cx="8229600" cy="533400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华文行楷" panose="02010800040101010101" pitchFamily="2" charset="-122"/>
                <a:sym typeface="+mn-ea"/>
              </a:rPr>
              <a:t>熵</a:t>
            </a:r>
            <a:r>
              <a:rPr kumimoji="0" lang="en-US" altLang="zh-CN" sz="40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华文行楷" panose="02010800040101010101" pitchFamily="2" charset="-122"/>
                <a:sym typeface="+mn-ea"/>
              </a:rPr>
              <a:t>编码</a:t>
            </a:r>
            <a:endParaRPr kumimoji="0" lang="en-US" altLang="zh-CN" sz="40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华文行楷" panose="02010800040101010101" pitchFamily="2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内容占位符 2"/>
          <p:cNvSpPr>
            <a:spLocks noGrp="1"/>
          </p:cNvSpPr>
          <p:nvPr>
            <p:ph idx="1"/>
          </p:nvPr>
        </p:nvSpPr>
        <p:spPr>
          <a:xfrm>
            <a:off x="622300" y="1236980"/>
            <a:ext cx="7545388" cy="2132013"/>
          </a:xfrm>
        </p:spPr>
        <p:txBody>
          <a:bodyPr vert="horz" wrap="square" lIns="91440" tIns="45720" rIns="91440" bIns="45720" anchor="t" anchorCtr="0"/>
          <a:lstStyle/>
          <a:p>
            <a:pPr marL="0" indent="0">
              <a:buNone/>
            </a:pP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　　JPEG编码的最后一个步骤是把各种标记代码和编码后的图像数据</a:t>
            </a:r>
            <a:r>
              <a:rPr lang="zh-CN" altLang="en-US" sz="240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组成一帧一帧的数据</a:t>
            </a:r>
            <a:r>
              <a:rPr lang="zh-CN" altLang="en-US" sz="2400" dirty="0">
                <a:latin typeface="楷体_GB2312" panose="02010609030101010101" pitchFamily="49" charset="-122"/>
                <a:ea typeface="楷体_GB2312" panose="02010609030101010101" pitchFamily="49" charset="-122"/>
                <a:cs typeface="楷体_GB2312" panose="02010609030101010101" pitchFamily="49" charset="-122"/>
              </a:rPr>
              <a:t>，这样做的目的是为了便于传输、存储和译码器进行译码，这样的组织的数据通常称为JPEG位数据流（JPEG bitstream）。</a:t>
            </a:r>
            <a:endParaRPr lang="zh-CN" altLang="en-US" sz="2400" dirty="0">
              <a:latin typeface="楷体_GB2312" panose="02010609030101010101" pitchFamily="49" charset="-122"/>
              <a:ea typeface="楷体_GB2312" panose="02010609030101010101" pitchFamily="49" charset="-122"/>
              <a:cs typeface="楷体_GB2312" panose="02010609030101010101" pitchFamily="49" charset="-122"/>
            </a:endParaRPr>
          </a:p>
        </p:txBody>
      </p:sp>
      <p:sp>
        <p:nvSpPr>
          <p:cNvPr id="87041" name="标题 166913"/>
          <p:cNvSpPr>
            <a:spLocks noGrp="1"/>
          </p:cNvSpPr>
          <p:nvPr>
            <p:ph type="title"/>
          </p:nvPr>
        </p:nvSpPr>
        <p:spPr>
          <a:xfrm>
            <a:off x="381000" y="313690"/>
            <a:ext cx="8229600" cy="533400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anose="02010609030101010101" pitchFamily="49" charset="-122"/>
                <a:cs typeface="华文行楷" panose="02010800040101010101" pitchFamily="2" charset="-122"/>
                <a:sym typeface="+mn-ea"/>
              </a:rPr>
              <a:t>位数据流</a:t>
            </a:r>
            <a:endParaRPr kumimoji="0" lang="zh-CN" altLang="en-US" sz="4000" b="0" i="0" u="none" strike="noStrike" kern="120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华文行楷" panose="02010800040101010101" pitchFamily="2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标题 216065"/>
          <p:cNvSpPr>
            <a:spLocks noGrp="1"/>
          </p:cNvSpPr>
          <p:nvPr>
            <p:ph type="title"/>
          </p:nvPr>
        </p:nvSpPr>
        <p:spPr>
          <a:xfrm>
            <a:off x="457200" y="228600"/>
            <a:ext cx="8077200" cy="8382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b="1" dirty="0">
                <a:ea typeface="宋体" panose="02010600030101010101" pitchFamily="2" charset="-122"/>
              </a:rPr>
              <a:t>本 章 小 结</a:t>
            </a:r>
            <a:endParaRPr lang="en-US" altLang="zh-CN" b="1" dirty="0">
              <a:ea typeface="宋体" panose="02010600030101010101" pitchFamily="2" charset="-122"/>
            </a:endParaRPr>
          </a:p>
        </p:txBody>
      </p:sp>
      <p:sp>
        <p:nvSpPr>
          <p:cNvPr id="113666" name="内容占位符 216066"/>
          <p:cNvSpPr>
            <a:spLocks noGrp="1"/>
          </p:cNvSpPr>
          <p:nvPr>
            <p:ph idx="1"/>
          </p:nvPr>
        </p:nvSpPr>
        <p:spPr>
          <a:xfrm>
            <a:off x="304800" y="1482725"/>
            <a:ext cx="8229600" cy="3589338"/>
          </a:xfrm>
        </p:spPr>
        <p:txBody>
          <a:bodyPr vert="horz" wrap="square" lIns="91440" tIns="45720" rIns="91440" bIns="45720" anchor="t" anchorCtr="0"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u="sng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掌握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</a:t>
            </a: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数字图像编码统计编码方法：霍夫曼编码，香农</a:t>
            </a:r>
            <a:r>
              <a:rPr lang="en-US" altLang="zh-CN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-</a:t>
            </a: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费诺编码，算术编码。</a:t>
            </a:r>
            <a:endParaRPr lang="en-US" altLang="zh-CN" sz="28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u="sng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熟悉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</a:t>
            </a: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预测编码方法：差分脉冲编码调制</a:t>
            </a:r>
            <a:endParaRPr lang="en-US" altLang="zh-CN" sz="28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u="sng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熟悉</a:t>
            </a: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：正交变换编码的原理，编码步骤。</a:t>
            </a:r>
            <a:endParaRPr lang="en-US" altLang="zh-CN" sz="28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u="sng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了解</a:t>
            </a:r>
            <a:r>
              <a:rPr lang="zh-CN" altLang="en-US" sz="28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：</a:t>
            </a:r>
            <a:r>
              <a:rPr lang="en-US" altLang="zh-CN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JPEG</a:t>
            </a: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编码压缩标准。</a:t>
            </a:r>
            <a:endParaRPr lang="zh-CN" altLang="en-US" sz="28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u="sng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作</a:t>
            </a:r>
            <a:r>
              <a:rPr lang="zh-CN" altLang="en-US" sz="2800" u="sng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业</a:t>
            </a: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：</a:t>
            </a:r>
            <a:r>
              <a:rPr lang="en-US" altLang="zh-CN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5.3</a:t>
            </a: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， </a:t>
            </a:r>
            <a:r>
              <a:rPr lang="en-US" altLang="zh-CN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5.9</a:t>
            </a: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，  </a:t>
            </a:r>
            <a:r>
              <a:rPr lang="en-US" altLang="zh-CN" sz="28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5.19</a:t>
            </a:r>
            <a:r>
              <a:rPr lang="zh-CN" altLang="en-US" sz="2800" dirty="0" smtClean="0">
                <a:latin typeface="楷体_GB2312" panose="02010609030101010101" pitchFamily="49" charset="-122"/>
                <a:ea typeface="楷体_GB2312" panose="02010609030101010101" pitchFamily="49" charset="-122"/>
              </a:rPr>
              <a:t>，</a:t>
            </a:r>
            <a:endParaRPr lang="zh-CN" altLang="en-US" sz="28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UNIT_PLACING_PICTURE_USER_VIEWPORT" val="{&quot;height&quot;:6240,&quot;width&quot;:16860}"/>
</p:tagLst>
</file>

<file path=ppt/tags/tag2.xml><?xml version="1.0" encoding="utf-8"?>
<p:tagLst xmlns:p="http://schemas.openxmlformats.org/presentationml/2006/main">
  <p:tag name="KSO_WM_UNIT_PLACING_PICTURE_USER_VIEWPORT" val="{&quot;height&quot;:7042.499212598425,&quot;width&quot;:12255}"/>
</p:tagLst>
</file>

<file path=ppt/tags/tag3.xml><?xml version="1.0" encoding="utf-8"?>
<p:tagLst xmlns:p="http://schemas.openxmlformats.org/presentationml/2006/main">
  <p:tag name="KSO_WM_UNIT_TABLE_BEAUTIFY" val="smartTable{3dd8b32b-1cd7-4803-be09-1c7584a4d832}"/>
</p:tagLst>
</file>

<file path=ppt/tags/tag4.xml><?xml version="1.0" encoding="utf-8"?>
<p:tagLst xmlns:p="http://schemas.openxmlformats.org/presentationml/2006/main">
  <p:tag name="KSO_WM_UNIT_TABLE_BEAUTIFY" val="smartTable{bea7fbe9-a53b-4e97-ba31-9cb98f8c336a}"/>
</p:tagLst>
</file>

<file path=ppt/tags/tag5.xml><?xml version="1.0" encoding="utf-8"?>
<p:tagLst xmlns:p="http://schemas.openxmlformats.org/presentationml/2006/main">
  <p:tag name="KSO_WM_UNIT_TABLE_BEAUTIFY" val="{ef7a92cb-effd-4355-9865-015ff124fb2a}"/>
</p:tagLst>
</file>

<file path=ppt/tags/tag6.xml><?xml version="1.0" encoding="utf-8"?>
<p:tagLst xmlns:p="http://schemas.openxmlformats.org/presentationml/2006/main">
  <p:tag name="KSO_WM_UNIT_TABLE_BEAUTIFY" val="{a932e981-2b53-4bcf-b009-c005ab6f1b57}"/>
</p:tagLst>
</file>

<file path=ppt/tags/tag7.xml><?xml version="1.0" encoding="utf-8"?>
<p:tagLst xmlns:p="http://schemas.openxmlformats.org/presentationml/2006/main">
  <p:tag name="KSO_WM_UNIT_TABLE_BEAUTIFY" val="smartTable{e353ae99-e337-46c4-a959-4371474f86ca}"/>
</p:tagLst>
</file>

<file path=ppt/tags/tag8.xml><?xml version="1.0" encoding="utf-8"?>
<p:tagLst xmlns:p="http://schemas.openxmlformats.org/presentationml/2006/main">
  <p:tag name="KSO_WM_UNIT_TABLE_BEAUTIFY" val="{6e0428cd-9fc3-42b4-9ec2-42d057ee1c13}"/>
  <p:tag name="TABLE_RECT" val="36*121.838*648*258.05"/>
  <p:tag name="TABLE_EMPHASIZE_COLOR" val="8684935"/>
  <p:tag name="TABLE_ONEKEY_SKIN_IDX" val="0"/>
  <p:tag name="TABLE_SKINIDX" val="-1"/>
  <p:tag name="TABLE_COLORIDX" val="l"/>
  <p:tag name="TABLE_COLOR_RGB" val="0x000000*0xFFFFFF*0x44546A*0xE6E5E5*0x848587*0x738499*0x817CA0*0x9B819F*0xA7878C*0xAB968B"/>
</p:tagLst>
</file>

<file path=ppt/tags/tag9.xml><?xml version="1.0" encoding="utf-8"?>
<p:tagLst xmlns:p="http://schemas.openxmlformats.org/presentationml/2006/main">
  <p:tag name="KSO_WM_UNIT_TABLE_BEAUTIFY" val="{d39c43da-1ed2-498a-b608-4f4072ea08e8}"/>
</p:tagLst>
</file>

<file path=ppt/tags/tag10.xml><?xml version="1.0" encoding="utf-8"?>
<p:tagLst xmlns:p="http://schemas.openxmlformats.org/presentationml/2006/main">
  <p:tag name="KSO_WM_UNIT_TABLE_BEAUTIFY" val="smartTable{afd1b2bf-3fb2-4548-8184-00de86e1c677}"/>
  <p:tag name="TABLE_ENDDRAG_ORIGIN_RECT" val="562*136"/>
  <p:tag name="TABLE_ENDDRAG_RECT" val="49*225*562*136"/>
</p:tagLst>
</file>

<file path=ppt/tags/tag11.xml><?xml version="1.0" encoding="utf-8"?>
<p:tagLst xmlns:p="http://schemas.openxmlformats.org/presentationml/2006/main">
  <p:tag name="KSO_WM_DIAGRAM_VIRTUALLY_FRAME" val="{&quot;height&quot;:244.5,&quot;left&quot;:48.15,&quot;top&quot;:196.3,&quot;width&quot;:656.4}"/>
</p:tagLst>
</file>

<file path=ppt/tags/tag12.xml><?xml version="1.0" encoding="utf-8"?>
<p:tagLst xmlns:p="http://schemas.openxmlformats.org/presentationml/2006/main">
  <p:tag name="KSO_WM_DIAGRAM_VIRTUALLY_FRAME" val="{&quot;height&quot;:244.5,&quot;left&quot;:48.15,&quot;top&quot;:196.3,&quot;width&quot;:656.4}"/>
</p:tagLst>
</file>

<file path=ppt/tags/tag13.xml><?xml version="1.0" encoding="utf-8"?>
<p:tagLst xmlns:p="http://schemas.openxmlformats.org/presentationml/2006/main">
  <p:tag name="KSO_WM_DIAGRAM_VIRTUALLY_FRAME" val="{&quot;height&quot;:244.5,&quot;left&quot;:48.15,&quot;top&quot;:196.3,&quot;width&quot;:656.4}"/>
</p:tagLst>
</file>

<file path=ppt/tags/tag14.xml><?xml version="1.0" encoding="utf-8"?>
<p:tagLst xmlns:p="http://schemas.openxmlformats.org/presentationml/2006/main">
  <p:tag name="KSO_WM_DIAGRAM_VIRTUALLY_FRAME" val="{&quot;height&quot;:244.5,&quot;left&quot;:48.15,&quot;top&quot;:196.3,&quot;width&quot;:656.4}"/>
</p:tagLst>
</file>

<file path=ppt/tags/tag15.xml><?xml version="1.0" encoding="utf-8"?>
<p:tagLst xmlns:p="http://schemas.openxmlformats.org/presentationml/2006/main">
  <p:tag name="KSO_WM_UNIT_TABLE_BEAUTIFY" val="smartTable{c722b50c-35c9-4cf4-ac71-bd0e2c1a2078}"/>
</p:tagLst>
</file>

<file path=ppt/tags/tag16.xml><?xml version="1.0" encoding="utf-8"?>
<p:tagLst xmlns:p="http://schemas.openxmlformats.org/presentationml/2006/main">
  <p:tag name="KSO_WM_UNIT_TABLE_BEAUTIFY" val="smartTable{f86d04ab-b2c3-4991-b874-b9d5d4c4ecde}"/>
  <p:tag name="TABLE_ENDDRAG_ORIGIN_RECT" val="580*138"/>
  <p:tag name="TABLE_ENDDRAG_RECT" val="65*114*580*138"/>
</p:tagLst>
</file>

<file path=ppt/tags/tag17.xml><?xml version="1.0" encoding="utf-8"?>
<p:tagLst xmlns:p="http://schemas.openxmlformats.org/presentationml/2006/main">
  <p:tag name="KSO_WM_UNIT_TABLE_BEAUTIFY" val="smartTable{b9625f94-e340-4747-a38d-fb47e82ce61d}"/>
</p:tagLst>
</file>

<file path=ppt/tags/tag18.xml><?xml version="1.0" encoding="utf-8"?>
<p:tagLst xmlns:p="http://schemas.openxmlformats.org/presentationml/2006/main">
  <p:tag name="KSO_WM_UNIT_PLACING_PICTURE_USER_VIEWPORT" val="{&quot;height&quot;:4759,&quot;width&quot;:11845}"/>
</p:tagLst>
</file>

<file path=ppt/tags/tag19.xml><?xml version="1.0" encoding="utf-8"?>
<p:tagLst xmlns:p="http://schemas.openxmlformats.org/presentationml/2006/main">
  <p:tag name="KSO_WM_UNIT_TABLE_BEAUTIFY" val="{be7c713a-73d8-4bb8-8ec4-e7d979ae7852}"/>
</p:tagLst>
</file>

<file path=ppt/tags/tag20.xml><?xml version="1.0" encoding="utf-8"?>
<p:tagLst xmlns:p="http://schemas.openxmlformats.org/presentationml/2006/main">
  <p:tag name="KSO_WM_DIAGRAM_VIRTUALLY_FRAME" val="{&quot;height&quot;:252.35,&quot;left&quot;:37.75,&quot;top&quot;:230.3,&quot;width&quot;:610.2}"/>
</p:tagLst>
</file>

<file path=ppt/tags/tag21.xml><?xml version="1.0" encoding="utf-8"?>
<p:tagLst xmlns:p="http://schemas.openxmlformats.org/presentationml/2006/main">
  <p:tag name="KSO_WM_DIAGRAM_VIRTUALLY_FRAME" val="{&quot;height&quot;:252.35,&quot;left&quot;:37.75,&quot;top&quot;:230.3,&quot;width&quot;:610.2}"/>
</p:tagLst>
</file>

<file path=ppt/tags/tag22.xml><?xml version="1.0" encoding="utf-8"?>
<p:tagLst xmlns:p="http://schemas.openxmlformats.org/presentationml/2006/main">
  <p:tag name="KSO_WM_UNIT_TABLE_BEAUTIFY" val="{5a6f894a-3ce0-4f68-8983-53dc99cca2f1}"/>
</p:tagLst>
</file>

<file path=ppt/tags/tag23.xml><?xml version="1.0" encoding="utf-8"?>
<p:tagLst xmlns:p="http://schemas.openxmlformats.org/presentationml/2006/main">
  <p:tag name="KSO_WM_UNIT_TABLE_BEAUTIFY" val="{8505b645-8ede-4bb6-989e-489a268a89d4}"/>
</p:tagLst>
</file>

<file path=ppt/tags/tag24.xml><?xml version="1.0" encoding="utf-8"?>
<p:tagLst xmlns:p="http://schemas.openxmlformats.org/presentationml/2006/main">
  <p:tag name="COMMONDATA" val="eyJoZGlkIjoiYjE2OWNjNmZkZDkyNDkxZDU2ZGExZWQ0NTM5ODE3ZjUifQ=="/>
  <p:tag name="KSO_WPP_MARK_KEY" val="ec66ae8c-3c88-48f3-9653-8db94dc51537"/>
</p:tagLst>
</file>

<file path=ppt/theme/theme1.xml><?xml version="1.0" encoding="utf-8"?>
<a:theme xmlns:a="http://schemas.openxmlformats.org/drawingml/2006/main" name="加工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华文行楷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50000"/>
          </a:lnSpc>
          <a:defRPr lang="en-US" altLang="zh-CN" b="1" dirty="0">
            <a:solidFill>
              <a:srgbClr val="7030A0"/>
            </a:solidFill>
            <a:latin typeface="楷体_GB2312" panose="02010609030101010101" pitchFamily="49" charset="-122"/>
            <a:ea typeface="楷体_GB2312" panose="02010609030101010101" pitchFamily="49" charset="-122"/>
            <a:sym typeface="Wingdings" panose="05000000000000000000" pitchFamily="2" charset="2"/>
          </a:defRPr>
        </a:defPPr>
      </a:lstStyle>
    </a:txDef>
  </a:objectDefaults>
  <a:extraClrSchemeLst>
    <a:extraClrScheme>
      <a:clrScheme name="加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加工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加工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加工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加工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加工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加工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加工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加工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加工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加工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加工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加工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华文行楷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加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加工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加工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加工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加工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加工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加工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加工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加工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加工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加工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加工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加工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华文行楷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加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加工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加工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加工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加工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加工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加工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加工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加工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加工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加工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加工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Settings\lenovo\Application Data\Microsoft\Templates\加工.pot</Template>
  <TotalTime>0</TotalTime>
  <Words>10715</Words>
  <Application>WPS 演示</Application>
  <PresentationFormat>全屏显示(4:3)</PresentationFormat>
  <Paragraphs>1468</Paragraphs>
  <Slides>104</Slides>
  <Notes>12</Notes>
  <HiddenSlides>11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41</vt:i4>
      </vt:variant>
      <vt:variant>
        <vt:lpstr>幻灯片标题</vt:lpstr>
      </vt:variant>
      <vt:variant>
        <vt:i4>104</vt:i4>
      </vt:variant>
    </vt:vector>
  </HeadingPairs>
  <TitlesOfParts>
    <vt:vector size="164" baseType="lpstr">
      <vt:lpstr>Arial</vt:lpstr>
      <vt:lpstr>宋体</vt:lpstr>
      <vt:lpstr>Wingdings</vt:lpstr>
      <vt:lpstr>Times New Roman</vt:lpstr>
      <vt:lpstr>华文行楷</vt:lpstr>
      <vt:lpstr>楷体_GB2312</vt:lpstr>
      <vt:lpstr>新宋体</vt:lpstr>
      <vt:lpstr>华文楷体</vt:lpstr>
      <vt:lpstr>黑体</vt:lpstr>
      <vt:lpstr>Wingdings</vt:lpstr>
      <vt:lpstr>Symbol</vt:lpstr>
      <vt:lpstr>微软雅黑</vt:lpstr>
      <vt:lpstr>Arial Unicode MS</vt:lpstr>
      <vt:lpstr>Calibri</vt:lpstr>
      <vt:lpstr>Times New Roman</vt:lpstr>
      <vt:lpstr>Wingdings</vt:lpstr>
      <vt:lpstr>加工</vt:lpstr>
      <vt:lpstr>1_加工</vt:lpstr>
      <vt:lpstr>2_加工</vt:lpstr>
      <vt:lpstr>Equation.DSMT4</vt:lpstr>
      <vt:lpstr>Equation.DSMT4</vt:lpstr>
      <vt:lpstr>Equation.KSEE3</vt:lpstr>
      <vt:lpstr>Equation.KSEE3</vt:lpstr>
      <vt:lpstr>Equation.KSEE3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Equation.KSEE3</vt:lpstr>
      <vt:lpstr>Equation.KSEE3</vt:lpstr>
      <vt:lpstr>Equation.KSEE3</vt:lpstr>
      <vt:lpstr>Equation.KSEE3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第6章  图像编码与压缩</vt:lpstr>
      <vt:lpstr>PowerPoint 演示文稿</vt:lpstr>
      <vt:lpstr>PowerPoint 演示文稿</vt:lpstr>
      <vt:lpstr>知识要点</vt:lpstr>
      <vt:lpstr>6.1  概述</vt:lpstr>
      <vt:lpstr>6.1  概述</vt:lpstr>
      <vt:lpstr>数据压缩系统组成图</vt:lpstr>
      <vt:lpstr>6.1.2  图像编码压缩的必要性</vt:lpstr>
      <vt:lpstr>6.1.3  图像编码压缩的可能性</vt:lpstr>
      <vt:lpstr>PowerPoint 演示文稿</vt:lpstr>
      <vt:lpstr>PowerPoint 演示文稿</vt:lpstr>
      <vt:lpstr>    6.1.4 图像编码压缩技术评价指标</vt:lpstr>
      <vt:lpstr>    6.1.4 图像编码压缩技术评价指标</vt:lpstr>
      <vt:lpstr>PowerPoint 演示文稿</vt:lpstr>
      <vt:lpstr>PowerPoint 演示文稿</vt:lpstr>
      <vt:lpstr>PowerPoint 演示文稿</vt:lpstr>
      <vt:lpstr>PowerPoint 演示文稿</vt:lpstr>
      <vt:lpstr>主观评价</vt:lpstr>
      <vt:lpstr>6.1.5  数据压缩方法的分类</vt:lpstr>
      <vt:lpstr>6.1.5  数据压缩方法的分类</vt:lpstr>
      <vt:lpstr>问题</vt:lpstr>
      <vt:lpstr>6.2  统计编码</vt:lpstr>
      <vt:lpstr>6.2.1  Huffman编码</vt:lpstr>
      <vt:lpstr>2、前缀码特点</vt:lpstr>
      <vt:lpstr>Huffman编码算法</vt:lpstr>
      <vt:lpstr>编码过程举例</vt:lpstr>
      <vt:lpstr>Huffman编码示意图</vt:lpstr>
      <vt:lpstr>练习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6.2.2  香农-费诺编码法</vt:lpstr>
      <vt:lpstr>PowerPoint 演示文稿</vt:lpstr>
      <vt:lpstr>香农-费诺编码举例：</vt:lpstr>
      <vt:lpstr>PowerPoint 演示文稿</vt:lpstr>
      <vt:lpstr>数字图像的的霍夫曼编码：</vt:lpstr>
      <vt:lpstr>PowerPoint 演示文稿</vt:lpstr>
      <vt:lpstr>PowerPoint 演示文稿</vt:lpstr>
      <vt:lpstr>PowerPoint 演示文稿</vt:lpstr>
      <vt:lpstr>练习</vt:lpstr>
      <vt:lpstr>PowerPoint 演示文稿</vt:lpstr>
      <vt:lpstr>PowerPoint 演示文稿</vt:lpstr>
      <vt:lpstr>算术编码步骤：</vt:lpstr>
      <vt:lpstr>算术编码步骤：</vt:lpstr>
      <vt:lpstr>PowerPoint 演示文稿</vt:lpstr>
      <vt:lpstr>PowerPoint 演示文稿</vt:lpstr>
      <vt:lpstr>PowerPoint 演示文稿</vt:lpstr>
      <vt:lpstr>算术编码举例</vt:lpstr>
      <vt:lpstr>算术编码举例</vt:lpstr>
      <vt:lpstr>算术编码举例</vt:lpstr>
      <vt:lpstr>算术编码举例</vt:lpstr>
      <vt:lpstr>练习</vt:lpstr>
      <vt:lpstr>PowerPoint 演示文稿</vt:lpstr>
      <vt:lpstr>PowerPoint 演示文稿</vt:lpstr>
      <vt:lpstr>算术编码举例</vt:lpstr>
      <vt:lpstr>PowerPoint 演示文稿</vt:lpstr>
      <vt:lpstr>练习</vt:lpstr>
      <vt:lpstr>练习</vt:lpstr>
      <vt:lpstr>6.3  预测编码</vt:lpstr>
      <vt:lpstr>6.3.1  预测编码基本原理</vt:lpstr>
      <vt:lpstr>DPCM系统的组成 </vt:lpstr>
      <vt:lpstr>6.3.2  线性预测编码</vt:lpstr>
      <vt:lpstr>设计最佳预测的系数ai，采用MMSE</vt:lpstr>
      <vt:lpstr>通过分析可以得出以下结论：</vt:lpstr>
      <vt:lpstr>常用预测器方案</vt:lpstr>
      <vt:lpstr>常用预测器方案</vt:lpstr>
      <vt:lpstr>例：预测编码的对比</vt:lpstr>
      <vt:lpstr>6.4  变换编码</vt:lpstr>
      <vt:lpstr>PowerPoint 演示文稿</vt:lpstr>
      <vt:lpstr>6.4.2  变换编码的系统结构</vt:lpstr>
      <vt:lpstr>6.4.3  变换编码的实现</vt:lpstr>
      <vt:lpstr>6.4.3  变换编码的实现</vt:lpstr>
      <vt:lpstr>6.4.3  变换编码的实现</vt:lpstr>
      <vt:lpstr>6.4.3  变换编码的实现</vt:lpstr>
      <vt:lpstr>6.4.3  变换编码的实现</vt:lpstr>
      <vt:lpstr>6.4.3  变换编码的实现</vt:lpstr>
      <vt:lpstr>6.4.3  变换编码的实现</vt:lpstr>
      <vt:lpstr>算法说明</vt:lpstr>
      <vt:lpstr>6.4.3  变换编码的实现</vt:lpstr>
      <vt:lpstr>算法说明</vt:lpstr>
      <vt:lpstr>PowerPoint 演示文稿</vt:lpstr>
      <vt:lpstr>总结：变换编码压缩步骤</vt:lpstr>
      <vt:lpstr>变换编码举例：</vt:lpstr>
      <vt:lpstr>PowerPoint 演示文稿</vt:lpstr>
      <vt:lpstr>PowerPoint 演示文稿</vt:lpstr>
      <vt:lpstr>6.5 二值图像编码</vt:lpstr>
      <vt:lpstr>跳跃空白编码 (skip blank coding ) </vt:lpstr>
      <vt:lpstr>游程长度编码（RLC）</vt:lpstr>
      <vt:lpstr>PowerPoint 演示文稿</vt:lpstr>
      <vt:lpstr>PowerPoint 演示文稿</vt:lpstr>
      <vt:lpstr>6.6  图像压缩编码标准</vt:lpstr>
      <vt:lpstr>2．JPEG基本系统</vt:lpstr>
      <vt:lpstr>JPEG编/解码器算法框图</vt:lpstr>
      <vt:lpstr>上述算法的几点说明</vt:lpstr>
      <vt:lpstr>亮度量化表 </vt:lpstr>
      <vt:lpstr>色度量化表 </vt:lpstr>
      <vt:lpstr>DCT系数的Z字形排列</vt:lpstr>
      <vt:lpstr>直流系数的编码</vt:lpstr>
      <vt:lpstr>交流系数的编码</vt:lpstr>
      <vt:lpstr>熵编码</vt:lpstr>
      <vt:lpstr>位数据流</vt:lpstr>
      <vt:lpstr>本 章 小 结</vt:lpstr>
    </vt:vector>
  </TitlesOfParts>
  <Company>Legend (Beijing) Limited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 模拟音视频信号记录 </dc:title>
  <dc:creator>Legend User</dc:creator>
  <cp:lastModifiedBy>Administrator</cp:lastModifiedBy>
  <cp:revision>291</cp:revision>
  <dcterms:created xsi:type="dcterms:W3CDTF">2005-05-26T06:19:00Z</dcterms:created>
  <dcterms:modified xsi:type="dcterms:W3CDTF">2026-05-14T08:46:03Z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E4D7F011821045D0A151BF7755AA46E5</vt:lpwstr>
  </property>
</Properties>
</file>